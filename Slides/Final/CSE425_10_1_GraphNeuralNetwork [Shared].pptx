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Lst>
  <p:sldSz cy="5143500" cx="9144000"/>
  <p:notesSz cx="6858000" cy="9144000"/>
  <p:embeddedFontLst>
    <p:embeddedFont>
      <p:font typeface="Roboto Mono"/>
      <p:regular r:id="rId49"/>
      <p:bold r:id="rId50"/>
      <p:italic r:id="rId51"/>
      <p:boldItalic r:id="rId5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C0C555C6-4410-434D-95D9-05A88E91E4BD}">
  <a:tblStyle styleId="{C0C555C6-4410-434D-95D9-05A88E91E4BD}"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font" Target="fonts/RobotoMono-regular.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font" Target="fonts/RobotoMono-italic.fntdata"/><Relationship Id="rId50" Type="http://schemas.openxmlformats.org/officeDocument/2006/relationships/font" Target="fonts/RobotoMono-bold.fntdata"/><Relationship Id="rId52" Type="http://schemas.openxmlformats.org/officeDocument/2006/relationships/font" Target="fonts/RobotoMono-boldItalic.fntdata"/><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3b4038189f5_0_2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3b4038189f5_0_2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b4038189f5_0_2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b4038189f5_0_2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3dc3fa148f4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3dc3fa148f4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g3dc3fa148f4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 name="Google Shape;71;g3dc3fa148f4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g3dc3fa148f4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 name="Google Shape;80;g3dc3fa148f4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3dc3fa148f4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3dc3fa148f4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3dc3fa148f4_1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 name="Google Shape;98;g3dc3fa148f4_1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3dc3fa148f4_1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 name="Google Shape;106;g3dc3fa148f4_1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3dc3fa148f4_1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 name="Google Shape;113;g3dc3fa148f4_1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3dc3fa148f4_1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 name="Google Shape;121;g3dc3fa148f4_1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3dc3fa148f4_1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 name="Google Shape;129;g3dc3fa148f4_1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3dc3fa148f4_1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3dc3fa148f4_1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3dc3fa148f4_1_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5" name="Google Shape;145;g3dc3fa148f4_1_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g3dc3fa148f4_1_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3" name="Google Shape;153;g3dc3fa148f4_1_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3dc3fa148f4_1_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1" name="Google Shape;161;g3dc3fa148f4_1_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3dc3fa148f4_1_1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1" name="Google Shape;171;g3dc3fa148f4_1_1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g3dc3fa148f4_1_4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2" name="Google Shape;182;g3dc3fa148f4_1_4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g3dc3fa148f4_6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7" name="Google Shape;187;g3dc3fa148f4_6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g3dc3fa148f4_1_1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2" name="Google Shape;192;g3dc3fa148f4_1_1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3dc3fa148f4_1_1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1" name="Google Shape;201;g3dc3fa148f4_1_1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g3dc3fa148f4_1_2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1" name="Google Shape;211;g3dc3fa148f4_1_2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g3dc3fa148f4_1_1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1" name="Google Shape;221;g3dc3fa148f4_1_1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g3dc3fa148f4_1_1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1" name="Google Shape;231;g3dc3fa148f4_1_1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g3dc3fa148f4_1_1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0" name="Google Shape;240;g3dc3fa148f4_1_1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g3dc3fa148f4_1_2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9" name="Google Shape;249;g3dc3fa148f4_1_2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g3dc3fa148f4_1_2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9" name="Google Shape;259;g3dc3fa148f4_1_2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g3dc3fa148f4_1_2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9" name="Google Shape;269;g3dc3fa148f4_1_2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g3dc3fa148f4_1_2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9" name="Google Shape;279;g3dc3fa148f4_1_2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g3dc3fa148f4_1_2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0" name="Google Shape;290;g3dc3fa148f4_1_2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g3dc3fa148f4_1_2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9" name="Google Shape;299;g3dc3fa148f4_1_2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g3dc3fa148f4_1_2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9" name="Google Shape;309;g3dc3fa148f4_1_2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g3dc3fa148f4_1_2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7" name="Google Shape;317;g3dc3fa148f4_1_2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g3dc3fa148f4_1_3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6" name="Google Shape;326;g3dc3fa148f4_1_3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g3dc3fa148f4_1_3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5" name="Google Shape;335;g3dc3fa148f4_1_3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g3dc3fa148f4_1_3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4" name="Google Shape;344;g3dc3fa148f4_1_3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 name="Shape 348"/>
        <p:cNvGrpSpPr/>
        <p:nvPr/>
      </p:nvGrpSpPr>
      <p:grpSpPr>
        <a:xfrm>
          <a:off x="0" y="0"/>
          <a:ext cx="0" cy="0"/>
          <a:chOff x="0" y="0"/>
          <a:chExt cx="0" cy="0"/>
        </a:xfrm>
      </p:grpSpPr>
      <p:sp>
        <p:nvSpPr>
          <p:cNvPr id="349" name="Google Shape;349;g3dc3fa148f4_1_4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0" name="Google Shape;350;g3dc3fa148f4_1_4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g3dc3fa148f4_1_3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9" name="Google Shape;359;g3dc3fa148f4_1_3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 name="Shape 363"/>
        <p:cNvGrpSpPr/>
        <p:nvPr/>
      </p:nvGrpSpPr>
      <p:grpSpPr>
        <a:xfrm>
          <a:off x="0" y="0"/>
          <a:ext cx="0" cy="0"/>
          <a:chOff x="0" y="0"/>
          <a:chExt cx="0" cy="0"/>
        </a:xfrm>
      </p:grpSpPr>
      <p:sp>
        <p:nvSpPr>
          <p:cNvPr id="364" name="Google Shape;364;g3dc3fa148f4_1_3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5" name="Google Shape;365;g3dc3fa148f4_1_3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g3dc3fa148f4_1_3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1" name="Google Shape;371;g3dc3fa148f4_1_3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6" name="Shape 376"/>
        <p:cNvGrpSpPr/>
        <p:nvPr/>
      </p:nvGrpSpPr>
      <p:grpSpPr>
        <a:xfrm>
          <a:off x="0" y="0"/>
          <a:ext cx="0" cy="0"/>
          <a:chOff x="0" y="0"/>
          <a:chExt cx="0" cy="0"/>
        </a:xfrm>
      </p:grpSpPr>
      <p:sp>
        <p:nvSpPr>
          <p:cNvPr id="377" name="Google Shape;377;g3dc3fa148f4_1_3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8" name="Google Shape;378;g3dc3fa148f4_1_3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2" name="Shape 382"/>
        <p:cNvGrpSpPr/>
        <p:nvPr/>
      </p:nvGrpSpPr>
      <p:grpSpPr>
        <a:xfrm>
          <a:off x="0" y="0"/>
          <a:ext cx="0" cy="0"/>
          <a:chOff x="0" y="0"/>
          <a:chExt cx="0" cy="0"/>
        </a:xfrm>
      </p:grpSpPr>
      <p:sp>
        <p:nvSpPr>
          <p:cNvPr id="383" name="Google Shape;383;g3dc3fa148f4_1_3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4" name="Google Shape;384;g3dc3fa148f4_1_3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g3ddbce46cb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1" name="Google Shape;391;g3ddbce46cb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7.pn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2.png"/><Relationship Id="rId4" Type="http://schemas.openxmlformats.org/officeDocument/2006/relationships/image" Target="../media/image10.png"/><Relationship Id="rId5" Type="http://schemas.openxmlformats.org/officeDocument/2006/relationships/image" Target="../media/image1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2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6.png"/><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1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26.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6.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17.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28.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2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14.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2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24.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23.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33.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30.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20.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image" Target="../media/image29.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3" Type="http://schemas.openxmlformats.org/officeDocument/2006/relationships/image" Target="../media/image34.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 Id="rId3" Type="http://schemas.openxmlformats.org/officeDocument/2006/relationships/image" Target="../media/image25.png"/><Relationship Id="rId4" Type="http://schemas.openxmlformats.org/officeDocument/2006/relationships/image" Target="../media/image32.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 Id="rId3" Type="http://schemas.openxmlformats.org/officeDocument/2006/relationships/image" Target="../media/image35.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 Id="rId3" Type="http://schemas.openxmlformats.org/officeDocument/2006/relationships/image" Target="../media/image35.png"/><Relationship Id="rId4" Type="http://schemas.openxmlformats.org/officeDocument/2006/relationships/image" Target="../media/image31.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 Id="rId3" Type="http://schemas.openxmlformats.org/officeDocument/2006/relationships/hyperlink" Target="https://distill.pub/2021/gnn-intro/" TargetMode="External"/><Relationship Id="rId4" Type="http://schemas.openxmlformats.org/officeDocument/2006/relationships/hyperlink" Target="https://distill.pub/2021/understanding-gnns/"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1126650" y="1635375"/>
            <a:ext cx="6890700" cy="13674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b="1" lang="en">
                <a:latin typeface="Calibri"/>
                <a:ea typeface="Calibri"/>
                <a:cs typeface="Calibri"/>
                <a:sym typeface="Calibri"/>
              </a:rPr>
              <a:t>Introduction to </a:t>
            </a:r>
            <a:endParaRPr b="1">
              <a:latin typeface="Calibri"/>
              <a:ea typeface="Calibri"/>
              <a:cs typeface="Calibri"/>
              <a:sym typeface="Calibri"/>
            </a:endParaRPr>
          </a:p>
          <a:p>
            <a:pPr indent="0" lvl="0" marL="0" rtl="0" algn="ctr">
              <a:spcBef>
                <a:spcPts val="0"/>
              </a:spcBef>
              <a:spcAft>
                <a:spcPts val="0"/>
              </a:spcAft>
              <a:buNone/>
            </a:pPr>
            <a:r>
              <a:rPr b="1" lang="en">
                <a:latin typeface="Calibri"/>
                <a:ea typeface="Calibri"/>
                <a:cs typeface="Calibri"/>
                <a:sym typeface="Calibri"/>
              </a:rPr>
              <a:t>Graph Neural Network</a:t>
            </a:r>
            <a:endParaRPr b="1">
              <a:latin typeface="Calibri"/>
              <a:ea typeface="Calibri"/>
              <a:cs typeface="Calibri"/>
              <a:sym typeface="Calibri"/>
            </a:endParaRPr>
          </a:p>
        </p:txBody>
      </p:sp>
      <p:sp>
        <p:nvSpPr>
          <p:cNvPr id="55" name="Google Shape;55;p13"/>
          <p:cNvSpPr txBox="1"/>
          <p:nvPr/>
        </p:nvSpPr>
        <p:spPr>
          <a:xfrm>
            <a:off x="616225" y="3162550"/>
            <a:ext cx="8121000" cy="646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chemeClr val="dk1"/>
                </a:solidFill>
                <a:latin typeface="Calibri"/>
                <a:ea typeface="Calibri"/>
                <a:cs typeface="Calibri"/>
                <a:sym typeface="Calibri"/>
              </a:rPr>
              <a:t>Neural networks have been adapted to leverage the structure and properties of graphs. </a:t>
            </a:r>
            <a:endParaRPr sz="1000">
              <a:solidFill>
                <a:schemeClr val="dk1"/>
              </a:solidFill>
              <a:latin typeface="Calibri"/>
              <a:ea typeface="Calibri"/>
              <a:cs typeface="Calibri"/>
              <a:sym typeface="Calibri"/>
            </a:endParaRPr>
          </a:p>
          <a:p>
            <a:pPr indent="0" lvl="0" marL="0" rtl="0" algn="ctr">
              <a:spcBef>
                <a:spcPts val="0"/>
              </a:spcBef>
              <a:spcAft>
                <a:spcPts val="0"/>
              </a:spcAft>
              <a:buNone/>
            </a:pPr>
            <a:r>
              <a:t/>
            </a:r>
            <a:endParaRPr sz="1000">
              <a:solidFill>
                <a:schemeClr val="dk1"/>
              </a:solidFill>
              <a:latin typeface="Calibri"/>
              <a:ea typeface="Calibri"/>
              <a:cs typeface="Calibri"/>
              <a:sym typeface="Calibri"/>
            </a:endParaRPr>
          </a:p>
          <a:p>
            <a:pPr indent="0" lvl="0" marL="0" rtl="0" algn="ctr">
              <a:spcBef>
                <a:spcPts val="0"/>
              </a:spcBef>
              <a:spcAft>
                <a:spcPts val="0"/>
              </a:spcAft>
              <a:buNone/>
            </a:pPr>
            <a:r>
              <a:rPr lang="en" sz="1000">
                <a:solidFill>
                  <a:schemeClr val="dk1"/>
                </a:solidFill>
                <a:latin typeface="Calibri"/>
                <a:ea typeface="Calibri"/>
                <a:cs typeface="Calibri"/>
                <a:sym typeface="Calibri"/>
              </a:rPr>
              <a:t>We explore the components needed for building a graph neural network - and motivate the design choices behind them.</a:t>
            </a:r>
            <a:endParaRPr sz="1000">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nvSpPr>
        <p:spPr>
          <a:xfrm>
            <a:off x="259375" y="263550"/>
            <a:ext cx="77454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800">
                <a:solidFill>
                  <a:schemeClr val="dk1"/>
                </a:solidFill>
                <a:latin typeface="Calibri"/>
                <a:ea typeface="Calibri"/>
                <a:cs typeface="Calibri"/>
                <a:sym typeface="Calibri"/>
              </a:rPr>
              <a:t>GNN</a:t>
            </a:r>
            <a:endParaRPr b="1" sz="1800">
              <a:solidFill>
                <a:schemeClr val="dk1"/>
              </a:solidFill>
              <a:latin typeface="Calibri"/>
              <a:ea typeface="Calibri"/>
              <a:cs typeface="Calibri"/>
              <a:sym typeface="Calibri"/>
            </a:endParaRPr>
          </a:p>
        </p:txBody>
      </p:sp>
      <p:sp>
        <p:nvSpPr>
          <p:cNvPr id="61" name="Google Shape;61;p14"/>
          <p:cNvSpPr txBox="1"/>
          <p:nvPr/>
        </p:nvSpPr>
        <p:spPr>
          <a:xfrm>
            <a:off x="340000" y="792150"/>
            <a:ext cx="8439600" cy="3509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1"/>
                </a:solidFill>
                <a:latin typeface="Calibri"/>
                <a:ea typeface="Calibri"/>
                <a:cs typeface="Calibri"/>
                <a:sym typeface="Calibri"/>
              </a:rPr>
              <a:t>Graphs are all around us; real world objects are often defined in terms of their connections to other things. </a:t>
            </a:r>
            <a:endParaRPr sz="1800">
              <a:solidFill>
                <a:schemeClr val="dk1"/>
              </a:solidFill>
              <a:latin typeface="Calibri"/>
              <a:ea typeface="Calibri"/>
              <a:cs typeface="Calibri"/>
              <a:sym typeface="Calibri"/>
            </a:endParaRPr>
          </a:p>
          <a:p>
            <a:pPr indent="0" lvl="0" marL="0" rtl="0" algn="l">
              <a:spcBef>
                <a:spcPts val="0"/>
              </a:spcBef>
              <a:spcAft>
                <a:spcPts val="0"/>
              </a:spcAft>
              <a:buNone/>
            </a:pPr>
            <a:r>
              <a:t/>
            </a:r>
            <a:endParaRPr sz="1800">
              <a:solidFill>
                <a:schemeClr val="dk1"/>
              </a:solidFill>
              <a:latin typeface="Calibri"/>
              <a:ea typeface="Calibri"/>
              <a:cs typeface="Calibri"/>
              <a:sym typeface="Calibri"/>
            </a:endParaRPr>
          </a:p>
          <a:p>
            <a:pPr indent="0" lvl="0" marL="0" rtl="0" algn="l">
              <a:spcBef>
                <a:spcPts val="0"/>
              </a:spcBef>
              <a:spcAft>
                <a:spcPts val="0"/>
              </a:spcAft>
              <a:buNone/>
            </a:pPr>
            <a:r>
              <a:rPr lang="en" sz="1800">
                <a:solidFill>
                  <a:schemeClr val="dk1"/>
                </a:solidFill>
                <a:latin typeface="Calibri"/>
                <a:ea typeface="Calibri"/>
                <a:cs typeface="Calibri"/>
                <a:sym typeface="Calibri"/>
              </a:rPr>
              <a:t>A set of objects, and the connections between them, are naturally expressed as a graph. Researchers have developed neural networks that operate on graph data (called graph neural networks, or GNNs) for over a decade.</a:t>
            </a:r>
            <a:endParaRPr sz="1800">
              <a:solidFill>
                <a:schemeClr val="dk1"/>
              </a:solidFill>
              <a:latin typeface="Calibri"/>
              <a:ea typeface="Calibri"/>
              <a:cs typeface="Calibri"/>
              <a:sym typeface="Calibri"/>
            </a:endParaRPr>
          </a:p>
          <a:p>
            <a:pPr indent="0" lvl="0" marL="0" rtl="0" algn="l">
              <a:spcBef>
                <a:spcPts val="0"/>
              </a:spcBef>
              <a:spcAft>
                <a:spcPts val="0"/>
              </a:spcAft>
              <a:buNone/>
            </a:pPr>
            <a:r>
              <a:t/>
            </a:r>
            <a:endParaRPr sz="1800">
              <a:solidFill>
                <a:schemeClr val="dk1"/>
              </a:solidFill>
              <a:latin typeface="Calibri"/>
              <a:ea typeface="Calibri"/>
              <a:cs typeface="Calibri"/>
              <a:sym typeface="Calibri"/>
            </a:endParaRPr>
          </a:p>
          <a:p>
            <a:pPr indent="0" lvl="0" marL="0" rtl="0" algn="l">
              <a:spcBef>
                <a:spcPts val="0"/>
              </a:spcBef>
              <a:spcAft>
                <a:spcPts val="0"/>
              </a:spcAft>
              <a:buNone/>
            </a:pPr>
            <a:r>
              <a:rPr lang="en" sz="1800">
                <a:solidFill>
                  <a:schemeClr val="dk1"/>
                </a:solidFill>
                <a:latin typeface="Calibri"/>
                <a:ea typeface="Calibri"/>
                <a:cs typeface="Calibri"/>
                <a:sym typeface="Calibri"/>
              </a:rPr>
              <a:t>Recent developments have increased their capabilities and expressive power. </a:t>
            </a:r>
            <a:endParaRPr sz="1800">
              <a:solidFill>
                <a:schemeClr val="dk1"/>
              </a:solidFill>
              <a:latin typeface="Calibri"/>
              <a:ea typeface="Calibri"/>
              <a:cs typeface="Calibri"/>
              <a:sym typeface="Calibri"/>
            </a:endParaRPr>
          </a:p>
          <a:p>
            <a:pPr indent="0" lvl="0" marL="0" rtl="0" algn="l">
              <a:spcBef>
                <a:spcPts val="0"/>
              </a:spcBef>
              <a:spcAft>
                <a:spcPts val="0"/>
              </a:spcAft>
              <a:buNone/>
            </a:pPr>
            <a:r>
              <a:t/>
            </a:r>
            <a:endParaRPr sz="1800">
              <a:solidFill>
                <a:schemeClr val="dk1"/>
              </a:solidFill>
              <a:latin typeface="Calibri"/>
              <a:ea typeface="Calibri"/>
              <a:cs typeface="Calibri"/>
              <a:sym typeface="Calibri"/>
            </a:endParaRPr>
          </a:p>
          <a:p>
            <a:pPr indent="0" lvl="0" marL="0" rtl="0" algn="l">
              <a:spcBef>
                <a:spcPts val="0"/>
              </a:spcBef>
              <a:spcAft>
                <a:spcPts val="0"/>
              </a:spcAft>
              <a:buNone/>
            </a:pPr>
            <a:r>
              <a:rPr lang="en" sz="1800">
                <a:solidFill>
                  <a:schemeClr val="dk1"/>
                </a:solidFill>
                <a:latin typeface="Calibri"/>
                <a:ea typeface="Calibri"/>
                <a:cs typeface="Calibri"/>
                <a:sym typeface="Calibri"/>
              </a:rPr>
              <a:t>We are starting to see practical applications in areas such as antibacterial discovery, physics simulations, fake news detection, traffic prediction and recommendation systems.</a:t>
            </a:r>
            <a:endParaRPr sz="1800">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5"/>
          <p:cNvSpPr txBox="1"/>
          <p:nvPr/>
        </p:nvSpPr>
        <p:spPr>
          <a:xfrm>
            <a:off x="259375" y="263550"/>
            <a:ext cx="77454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800">
                <a:solidFill>
                  <a:schemeClr val="dk1"/>
                </a:solidFill>
                <a:latin typeface="Calibri"/>
                <a:ea typeface="Calibri"/>
                <a:cs typeface="Calibri"/>
                <a:sym typeface="Calibri"/>
              </a:rPr>
              <a:t>Graph</a:t>
            </a:r>
            <a:endParaRPr b="1" sz="1800">
              <a:solidFill>
                <a:schemeClr val="dk1"/>
              </a:solidFill>
              <a:latin typeface="Calibri"/>
              <a:ea typeface="Calibri"/>
              <a:cs typeface="Calibri"/>
              <a:sym typeface="Calibri"/>
            </a:endParaRPr>
          </a:p>
        </p:txBody>
      </p:sp>
      <p:sp>
        <p:nvSpPr>
          <p:cNvPr id="67" name="Google Shape;67;p15"/>
          <p:cNvSpPr txBox="1"/>
          <p:nvPr/>
        </p:nvSpPr>
        <p:spPr>
          <a:xfrm>
            <a:off x="340000" y="792150"/>
            <a:ext cx="84396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1"/>
                </a:solidFill>
                <a:latin typeface="Calibri"/>
                <a:ea typeface="Calibri"/>
                <a:cs typeface="Calibri"/>
                <a:sym typeface="Calibri"/>
              </a:rPr>
              <a:t>A graph represents the relations (edges) between a collection of entities (nodes).</a:t>
            </a:r>
            <a:endParaRPr sz="1800">
              <a:solidFill>
                <a:schemeClr val="dk1"/>
              </a:solidFill>
              <a:latin typeface="Calibri"/>
              <a:ea typeface="Calibri"/>
              <a:cs typeface="Calibri"/>
              <a:sym typeface="Calibri"/>
            </a:endParaRPr>
          </a:p>
        </p:txBody>
      </p:sp>
      <p:pic>
        <p:nvPicPr>
          <p:cNvPr id="68" name="Google Shape;68;p15"/>
          <p:cNvPicPr preferRelativeResize="0"/>
          <p:nvPr/>
        </p:nvPicPr>
        <p:blipFill rotWithShape="1">
          <a:blip r:embed="rId3">
            <a:alphaModFix/>
          </a:blip>
          <a:srcRect b="15605" l="0" r="0" t="0"/>
          <a:stretch/>
        </p:blipFill>
        <p:spPr>
          <a:xfrm>
            <a:off x="1254625" y="1370050"/>
            <a:ext cx="6610350" cy="251615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sp>
        <p:nvSpPr>
          <p:cNvPr id="73" name="Google Shape;73;p16"/>
          <p:cNvSpPr txBox="1"/>
          <p:nvPr/>
        </p:nvSpPr>
        <p:spPr>
          <a:xfrm>
            <a:off x="259375" y="263550"/>
            <a:ext cx="77454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800">
                <a:solidFill>
                  <a:schemeClr val="dk1"/>
                </a:solidFill>
                <a:latin typeface="Calibri"/>
                <a:ea typeface="Calibri"/>
                <a:cs typeface="Calibri"/>
                <a:sym typeface="Calibri"/>
              </a:rPr>
              <a:t>Graph</a:t>
            </a:r>
            <a:endParaRPr b="1" sz="1800">
              <a:solidFill>
                <a:schemeClr val="dk1"/>
              </a:solidFill>
              <a:latin typeface="Calibri"/>
              <a:ea typeface="Calibri"/>
              <a:cs typeface="Calibri"/>
              <a:sym typeface="Calibri"/>
            </a:endParaRPr>
          </a:p>
        </p:txBody>
      </p:sp>
      <p:sp>
        <p:nvSpPr>
          <p:cNvPr id="74" name="Google Shape;74;p16"/>
          <p:cNvSpPr txBox="1"/>
          <p:nvPr/>
        </p:nvSpPr>
        <p:spPr>
          <a:xfrm>
            <a:off x="340000" y="792150"/>
            <a:ext cx="84396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id="75" name="Google Shape;75;p16"/>
          <p:cNvPicPr preferRelativeResize="0"/>
          <p:nvPr/>
        </p:nvPicPr>
        <p:blipFill>
          <a:blip r:embed="rId3">
            <a:alphaModFix/>
          </a:blip>
          <a:stretch>
            <a:fillRect/>
          </a:stretch>
        </p:blipFill>
        <p:spPr>
          <a:xfrm>
            <a:off x="1704338" y="828613"/>
            <a:ext cx="6000750" cy="2790825"/>
          </a:xfrm>
          <a:prstGeom prst="rect">
            <a:avLst/>
          </a:prstGeom>
          <a:noFill/>
          <a:ln>
            <a:noFill/>
          </a:ln>
        </p:spPr>
      </p:pic>
      <p:sp>
        <p:nvSpPr>
          <p:cNvPr id="76" name="Google Shape;76;p16"/>
          <p:cNvSpPr txBox="1"/>
          <p:nvPr/>
        </p:nvSpPr>
        <p:spPr>
          <a:xfrm>
            <a:off x="316000" y="3722825"/>
            <a:ext cx="84876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dk1"/>
                </a:solidFill>
                <a:latin typeface="Calibri"/>
                <a:ea typeface="Calibri"/>
                <a:cs typeface="Calibri"/>
                <a:sym typeface="Calibri"/>
              </a:rPr>
              <a:t>We can additionally specialize graphs by associating directionality to edges (directed, undirected).</a:t>
            </a:r>
            <a:endParaRPr sz="1200">
              <a:solidFill>
                <a:schemeClr val="dk1"/>
              </a:solidFill>
              <a:latin typeface="Calibri"/>
              <a:ea typeface="Calibri"/>
              <a:cs typeface="Calibri"/>
              <a:sym typeface="Calibri"/>
            </a:endParaRPr>
          </a:p>
        </p:txBody>
      </p:sp>
      <p:pic>
        <p:nvPicPr>
          <p:cNvPr id="77" name="Google Shape;77;p16"/>
          <p:cNvPicPr preferRelativeResize="0"/>
          <p:nvPr/>
        </p:nvPicPr>
        <p:blipFill>
          <a:blip r:embed="rId4">
            <a:alphaModFix/>
          </a:blip>
          <a:stretch>
            <a:fillRect/>
          </a:stretch>
        </p:blipFill>
        <p:spPr>
          <a:xfrm>
            <a:off x="2610288" y="4070613"/>
            <a:ext cx="4276725" cy="92392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sp>
        <p:nvSpPr>
          <p:cNvPr id="82" name="Google Shape;82;p17"/>
          <p:cNvSpPr txBox="1"/>
          <p:nvPr/>
        </p:nvSpPr>
        <p:spPr>
          <a:xfrm>
            <a:off x="259375" y="263550"/>
            <a:ext cx="77454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800">
                <a:solidFill>
                  <a:schemeClr val="dk1"/>
                </a:solidFill>
                <a:latin typeface="Calibri"/>
                <a:ea typeface="Calibri"/>
                <a:cs typeface="Calibri"/>
                <a:sym typeface="Calibri"/>
              </a:rPr>
              <a:t>Graphs and where to find them : Images as graphs</a:t>
            </a:r>
            <a:endParaRPr b="1" sz="1800">
              <a:solidFill>
                <a:schemeClr val="dk1"/>
              </a:solidFill>
              <a:latin typeface="Calibri"/>
              <a:ea typeface="Calibri"/>
              <a:cs typeface="Calibri"/>
              <a:sym typeface="Calibri"/>
            </a:endParaRPr>
          </a:p>
        </p:txBody>
      </p:sp>
      <p:sp>
        <p:nvSpPr>
          <p:cNvPr id="83" name="Google Shape;83;p17"/>
          <p:cNvSpPr txBox="1"/>
          <p:nvPr/>
        </p:nvSpPr>
        <p:spPr>
          <a:xfrm>
            <a:off x="340000" y="792150"/>
            <a:ext cx="84396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4" name="Google Shape;84;p17"/>
          <p:cNvSpPr txBox="1"/>
          <p:nvPr/>
        </p:nvSpPr>
        <p:spPr>
          <a:xfrm>
            <a:off x="71400" y="792150"/>
            <a:ext cx="4539900" cy="3768000"/>
          </a:xfrm>
          <a:prstGeom prst="rect">
            <a:avLst/>
          </a:prstGeom>
          <a:noFill/>
          <a:ln>
            <a:noFill/>
          </a:ln>
        </p:spPr>
        <p:txBody>
          <a:bodyPr anchorCtr="0" anchor="t" bIns="91425" lIns="91425" spcFirstLastPara="1" rIns="91425" wrap="square" tIns="91425">
            <a:spAutoFit/>
          </a:bodyPr>
          <a:lstStyle/>
          <a:p>
            <a:pPr indent="-304800" lvl="0" marL="457200" rtl="0" algn="l">
              <a:lnSpc>
                <a:spcPct val="115000"/>
              </a:lnSpc>
              <a:spcBef>
                <a:spcPts val="120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Images are usually represented as rectangular grids with channels, </a:t>
            </a:r>
            <a:br>
              <a:rPr lang="en" sz="1200">
                <a:solidFill>
                  <a:schemeClr val="dk1"/>
                </a:solidFill>
                <a:latin typeface="Calibri"/>
                <a:ea typeface="Calibri"/>
                <a:cs typeface="Calibri"/>
                <a:sym typeface="Calibri"/>
              </a:rPr>
            </a:br>
            <a:r>
              <a:rPr lang="en" sz="1200">
                <a:solidFill>
                  <a:schemeClr val="dk1"/>
                </a:solidFill>
                <a:latin typeface="Calibri"/>
                <a:ea typeface="Calibri"/>
                <a:cs typeface="Calibri"/>
                <a:sym typeface="Calibri"/>
              </a:rPr>
              <a:t>such as 244 × 244 × 3 RGB arrays.</a:t>
            </a:r>
            <a:endParaRPr sz="1200">
              <a:solidFill>
                <a:schemeClr val="dk1"/>
              </a:solidFill>
              <a:latin typeface="Calibri"/>
              <a:ea typeface="Calibri"/>
              <a:cs typeface="Calibri"/>
              <a:sym typeface="Calibri"/>
            </a:endParaRPr>
          </a:p>
          <a:p>
            <a:pPr indent="-304800" lvl="0" marL="457200" rtl="0" algn="l">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In this graph representation:</a:t>
            </a:r>
            <a:endParaRPr sz="1200">
              <a:solidFill>
                <a:schemeClr val="dk1"/>
              </a:solidFill>
              <a:latin typeface="Calibri"/>
              <a:ea typeface="Calibri"/>
              <a:cs typeface="Calibri"/>
              <a:sym typeface="Calibri"/>
            </a:endParaRPr>
          </a:p>
          <a:p>
            <a:pPr indent="-304800" lvl="1" marL="914400" rtl="0" algn="l">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Each pixel is treated as a node.</a:t>
            </a:r>
            <a:endParaRPr sz="1200">
              <a:solidFill>
                <a:schemeClr val="dk1"/>
              </a:solidFill>
              <a:latin typeface="Calibri"/>
              <a:ea typeface="Calibri"/>
              <a:cs typeface="Calibri"/>
              <a:sym typeface="Calibri"/>
            </a:endParaRPr>
          </a:p>
          <a:p>
            <a:pPr indent="-304800" lvl="1" marL="914400" rtl="0" algn="l">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Each node is connected to its adjacent pixels by edges.</a:t>
            </a:r>
            <a:endParaRPr sz="1200">
              <a:solidFill>
                <a:schemeClr val="dk1"/>
              </a:solidFill>
              <a:latin typeface="Calibri"/>
              <a:ea typeface="Calibri"/>
              <a:cs typeface="Calibri"/>
              <a:sym typeface="Calibri"/>
            </a:endParaRPr>
          </a:p>
          <a:p>
            <a:pPr indent="-304800" lvl="1" marL="914400" rtl="0" algn="l">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Each non-border pixel has exactly 8 neighbors.</a:t>
            </a:r>
            <a:endParaRPr sz="1200">
              <a:solidFill>
                <a:schemeClr val="dk1"/>
              </a:solidFill>
              <a:latin typeface="Calibri"/>
              <a:ea typeface="Calibri"/>
              <a:cs typeface="Calibri"/>
              <a:sym typeface="Calibri"/>
            </a:endParaRPr>
          </a:p>
          <a:p>
            <a:pPr indent="-304800" lvl="1" marL="914400" rtl="0" algn="l">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Each node stores a 3-dimensional RGB vector.</a:t>
            </a:r>
            <a:endParaRPr sz="1200">
              <a:solidFill>
                <a:schemeClr val="dk1"/>
              </a:solidFill>
              <a:latin typeface="Calibri"/>
              <a:ea typeface="Calibri"/>
              <a:cs typeface="Calibri"/>
              <a:sym typeface="Calibri"/>
            </a:endParaRPr>
          </a:p>
          <a:p>
            <a:pPr indent="-304800" lvl="0" marL="457200" rtl="0" algn="l">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Graph connectivity can be visualized using an adjacency matrix.</a:t>
            </a:r>
            <a:endParaRPr sz="1200">
              <a:solidFill>
                <a:schemeClr val="dk1"/>
              </a:solidFill>
              <a:latin typeface="Calibri"/>
              <a:ea typeface="Calibri"/>
              <a:cs typeface="Calibri"/>
              <a:sym typeface="Calibri"/>
            </a:endParaRPr>
          </a:p>
          <a:p>
            <a:pPr indent="-304800" lvl="0" marL="457200" rtl="0" algn="l">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For a simple 5 × 5 smiley-face image:</a:t>
            </a:r>
            <a:endParaRPr sz="1200">
              <a:solidFill>
                <a:schemeClr val="dk1"/>
              </a:solidFill>
              <a:latin typeface="Calibri"/>
              <a:ea typeface="Calibri"/>
              <a:cs typeface="Calibri"/>
              <a:sym typeface="Calibri"/>
            </a:endParaRPr>
          </a:p>
          <a:p>
            <a:pPr indent="-304800" lvl="1" marL="914400" rtl="0" algn="l">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There are 25 pixels, so there are 25 nodes.</a:t>
            </a:r>
            <a:endParaRPr sz="1200">
              <a:solidFill>
                <a:schemeClr val="dk1"/>
              </a:solidFill>
              <a:latin typeface="Calibri"/>
              <a:ea typeface="Calibri"/>
              <a:cs typeface="Calibri"/>
              <a:sym typeface="Calibri"/>
            </a:endParaRPr>
          </a:p>
          <a:p>
            <a:pPr indent="-304800" lvl="1" marL="914400" rtl="0" algn="l">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 adjacency matrix has size n_nodes × n_nodes.</a:t>
            </a:r>
            <a:endParaRPr sz="1200">
              <a:solidFill>
                <a:schemeClr val="dk1"/>
              </a:solidFill>
              <a:latin typeface="Calibri"/>
              <a:ea typeface="Calibri"/>
              <a:cs typeface="Calibri"/>
              <a:sym typeface="Calibri"/>
            </a:endParaRPr>
          </a:p>
          <a:p>
            <a:pPr indent="-304800" lvl="1" marL="914400" rtl="0" algn="l">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 matrix entry indicates whether two pixels share an edge.</a:t>
            </a:r>
            <a:endParaRPr sz="1200">
              <a:solidFill>
                <a:schemeClr val="dk1"/>
              </a:solidFill>
              <a:latin typeface="Calibri"/>
              <a:ea typeface="Calibri"/>
              <a:cs typeface="Calibri"/>
              <a:sym typeface="Calibri"/>
            </a:endParaRPr>
          </a:p>
          <a:p>
            <a:pPr indent="-304800" lvl="0" marL="457200" rtl="0" algn="l">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 grid image, graph view, and adjacency matrix </a:t>
            </a:r>
            <a:br>
              <a:rPr lang="en" sz="1200">
                <a:solidFill>
                  <a:schemeClr val="dk1"/>
                </a:solidFill>
                <a:latin typeface="Calibri"/>
                <a:ea typeface="Calibri"/>
                <a:cs typeface="Calibri"/>
                <a:sym typeface="Calibri"/>
              </a:rPr>
            </a:br>
            <a:r>
              <a:rPr lang="en" sz="1200">
                <a:solidFill>
                  <a:schemeClr val="dk1"/>
                </a:solidFill>
                <a:latin typeface="Calibri"/>
                <a:ea typeface="Calibri"/>
                <a:cs typeface="Calibri"/>
                <a:sym typeface="Calibri"/>
              </a:rPr>
              <a:t>are three different representations of the same data.</a:t>
            </a:r>
            <a:endParaRPr sz="1900">
              <a:solidFill>
                <a:schemeClr val="dk1"/>
              </a:solidFill>
              <a:latin typeface="Calibri"/>
              <a:ea typeface="Calibri"/>
              <a:cs typeface="Calibri"/>
              <a:sym typeface="Calibri"/>
            </a:endParaRPr>
          </a:p>
        </p:txBody>
      </p:sp>
      <p:pic>
        <p:nvPicPr>
          <p:cNvPr id="85" name="Google Shape;85;p17"/>
          <p:cNvPicPr preferRelativeResize="0"/>
          <p:nvPr/>
        </p:nvPicPr>
        <p:blipFill>
          <a:blip r:embed="rId3">
            <a:alphaModFix/>
          </a:blip>
          <a:stretch>
            <a:fillRect/>
          </a:stretch>
        </p:blipFill>
        <p:spPr>
          <a:xfrm>
            <a:off x="4673300" y="870175"/>
            <a:ext cx="2125608" cy="2281800"/>
          </a:xfrm>
          <a:prstGeom prst="rect">
            <a:avLst/>
          </a:prstGeom>
          <a:noFill/>
          <a:ln>
            <a:noFill/>
          </a:ln>
        </p:spPr>
      </p:pic>
      <p:pic>
        <p:nvPicPr>
          <p:cNvPr id="86" name="Google Shape;86;p17"/>
          <p:cNvPicPr preferRelativeResize="0"/>
          <p:nvPr/>
        </p:nvPicPr>
        <p:blipFill>
          <a:blip r:embed="rId4">
            <a:alphaModFix/>
          </a:blip>
          <a:stretch>
            <a:fillRect/>
          </a:stretch>
        </p:blipFill>
        <p:spPr>
          <a:xfrm>
            <a:off x="6860900" y="916700"/>
            <a:ext cx="1976875" cy="2090350"/>
          </a:xfrm>
          <a:prstGeom prst="rect">
            <a:avLst/>
          </a:prstGeom>
          <a:noFill/>
          <a:ln>
            <a:noFill/>
          </a:ln>
        </p:spPr>
      </p:pic>
      <p:pic>
        <p:nvPicPr>
          <p:cNvPr id="87" name="Google Shape;87;p17"/>
          <p:cNvPicPr preferRelativeResize="0"/>
          <p:nvPr/>
        </p:nvPicPr>
        <p:blipFill>
          <a:blip r:embed="rId5">
            <a:alphaModFix/>
          </a:blip>
          <a:stretch>
            <a:fillRect/>
          </a:stretch>
        </p:blipFill>
        <p:spPr>
          <a:xfrm>
            <a:off x="6086425" y="3151975"/>
            <a:ext cx="1802353" cy="1855677"/>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8"/>
          <p:cNvSpPr txBox="1"/>
          <p:nvPr/>
        </p:nvSpPr>
        <p:spPr>
          <a:xfrm>
            <a:off x="197850" y="263550"/>
            <a:ext cx="77454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800">
                <a:solidFill>
                  <a:schemeClr val="dk1"/>
                </a:solidFill>
                <a:latin typeface="Calibri"/>
                <a:ea typeface="Calibri"/>
                <a:cs typeface="Calibri"/>
                <a:sym typeface="Calibri"/>
              </a:rPr>
              <a:t>Graphs and where to find them : Texts as graphs</a:t>
            </a:r>
            <a:endParaRPr b="1" sz="1800">
              <a:solidFill>
                <a:schemeClr val="dk1"/>
              </a:solidFill>
              <a:latin typeface="Calibri"/>
              <a:ea typeface="Calibri"/>
              <a:cs typeface="Calibri"/>
              <a:sym typeface="Calibri"/>
            </a:endParaRPr>
          </a:p>
        </p:txBody>
      </p:sp>
      <p:sp>
        <p:nvSpPr>
          <p:cNvPr id="93" name="Google Shape;93;p18"/>
          <p:cNvSpPr txBox="1"/>
          <p:nvPr/>
        </p:nvSpPr>
        <p:spPr>
          <a:xfrm>
            <a:off x="340000" y="792150"/>
            <a:ext cx="84396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4" name="Google Shape;94;p18"/>
          <p:cNvSpPr txBox="1"/>
          <p:nvPr/>
        </p:nvSpPr>
        <p:spPr>
          <a:xfrm>
            <a:off x="106575" y="792150"/>
            <a:ext cx="4272000" cy="2495700"/>
          </a:xfrm>
          <a:prstGeom prst="rect">
            <a:avLst/>
          </a:prstGeom>
          <a:noFill/>
          <a:ln>
            <a:noFill/>
          </a:ln>
        </p:spPr>
        <p:txBody>
          <a:bodyPr anchorCtr="0" anchor="t" bIns="91425" lIns="91425" spcFirstLastPara="1" rIns="91425" wrap="square" tIns="91425">
            <a:spAutoFit/>
          </a:bodyPr>
          <a:lstStyle/>
          <a:p>
            <a:pPr indent="-298450" lvl="0" marL="457200" rtl="0" algn="l">
              <a:lnSpc>
                <a:spcPct val="115000"/>
              </a:lnSpc>
              <a:spcBef>
                <a:spcPts val="120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Text can be digitized by assigning indices to characters, words, or tokens.</a:t>
            </a:r>
            <a:endParaRPr sz="1100">
              <a:solidFill>
                <a:schemeClr val="dk1"/>
              </a:solidFill>
              <a:latin typeface="Calibri"/>
              <a:ea typeface="Calibri"/>
              <a:cs typeface="Calibri"/>
              <a:sym typeface="Calibri"/>
            </a:endParaRPr>
          </a:p>
          <a:p>
            <a:pPr indent="-298450" lvl="0" marL="457200" rtl="0" algn="l">
              <a:lnSpc>
                <a:spcPct val="115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A sentence becomes a sequence of these indices.</a:t>
            </a:r>
            <a:endParaRPr sz="1100">
              <a:solidFill>
                <a:schemeClr val="dk1"/>
              </a:solidFill>
              <a:latin typeface="Calibri"/>
              <a:ea typeface="Calibri"/>
              <a:cs typeface="Calibri"/>
              <a:sym typeface="Calibri"/>
            </a:endParaRPr>
          </a:p>
          <a:p>
            <a:pPr indent="-298450" lvl="0" marL="457200" rtl="0" algn="l">
              <a:lnSpc>
                <a:spcPct val="115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This sequence can be viewed as a directed graph:</a:t>
            </a:r>
            <a:endParaRPr sz="1100">
              <a:solidFill>
                <a:schemeClr val="dk1"/>
              </a:solidFill>
              <a:latin typeface="Calibri"/>
              <a:ea typeface="Calibri"/>
              <a:cs typeface="Calibri"/>
              <a:sym typeface="Calibri"/>
            </a:endParaRPr>
          </a:p>
          <a:p>
            <a:pPr indent="-298450" lvl="1" marL="914400" rtl="0" algn="l">
              <a:lnSpc>
                <a:spcPct val="115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Each token is a node.</a:t>
            </a:r>
            <a:endParaRPr sz="1200">
              <a:solidFill>
                <a:schemeClr val="dk1"/>
              </a:solidFill>
              <a:latin typeface="Calibri"/>
              <a:ea typeface="Calibri"/>
              <a:cs typeface="Calibri"/>
              <a:sym typeface="Calibri"/>
            </a:endParaRPr>
          </a:p>
          <a:p>
            <a:pPr indent="-298450" lvl="1" marL="914400" rtl="0" algn="l">
              <a:lnSpc>
                <a:spcPct val="115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Each node connects to the next token.</a:t>
            </a:r>
            <a:endParaRPr sz="1100">
              <a:solidFill>
                <a:schemeClr val="dk1"/>
              </a:solidFill>
              <a:latin typeface="Calibri"/>
              <a:ea typeface="Calibri"/>
              <a:cs typeface="Calibri"/>
              <a:sym typeface="Calibri"/>
            </a:endParaRPr>
          </a:p>
          <a:p>
            <a:pPr indent="-298450" lvl="0" marL="457200" rtl="0" algn="l">
              <a:lnSpc>
                <a:spcPct val="115000"/>
              </a:lnSpc>
              <a:spcBef>
                <a:spcPts val="0"/>
              </a:spcBef>
              <a:spcAft>
                <a:spcPts val="0"/>
              </a:spcAft>
              <a:buClr>
                <a:schemeClr val="dk1"/>
              </a:buClr>
              <a:buSzPts val="1100"/>
              <a:buChar char="●"/>
            </a:pPr>
            <a:r>
              <a:rPr lang="en" sz="1100">
                <a:solidFill>
                  <a:schemeClr val="dk1"/>
                </a:solidFill>
                <a:latin typeface="Calibri"/>
                <a:ea typeface="Calibri"/>
                <a:cs typeface="Calibri"/>
                <a:sym typeface="Calibri"/>
              </a:rPr>
              <a:t>Example: </a:t>
            </a:r>
            <a:r>
              <a:rPr b="1" lang="en" sz="1100">
                <a:solidFill>
                  <a:schemeClr val="dk1"/>
                </a:solidFill>
                <a:latin typeface="Calibri"/>
                <a:ea typeface="Calibri"/>
                <a:cs typeface="Calibri"/>
                <a:sym typeface="Calibri"/>
              </a:rPr>
              <a:t>“Graphs are all around us”</a:t>
            </a:r>
            <a:endParaRPr b="1" sz="1100">
              <a:solidFill>
                <a:schemeClr val="dk1"/>
              </a:solidFill>
              <a:latin typeface="Calibri"/>
              <a:ea typeface="Calibri"/>
              <a:cs typeface="Calibri"/>
              <a:sym typeface="Calibri"/>
            </a:endParaRPr>
          </a:p>
          <a:p>
            <a:pPr indent="-298450" lvl="0" marL="457200" rtl="0" algn="l">
              <a:lnSpc>
                <a:spcPct val="115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In practice, this graph view is usually redundant.</a:t>
            </a:r>
            <a:endParaRPr sz="1100">
              <a:solidFill>
                <a:schemeClr val="dk1"/>
              </a:solidFill>
              <a:latin typeface="Calibri"/>
              <a:ea typeface="Calibri"/>
              <a:cs typeface="Calibri"/>
              <a:sym typeface="Calibri"/>
            </a:endParaRPr>
          </a:p>
          <a:p>
            <a:pPr indent="-298450" lvl="0" marL="457200" rtl="0" algn="l">
              <a:lnSpc>
                <a:spcPct val="115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Images and text have very regular structures:</a:t>
            </a:r>
            <a:endParaRPr sz="1100">
              <a:solidFill>
                <a:schemeClr val="dk1"/>
              </a:solidFill>
              <a:latin typeface="Calibri"/>
              <a:ea typeface="Calibri"/>
              <a:cs typeface="Calibri"/>
              <a:sym typeface="Calibri"/>
            </a:endParaRPr>
          </a:p>
          <a:p>
            <a:pPr indent="-298450" lvl="1" marL="914400" rtl="0" algn="l">
              <a:lnSpc>
                <a:spcPct val="115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Image adjacency matrices show grid-based banded patterns.</a:t>
            </a:r>
            <a:endParaRPr sz="1100">
              <a:solidFill>
                <a:schemeClr val="dk1"/>
              </a:solidFill>
              <a:latin typeface="Calibri"/>
              <a:ea typeface="Calibri"/>
              <a:cs typeface="Calibri"/>
              <a:sym typeface="Calibri"/>
            </a:endParaRPr>
          </a:p>
          <a:p>
            <a:pPr indent="-298450" lvl="1" marL="914400" rtl="0" algn="l">
              <a:lnSpc>
                <a:spcPct val="115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Text adjacency matrices mostly form a diagonal line.</a:t>
            </a:r>
            <a:endParaRPr sz="1100">
              <a:solidFill>
                <a:schemeClr val="dk1"/>
              </a:solidFill>
              <a:latin typeface="Calibri"/>
              <a:ea typeface="Calibri"/>
              <a:cs typeface="Calibri"/>
              <a:sym typeface="Calibri"/>
            </a:endParaRPr>
          </a:p>
        </p:txBody>
      </p:sp>
      <p:pic>
        <p:nvPicPr>
          <p:cNvPr id="95" name="Google Shape;95;p18"/>
          <p:cNvPicPr preferRelativeResize="0"/>
          <p:nvPr/>
        </p:nvPicPr>
        <p:blipFill>
          <a:blip r:embed="rId3">
            <a:alphaModFix/>
          </a:blip>
          <a:stretch>
            <a:fillRect/>
          </a:stretch>
        </p:blipFill>
        <p:spPr>
          <a:xfrm>
            <a:off x="4378575" y="2966600"/>
            <a:ext cx="4729476" cy="191312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19"/>
          <p:cNvSpPr txBox="1"/>
          <p:nvPr/>
        </p:nvSpPr>
        <p:spPr>
          <a:xfrm>
            <a:off x="259375" y="263550"/>
            <a:ext cx="77454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800">
                <a:solidFill>
                  <a:schemeClr val="dk1"/>
                </a:solidFill>
                <a:latin typeface="Calibri"/>
                <a:ea typeface="Calibri"/>
                <a:cs typeface="Calibri"/>
                <a:sym typeface="Calibri"/>
              </a:rPr>
              <a:t>Graphs and where to find them : </a:t>
            </a:r>
            <a:r>
              <a:rPr b="1" lang="en" sz="1800">
                <a:solidFill>
                  <a:schemeClr val="dk1"/>
                </a:solidFill>
                <a:latin typeface="Calibri"/>
                <a:ea typeface="Calibri"/>
                <a:cs typeface="Calibri"/>
                <a:sym typeface="Calibri"/>
              </a:rPr>
              <a:t>Social networks as graphs</a:t>
            </a:r>
            <a:endParaRPr b="1" sz="1800">
              <a:solidFill>
                <a:schemeClr val="dk1"/>
              </a:solidFill>
              <a:latin typeface="Calibri"/>
              <a:ea typeface="Calibri"/>
              <a:cs typeface="Calibri"/>
              <a:sym typeface="Calibri"/>
            </a:endParaRPr>
          </a:p>
        </p:txBody>
      </p:sp>
      <p:sp>
        <p:nvSpPr>
          <p:cNvPr id="101" name="Google Shape;101;p19"/>
          <p:cNvSpPr txBox="1"/>
          <p:nvPr/>
        </p:nvSpPr>
        <p:spPr>
          <a:xfrm>
            <a:off x="340000" y="792150"/>
            <a:ext cx="84396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2" name="Google Shape;102;p19"/>
          <p:cNvSpPr txBox="1"/>
          <p:nvPr/>
        </p:nvSpPr>
        <p:spPr>
          <a:xfrm>
            <a:off x="106575" y="792150"/>
            <a:ext cx="8624100" cy="581700"/>
          </a:xfrm>
          <a:prstGeom prst="rect">
            <a:avLst/>
          </a:prstGeom>
          <a:noFill/>
          <a:ln>
            <a:noFill/>
          </a:ln>
        </p:spPr>
        <p:txBody>
          <a:bodyPr anchorCtr="0" anchor="t" bIns="91425" lIns="91425" spcFirstLastPara="1" rIns="91425" wrap="square" tIns="91425">
            <a:spAutoFit/>
          </a:bodyPr>
          <a:lstStyle/>
          <a:p>
            <a:pPr indent="-304800" lvl="0" marL="457200" rtl="0" algn="l">
              <a:lnSpc>
                <a:spcPct val="115000"/>
              </a:lnSpc>
              <a:spcBef>
                <a:spcPts val="120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Social networks are tools to study patterns in collective behaviour of people, institutions and organizations. </a:t>
            </a:r>
            <a:endParaRPr sz="1200">
              <a:solidFill>
                <a:schemeClr val="dk1"/>
              </a:solidFill>
              <a:latin typeface="Calibri"/>
              <a:ea typeface="Calibri"/>
              <a:cs typeface="Calibri"/>
              <a:sym typeface="Calibri"/>
            </a:endParaRPr>
          </a:p>
          <a:p>
            <a:pPr indent="-304800" lvl="0" marL="457200" rtl="0" algn="l">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We can build a graph representing groups of people by modelling individuals as nodes, and their relationships as edges.</a:t>
            </a:r>
            <a:endParaRPr sz="1200">
              <a:solidFill>
                <a:schemeClr val="dk1"/>
              </a:solidFill>
              <a:latin typeface="Calibri"/>
              <a:ea typeface="Calibri"/>
              <a:cs typeface="Calibri"/>
              <a:sym typeface="Calibri"/>
            </a:endParaRPr>
          </a:p>
        </p:txBody>
      </p:sp>
      <p:pic>
        <p:nvPicPr>
          <p:cNvPr id="103" name="Google Shape;103;p19"/>
          <p:cNvPicPr preferRelativeResize="0"/>
          <p:nvPr/>
        </p:nvPicPr>
        <p:blipFill>
          <a:blip r:embed="rId3">
            <a:alphaModFix/>
          </a:blip>
          <a:stretch>
            <a:fillRect/>
          </a:stretch>
        </p:blipFill>
        <p:spPr>
          <a:xfrm>
            <a:off x="152400" y="1622425"/>
            <a:ext cx="8332175" cy="33686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20"/>
          <p:cNvSpPr txBox="1"/>
          <p:nvPr/>
        </p:nvSpPr>
        <p:spPr>
          <a:xfrm>
            <a:off x="259375" y="263550"/>
            <a:ext cx="77454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800">
                <a:solidFill>
                  <a:schemeClr val="dk1"/>
                </a:solidFill>
                <a:latin typeface="Calibri"/>
                <a:ea typeface="Calibri"/>
                <a:cs typeface="Calibri"/>
                <a:sym typeface="Calibri"/>
              </a:rPr>
              <a:t>What types of problems have graph structured data? </a:t>
            </a:r>
            <a:endParaRPr b="1" sz="1800">
              <a:solidFill>
                <a:schemeClr val="dk1"/>
              </a:solidFill>
              <a:latin typeface="Calibri"/>
              <a:ea typeface="Calibri"/>
              <a:cs typeface="Calibri"/>
              <a:sym typeface="Calibri"/>
            </a:endParaRPr>
          </a:p>
        </p:txBody>
      </p:sp>
      <p:sp>
        <p:nvSpPr>
          <p:cNvPr id="109" name="Google Shape;109;p20"/>
          <p:cNvSpPr txBox="1"/>
          <p:nvPr/>
        </p:nvSpPr>
        <p:spPr>
          <a:xfrm>
            <a:off x="340000" y="792150"/>
            <a:ext cx="84396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0" name="Google Shape;110;p20"/>
          <p:cNvSpPr txBox="1"/>
          <p:nvPr/>
        </p:nvSpPr>
        <p:spPr>
          <a:xfrm>
            <a:off x="106575" y="792150"/>
            <a:ext cx="8624100" cy="794100"/>
          </a:xfrm>
          <a:prstGeom prst="rect">
            <a:avLst/>
          </a:prstGeom>
          <a:noFill/>
          <a:ln>
            <a:noFill/>
          </a:ln>
        </p:spPr>
        <p:txBody>
          <a:bodyPr anchorCtr="0" anchor="t" bIns="91425" lIns="91425" spcFirstLastPara="1" rIns="91425" wrap="square" tIns="91425">
            <a:spAutoFit/>
          </a:bodyPr>
          <a:lstStyle/>
          <a:p>
            <a:pPr indent="-304800" lvl="0" marL="457200" rtl="0" algn="l">
              <a:lnSpc>
                <a:spcPct val="115000"/>
              </a:lnSpc>
              <a:spcBef>
                <a:spcPts val="120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In a graph-level task, we predict a single property for a whole graph. </a:t>
            </a:r>
            <a:endParaRPr sz="1200">
              <a:solidFill>
                <a:schemeClr val="dk1"/>
              </a:solidFill>
              <a:latin typeface="Calibri"/>
              <a:ea typeface="Calibri"/>
              <a:cs typeface="Calibri"/>
              <a:sym typeface="Calibri"/>
            </a:endParaRPr>
          </a:p>
          <a:p>
            <a:pPr indent="-304800" lvl="0" marL="457200" rtl="0" algn="l">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For a node-level task, we predict some property for each node in a graph. </a:t>
            </a:r>
            <a:endParaRPr sz="1200">
              <a:solidFill>
                <a:schemeClr val="dk1"/>
              </a:solidFill>
              <a:latin typeface="Calibri"/>
              <a:ea typeface="Calibri"/>
              <a:cs typeface="Calibri"/>
              <a:sym typeface="Calibri"/>
            </a:endParaRPr>
          </a:p>
          <a:p>
            <a:pPr indent="-304800" lvl="0" marL="457200" rtl="0" algn="l">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For an edge-level task, we want to predict the property or presence of edges in a graph.</a:t>
            </a:r>
            <a:endParaRPr sz="1200">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21"/>
          <p:cNvSpPr txBox="1"/>
          <p:nvPr/>
        </p:nvSpPr>
        <p:spPr>
          <a:xfrm>
            <a:off x="259375" y="263550"/>
            <a:ext cx="77454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500">
                <a:solidFill>
                  <a:schemeClr val="dk1"/>
                </a:solidFill>
                <a:latin typeface="Calibri"/>
                <a:ea typeface="Calibri"/>
                <a:cs typeface="Calibri"/>
                <a:sym typeface="Calibri"/>
              </a:rPr>
              <a:t>Graph-level task</a:t>
            </a:r>
            <a:endParaRPr b="1" sz="1800">
              <a:solidFill>
                <a:schemeClr val="dk1"/>
              </a:solidFill>
              <a:latin typeface="Calibri"/>
              <a:ea typeface="Calibri"/>
              <a:cs typeface="Calibri"/>
              <a:sym typeface="Calibri"/>
            </a:endParaRPr>
          </a:p>
        </p:txBody>
      </p:sp>
      <p:sp>
        <p:nvSpPr>
          <p:cNvPr id="116" name="Google Shape;116;p21"/>
          <p:cNvSpPr txBox="1"/>
          <p:nvPr/>
        </p:nvSpPr>
        <p:spPr>
          <a:xfrm>
            <a:off x="340000" y="792150"/>
            <a:ext cx="84396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7" name="Google Shape;117;p21"/>
          <p:cNvSpPr txBox="1"/>
          <p:nvPr/>
        </p:nvSpPr>
        <p:spPr>
          <a:xfrm>
            <a:off x="152400" y="642700"/>
            <a:ext cx="8624100" cy="1716900"/>
          </a:xfrm>
          <a:prstGeom prst="rect">
            <a:avLst/>
          </a:prstGeom>
          <a:noFill/>
          <a:ln>
            <a:noFill/>
          </a:ln>
        </p:spPr>
        <p:txBody>
          <a:bodyPr anchorCtr="0" anchor="t" bIns="91425" lIns="91425" spcFirstLastPara="1" rIns="91425" wrap="square" tIns="91425">
            <a:spAutoFit/>
          </a:bodyPr>
          <a:lstStyle/>
          <a:p>
            <a:pPr indent="-298450" lvl="0" marL="457200" rtl="0" algn="l">
              <a:lnSpc>
                <a:spcPct val="115000"/>
              </a:lnSpc>
              <a:spcBef>
                <a:spcPts val="120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In graph-level tasks, the goal is to predict a property of the entire graph.</a:t>
            </a:r>
            <a:endParaRPr sz="1100">
              <a:solidFill>
                <a:schemeClr val="dk1"/>
              </a:solidFill>
              <a:latin typeface="Calibri"/>
              <a:ea typeface="Calibri"/>
              <a:cs typeface="Calibri"/>
              <a:sym typeface="Calibri"/>
            </a:endParaRPr>
          </a:p>
          <a:p>
            <a:pPr indent="-298450" lvl="0" marL="457200" rtl="0" algn="l">
              <a:lnSpc>
                <a:spcPct val="115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Example: for a molecular graph, we may predict:</a:t>
            </a:r>
            <a:endParaRPr sz="1100">
              <a:solidFill>
                <a:schemeClr val="dk1"/>
              </a:solidFill>
              <a:latin typeface="Calibri"/>
              <a:ea typeface="Calibri"/>
              <a:cs typeface="Calibri"/>
              <a:sym typeface="Calibri"/>
            </a:endParaRPr>
          </a:p>
          <a:p>
            <a:pPr indent="-298450" lvl="1" marL="914400" rtl="0" algn="l">
              <a:lnSpc>
                <a:spcPct val="115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The smell of the molecule</a:t>
            </a:r>
            <a:endParaRPr sz="1100">
              <a:solidFill>
                <a:schemeClr val="dk1"/>
              </a:solidFill>
              <a:latin typeface="Calibri"/>
              <a:ea typeface="Calibri"/>
              <a:cs typeface="Calibri"/>
              <a:sym typeface="Calibri"/>
            </a:endParaRPr>
          </a:p>
          <a:p>
            <a:pPr indent="-298450" lvl="1" marL="914400" rtl="0" algn="l">
              <a:lnSpc>
                <a:spcPct val="115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Whether it binds to a disease-related receptor</a:t>
            </a:r>
            <a:endParaRPr sz="1100">
              <a:solidFill>
                <a:schemeClr val="dk1"/>
              </a:solidFill>
              <a:latin typeface="Calibri"/>
              <a:ea typeface="Calibri"/>
              <a:cs typeface="Calibri"/>
              <a:sym typeface="Calibri"/>
            </a:endParaRPr>
          </a:p>
          <a:p>
            <a:pPr indent="-298450" lvl="0" marL="457200" rtl="0" algn="l">
              <a:lnSpc>
                <a:spcPct val="115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This is similar to image classification:</a:t>
            </a:r>
            <a:endParaRPr sz="1100">
              <a:solidFill>
                <a:schemeClr val="dk1"/>
              </a:solidFill>
              <a:latin typeface="Calibri"/>
              <a:ea typeface="Calibri"/>
              <a:cs typeface="Calibri"/>
              <a:sym typeface="Calibri"/>
            </a:endParaRPr>
          </a:p>
          <a:p>
            <a:pPr indent="-298450" lvl="1" marL="914400" rtl="0" algn="l">
              <a:lnSpc>
                <a:spcPct val="115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MNIST or CIFAR assigns one label to an entire image.</a:t>
            </a:r>
            <a:endParaRPr sz="1100">
              <a:solidFill>
                <a:schemeClr val="dk1"/>
              </a:solidFill>
              <a:latin typeface="Calibri"/>
              <a:ea typeface="Calibri"/>
              <a:cs typeface="Calibri"/>
              <a:sym typeface="Calibri"/>
            </a:endParaRPr>
          </a:p>
          <a:p>
            <a:pPr indent="-298450" lvl="0" marL="457200" rtl="0" algn="l">
              <a:lnSpc>
                <a:spcPct val="115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It is also similar to text classification:</a:t>
            </a:r>
            <a:endParaRPr sz="1100">
              <a:solidFill>
                <a:schemeClr val="dk1"/>
              </a:solidFill>
              <a:latin typeface="Calibri"/>
              <a:ea typeface="Calibri"/>
              <a:cs typeface="Calibri"/>
              <a:sym typeface="Calibri"/>
            </a:endParaRPr>
          </a:p>
          <a:p>
            <a:pPr indent="-298450" lvl="1" marL="914400" rtl="0" algn="l">
              <a:lnSpc>
                <a:spcPct val="115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Sentiment analysis assigns one mood or emotion to an entire sentence.</a:t>
            </a:r>
            <a:endParaRPr sz="1100">
              <a:solidFill>
                <a:schemeClr val="dk1"/>
              </a:solidFill>
              <a:latin typeface="Calibri"/>
              <a:ea typeface="Calibri"/>
              <a:cs typeface="Calibri"/>
              <a:sym typeface="Calibri"/>
            </a:endParaRPr>
          </a:p>
        </p:txBody>
      </p:sp>
      <p:pic>
        <p:nvPicPr>
          <p:cNvPr id="118" name="Google Shape;118;p21"/>
          <p:cNvPicPr preferRelativeResize="0"/>
          <p:nvPr/>
        </p:nvPicPr>
        <p:blipFill>
          <a:blip r:embed="rId3">
            <a:alphaModFix/>
          </a:blip>
          <a:stretch>
            <a:fillRect/>
          </a:stretch>
        </p:blipFill>
        <p:spPr>
          <a:xfrm>
            <a:off x="152400" y="2297550"/>
            <a:ext cx="8839196" cy="2647361"/>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22"/>
          <p:cNvSpPr txBox="1"/>
          <p:nvPr/>
        </p:nvSpPr>
        <p:spPr>
          <a:xfrm>
            <a:off x="259375" y="263550"/>
            <a:ext cx="77454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800">
                <a:solidFill>
                  <a:schemeClr val="dk1"/>
                </a:solidFill>
                <a:latin typeface="Calibri"/>
                <a:ea typeface="Calibri"/>
                <a:cs typeface="Calibri"/>
                <a:sym typeface="Calibri"/>
              </a:rPr>
              <a:t>Node-level task</a:t>
            </a:r>
            <a:endParaRPr b="1" sz="1800">
              <a:solidFill>
                <a:schemeClr val="dk1"/>
              </a:solidFill>
              <a:latin typeface="Calibri"/>
              <a:ea typeface="Calibri"/>
              <a:cs typeface="Calibri"/>
              <a:sym typeface="Calibri"/>
            </a:endParaRPr>
          </a:p>
        </p:txBody>
      </p:sp>
      <p:sp>
        <p:nvSpPr>
          <p:cNvPr id="124" name="Google Shape;124;p22"/>
          <p:cNvSpPr txBox="1"/>
          <p:nvPr/>
        </p:nvSpPr>
        <p:spPr>
          <a:xfrm>
            <a:off x="340000" y="792150"/>
            <a:ext cx="84396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5" name="Google Shape;125;p22"/>
          <p:cNvSpPr txBox="1"/>
          <p:nvPr/>
        </p:nvSpPr>
        <p:spPr>
          <a:xfrm>
            <a:off x="106575" y="792150"/>
            <a:ext cx="8307600" cy="1757100"/>
          </a:xfrm>
          <a:prstGeom prst="rect">
            <a:avLst/>
          </a:prstGeom>
          <a:noFill/>
          <a:ln>
            <a:noFill/>
          </a:ln>
        </p:spPr>
        <p:txBody>
          <a:bodyPr anchorCtr="0" anchor="t" bIns="91425" lIns="91425" spcFirstLastPara="1" rIns="91425" wrap="square" tIns="91425">
            <a:spAutoFit/>
          </a:bodyPr>
          <a:lstStyle/>
          <a:p>
            <a:pPr indent="-285750" lvl="0" marL="457200" rtl="0" algn="l">
              <a:lnSpc>
                <a:spcPct val="115000"/>
              </a:lnSpc>
              <a:spcBef>
                <a:spcPts val="1200"/>
              </a:spcBef>
              <a:spcAft>
                <a:spcPts val="0"/>
              </a:spcAft>
              <a:buClr>
                <a:schemeClr val="dk1"/>
              </a:buClr>
              <a:buSzPts val="900"/>
              <a:buFont typeface="Calibri"/>
              <a:buChar char="●"/>
            </a:pPr>
            <a:r>
              <a:rPr lang="en" sz="900">
                <a:solidFill>
                  <a:schemeClr val="dk1"/>
                </a:solidFill>
                <a:latin typeface="Calibri"/>
                <a:ea typeface="Calibri"/>
                <a:cs typeface="Calibri"/>
                <a:sym typeface="Calibri"/>
              </a:rPr>
              <a:t>Node-level tasks predict the identity or role of each node in a graph.</a:t>
            </a:r>
            <a:endParaRPr sz="900">
              <a:solidFill>
                <a:schemeClr val="dk1"/>
              </a:solidFill>
              <a:latin typeface="Calibri"/>
              <a:ea typeface="Calibri"/>
              <a:cs typeface="Calibri"/>
              <a:sym typeface="Calibri"/>
            </a:endParaRPr>
          </a:p>
          <a:p>
            <a:pPr indent="-285750" lvl="0" marL="457200" rtl="0" algn="l">
              <a:lnSpc>
                <a:spcPct val="115000"/>
              </a:lnSpc>
              <a:spcBef>
                <a:spcPts val="0"/>
              </a:spcBef>
              <a:spcAft>
                <a:spcPts val="0"/>
              </a:spcAft>
              <a:buClr>
                <a:schemeClr val="dk1"/>
              </a:buClr>
              <a:buSzPts val="900"/>
              <a:buChar char="●"/>
            </a:pPr>
            <a:r>
              <a:rPr lang="en" sz="900">
                <a:solidFill>
                  <a:schemeClr val="dk1"/>
                </a:solidFill>
                <a:latin typeface="Calibri"/>
                <a:ea typeface="Calibri"/>
                <a:cs typeface="Calibri"/>
                <a:sym typeface="Calibri"/>
              </a:rPr>
              <a:t>Example: </a:t>
            </a:r>
            <a:r>
              <a:rPr b="1" lang="en" sz="900">
                <a:solidFill>
                  <a:schemeClr val="dk1"/>
                </a:solidFill>
                <a:latin typeface="Calibri"/>
                <a:ea typeface="Calibri"/>
                <a:cs typeface="Calibri"/>
                <a:sym typeface="Calibri"/>
              </a:rPr>
              <a:t>Zach’s Karate Club</a:t>
            </a:r>
            <a:endParaRPr b="1" sz="900">
              <a:solidFill>
                <a:schemeClr val="dk1"/>
              </a:solidFill>
              <a:latin typeface="Calibri"/>
              <a:ea typeface="Calibri"/>
              <a:cs typeface="Calibri"/>
              <a:sym typeface="Calibri"/>
            </a:endParaRPr>
          </a:p>
          <a:p>
            <a:pPr indent="-285750" lvl="1" marL="914400" rtl="0" algn="l">
              <a:lnSpc>
                <a:spcPct val="115000"/>
              </a:lnSpc>
              <a:spcBef>
                <a:spcPts val="0"/>
              </a:spcBef>
              <a:spcAft>
                <a:spcPts val="0"/>
              </a:spcAft>
              <a:buClr>
                <a:schemeClr val="dk1"/>
              </a:buClr>
              <a:buSzPts val="900"/>
              <a:buFont typeface="Calibri"/>
              <a:buChar char="○"/>
            </a:pPr>
            <a:r>
              <a:rPr lang="en" sz="900">
                <a:solidFill>
                  <a:schemeClr val="dk1"/>
                </a:solidFill>
                <a:latin typeface="Calibri"/>
                <a:ea typeface="Calibri"/>
                <a:cs typeface="Calibri"/>
                <a:sym typeface="Calibri"/>
              </a:rPr>
              <a:t>Nodes represent club members.</a:t>
            </a:r>
            <a:endParaRPr sz="900">
              <a:solidFill>
                <a:schemeClr val="dk1"/>
              </a:solidFill>
              <a:latin typeface="Calibri"/>
              <a:ea typeface="Calibri"/>
              <a:cs typeface="Calibri"/>
              <a:sym typeface="Calibri"/>
            </a:endParaRPr>
          </a:p>
          <a:p>
            <a:pPr indent="-285750" lvl="1" marL="914400" rtl="0" algn="l">
              <a:lnSpc>
                <a:spcPct val="115000"/>
              </a:lnSpc>
              <a:spcBef>
                <a:spcPts val="0"/>
              </a:spcBef>
              <a:spcAft>
                <a:spcPts val="0"/>
              </a:spcAft>
              <a:buClr>
                <a:schemeClr val="dk1"/>
              </a:buClr>
              <a:buSzPts val="900"/>
              <a:buFont typeface="Calibri"/>
              <a:buChar char="○"/>
            </a:pPr>
            <a:r>
              <a:rPr lang="en" sz="900">
                <a:solidFill>
                  <a:schemeClr val="dk1"/>
                </a:solidFill>
                <a:latin typeface="Calibri"/>
                <a:ea typeface="Calibri"/>
                <a:cs typeface="Calibri"/>
                <a:sym typeface="Calibri"/>
              </a:rPr>
              <a:t>Edges represent interactions between members.</a:t>
            </a:r>
            <a:endParaRPr sz="900">
              <a:solidFill>
                <a:schemeClr val="dk1"/>
              </a:solidFill>
              <a:latin typeface="Calibri"/>
              <a:ea typeface="Calibri"/>
              <a:cs typeface="Calibri"/>
              <a:sym typeface="Calibri"/>
            </a:endParaRPr>
          </a:p>
          <a:p>
            <a:pPr indent="-285750" lvl="1" marL="914400" rtl="0" algn="l">
              <a:lnSpc>
                <a:spcPct val="115000"/>
              </a:lnSpc>
              <a:spcBef>
                <a:spcPts val="0"/>
              </a:spcBef>
              <a:spcAft>
                <a:spcPts val="0"/>
              </a:spcAft>
              <a:buClr>
                <a:schemeClr val="dk1"/>
              </a:buClr>
              <a:buSzPts val="900"/>
              <a:buChar char="○"/>
            </a:pPr>
            <a:r>
              <a:rPr lang="en" sz="900">
                <a:solidFill>
                  <a:schemeClr val="dk1"/>
                </a:solidFill>
                <a:latin typeface="Calibri"/>
                <a:ea typeface="Calibri"/>
                <a:cs typeface="Calibri"/>
                <a:sym typeface="Calibri"/>
              </a:rPr>
              <a:t>Goal: predict whether each member supports </a:t>
            </a:r>
            <a:r>
              <a:rPr b="1" lang="en" sz="900">
                <a:solidFill>
                  <a:schemeClr val="dk1"/>
                </a:solidFill>
                <a:latin typeface="Calibri"/>
                <a:ea typeface="Calibri"/>
                <a:cs typeface="Calibri"/>
                <a:sym typeface="Calibri"/>
              </a:rPr>
              <a:t>Mr. Hi</a:t>
            </a:r>
            <a:r>
              <a:rPr lang="en" sz="900">
                <a:solidFill>
                  <a:schemeClr val="dk1"/>
                </a:solidFill>
                <a:latin typeface="Calibri"/>
                <a:ea typeface="Calibri"/>
                <a:cs typeface="Calibri"/>
                <a:sym typeface="Calibri"/>
              </a:rPr>
              <a:t> or </a:t>
            </a:r>
            <a:r>
              <a:rPr b="1" lang="en" sz="900">
                <a:solidFill>
                  <a:schemeClr val="dk1"/>
                </a:solidFill>
                <a:latin typeface="Calibri"/>
                <a:ea typeface="Calibri"/>
                <a:cs typeface="Calibri"/>
                <a:sym typeface="Calibri"/>
              </a:rPr>
              <a:t>John H</a:t>
            </a:r>
            <a:r>
              <a:rPr lang="en" sz="900">
                <a:solidFill>
                  <a:schemeClr val="dk1"/>
                </a:solidFill>
                <a:latin typeface="Calibri"/>
                <a:ea typeface="Calibri"/>
                <a:cs typeface="Calibri"/>
                <a:sym typeface="Calibri"/>
              </a:rPr>
              <a:t> after the split.</a:t>
            </a:r>
            <a:endParaRPr sz="900">
              <a:solidFill>
                <a:schemeClr val="dk1"/>
              </a:solidFill>
              <a:latin typeface="Calibri"/>
              <a:ea typeface="Calibri"/>
              <a:cs typeface="Calibri"/>
              <a:sym typeface="Calibri"/>
            </a:endParaRPr>
          </a:p>
          <a:p>
            <a:pPr indent="-285750" lvl="0" marL="457200" rtl="0" algn="l">
              <a:lnSpc>
                <a:spcPct val="115000"/>
              </a:lnSpc>
              <a:spcBef>
                <a:spcPts val="0"/>
              </a:spcBef>
              <a:spcAft>
                <a:spcPts val="0"/>
              </a:spcAft>
              <a:buClr>
                <a:schemeClr val="dk1"/>
              </a:buClr>
              <a:buSzPts val="900"/>
              <a:buFont typeface="Calibri"/>
              <a:buChar char="●"/>
            </a:pPr>
            <a:r>
              <a:rPr lang="en" sz="900">
                <a:solidFill>
                  <a:schemeClr val="dk1"/>
                </a:solidFill>
                <a:latin typeface="Calibri"/>
                <a:ea typeface="Calibri"/>
                <a:cs typeface="Calibri"/>
                <a:sym typeface="Calibri"/>
              </a:rPr>
              <a:t>A node’s distance from the instructor or administrator helps predict its label.å</a:t>
            </a:r>
            <a:endParaRPr sz="900">
              <a:solidFill>
                <a:schemeClr val="dk1"/>
              </a:solidFill>
              <a:latin typeface="Calibri"/>
              <a:ea typeface="Calibri"/>
              <a:cs typeface="Calibri"/>
              <a:sym typeface="Calibri"/>
            </a:endParaRPr>
          </a:p>
          <a:p>
            <a:pPr indent="-285750" lvl="0" marL="457200" rtl="0" algn="l">
              <a:lnSpc>
                <a:spcPct val="115000"/>
              </a:lnSpc>
              <a:spcBef>
                <a:spcPts val="0"/>
              </a:spcBef>
              <a:spcAft>
                <a:spcPts val="0"/>
              </a:spcAft>
              <a:buClr>
                <a:schemeClr val="dk1"/>
              </a:buClr>
              <a:buSzPts val="900"/>
              <a:buFont typeface="Calibri"/>
              <a:buChar char="●"/>
            </a:pPr>
            <a:r>
              <a:rPr lang="en" sz="900">
                <a:solidFill>
                  <a:schemeClr val="dk1"/>
                </a:solidFill>
                <a:latin typeface="Calibri"/>
                <a:ea typeface="Calibri"/>
                <a:cs typeface="Calibri"/>
                <a:sym typeface="Calibri"/>
              </a:rPr>
              <a:t>Image analogy:</a:t>
            </a:r>
            <a:endParaRPr sz="900">
              <a:solidFill>
                <a:schemeClr val="dk1"/>
              </a:solidFill>
              <a:latin typeface="Calibri"/>
              <a:ea typeface="Calibri"/>
              <a:cs typeface="Calibri"/>
              <a:sym typeface="Calibri"/>
            </a:endParaRPr>
          </a:p>
          <a:p>
            <a:pPr indent="-285750" lvl="1" marL="914400" rtl="0" algn="l">
              <a:lnSpc>
                <a:spcPct val="115000"/>
              </a:lnSpc>
              <a:spcBef>
                <a:spcPts val="0"/>
              </a:spcBef>
              <a:spcAft>
                <a:spcPts val="0"/>
              </a:spcAft>
              <a:buClr>
                <a:schemeClr val="dk1"/>
              </a:buClr>
              <a:buSzPts val="900"/>
              <a:buChar char="○"/>
            </a:pPr>
            <a:r>
              <a:rPr lang="en" sz="900">
                <a:solidFill>
                  <a:schemeClr val="dk1"/>
                </a:solidFill>
                <a:latin typeface="Calibri"/>
                <a:ea typeface="Calibri"/>
                <a:cs typeface="Calibri"/>
                <a:sym typeface="Calibri"/>
              </a:rPr>
              <a:t>Similar to </a:t>
            </a:r>
            <a:r>
              <a:rPr b="1" lang="en" sz="900">
                <a:solidFill>
                  <a:schemeClr val="dk1"/>
                </a:solidFill>
                <a:latin typeface="Calibri"/>
                <a:ea typeface="Calibri"/>
                <a:cs typeface="Calibri"/>
                <a:sym typeface="Calibri"/>
              </a:rPr>
              <a:t>image segmentation</a:t>
            </a:r>
            <a:r>
              <a:rPr lang="en" sz="900">
                <a:solidFill>
                  <a:schemeClr val="dk1"/>
                </a:solidFill>
                <a:latin typeface="Calibri"/>
                <a:ea typeface="Calibri"/>
                <a:cs typeface="Calibri"/>
                <a:sym typeface="Calibri"/>
              </a:rPr>
              <a:t>, where each pixel gets a label.</a:t>
            </a:r>
            <a:endParaRPr sz="900">
              <a:solidFill>
                <a:schemeClr val="dk1"/>
              </a:solidFill>
              <a:latin typeface="Calibri"/>
              <a:ea typeface="Calibri"/>
              <a:cs typeface="Calibri"/>
              <a:sym typeface="Calibri"/>
            </a:endParaRPr>
          </a:p>
          <a:p>
            <a:pPr indent="-285750" lvl="0" marL="457200" rtl="0" algn="l">
              <a:lnSpc>
                <a:spcPct val="115000"/>
              </a:lnSpc>
              <a:spcBef>
                <a:spcPts val="0"/>
              </a:spcBef>
              <a:spcAft>
                <a:spcPts val="0"/>
              </a:spcAft>
              <a:buClr>
                <a:schemeClr val="dk1"/>
              </a:buClr>
              <a:buSzPts val="900"/>
              <a:buFont typeface="Calibri"/>
              <a:buChar char="●"/>
            </a:pPr>
            <a:r>
              <a:rPr lang="en" sz="900">
                <a:solidFill>
                  <a:schemeClr val="dk1"/>
                </a:solidFill>
                <a:latin typeface="Calibri"/>
                <a:ea typeface="Calibri"/>
                <a:cs typeface="Calibri"/>
                <a:sym typeface="Calibri"/>
              </a:rPr>
              <a:t>Text analogy:</a:t>
            </a:r>
            <a:endParaRPr sz="900">
              <a:solidFill>
                <a:schemeClr val="dk1"/>
              </a:solidFill>
              <a:latin typeface="Calibri"/>
              <a:ea typeface="Calibri"/>
              <a:cs typeface="Calibri"/>
              <a:sym typeface="Calibri"/>
            </a:endParaRPr>
          </a:p>
          <a:p>
            <a:pPr indent="-285750" lvl="1" marL="914400" rtl="0" algn="l">
              <a:lnSpc>
                <a:spcPct val="115000"/>
              </a:lnSpc>
              <a:spcBef>
                <a:spcPts val="0"/>
              </a:spcBef>
              <a:spcAft>
                <a:spcPts val="0"/>
              </a:spcAft>
              <a:buClr>
                <a:schemeClr val="dk1"/>
              </a:buClr>
              <a:buSzPts val="900"/>
              <a:buChar char="○"/>
            </a:pPr>
            <a:r>
              <a:rPr lang="en" sz="900">
                <a:solidFill>
                  <a:schemeClr val="dk1"/>
                </a:solidFill>
                <a:latin typeface="Calibri"/>
                <a:ea typeface="Calibri"/>
                <a:cs typeface="Calibri"/>
                <a:sym typeface="Calibri"/>
              </a:rPr>
              <a:t>Similar to </a:t>
            </a:r>
            <a:r>
              <a:rPr b="1" lang="en" sz="900">
                <a:solidFill>
                  <a:schemeClr val="dk1"/>
                </a:solidFill>
                <a:latin typeface="Calibri"/>
                <a:ea typeface="Calibri"/>
                <a:cs typeface="Calibri"/>
                <a:sym typeface="Calibri"/>
              </a:rPr>
              <a:t>part-of-speech tagging</a:t>
            </a:r>
            <a:r>
              <a:rPr lang="en" sz="900">
                <a:solidFill>
                  <a:schemeClr val="dk1"/>
                </a:solidFill>
                <a:latin typeface="Calibri"/>
                <a:ea typeface="Calibri"/>
                <a:cs typeface="Calibri"/>
                <a:sym typeface="Calibri"/>
              </a:rPr>
              <a:t>, where each word is labeled as noun, verb, adverb, etc.</a:t>
            </a:r>
            <a:endParaRPr sz="700">
              <a:solidFill>
                <a:schemeClr val="dk1"/>
              </a:solidFill>
              <a:latin typeface="Calibri"/>
              <a:ea typeface="Calibri"/>
              <a:cs typeface="Calibri"/>
              <a:sym typeface="Calibri"/>
            </a:endParaRPr>
          </a:p>
        </p:txBody>
      </p:sp>
      <p:pic>
        <p:nvPicPr>
          <p:cNvPr id="126" name="Google Shape;126;p22"/>
          <p:cNvPicPr preferRelativeResize="0"/>
          <p:nvPr/>
        </p:nvPicPr>
        <p:blipFill>
          <a:blip r:embed="rId3">
            <a:alphaModFix/>
          </a:blip>
          <a:stretch>
            <a:fillRect/>
          </a:stretch>
        </p:blipFill>
        <p:spPr>
          <a:xfrm>
            <a:off x="1162550" y="2549250"/>
            <a:ext cx="6195650" cy="2503051"/>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23"/>
          <p:cNvSpPr txBox="1"/>
          <p:nvPr/>
        </p:nvSpPr>
        <p:spPr>
          <a:xfrm>
            <a:off x="253347" y="263550"/>
            <a:ext cx="74400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800">
                <a:solidFill>
                  <a:schemeClr val="dk1"/>
                </a:solidFill>
                <a:latin typeface="Calibri"/>
                <a:ea typeface="Calibri"/>
                <a:cs typeface="Calibri"/>
                <a:sym typeface="Calibri"/>
              </a:rPr>
              <a:t>Edge-level task</a:t>
            </a:r>
            <a:endParaRPr b="1" sz="1800">
              <a:solidFill>
                <a:schemeClr val="dk1"/>
              </a:solidFill>
              <a:latin typeface="Calibri"/>
              <a:ea typeface="Calibri"/>
              <a:cs typeface="Calibri"/>
              <a:sym typeface="Calibri"/>
            </a:endParaRPr>
          </a:p>
        </p:txBody>
      </p:sp>
      <p:sp>
        <p:nvSpPr>
          <p:cNvPr id="132" name="Google Shape;132;p23"/>
          <p:cNvSpPr txBox="1"/>
          <p:nvPr/>
        </p:nvSpPr>
        <p:spPr>
          <a:xfrm>
            <a:off x="340000" y="792150"/>
            <a:ext cx="84396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3" name="Google Shape;133;p23"/>
          <p:cNvSpPr txBox="1"/>
          <p:nvPr/>
        </p:nvSpPr>
        <p:spPr>
          <a:xfrm>
            <a:off x="106575" y="792150"/>
            <a:ext cx="3233400" cy="3555600"/>
          </a:xfrm>
          <a:prstGeom prst="rect">
            <a:avLst/>
          </a:prstGeom>
          <a:noFill/>
          <a:ln>
            <a:noFill/>
          </a:ln>
        </p:spPr>
        <p:txBody>
          <a:bodyPr anchorCtr="0" anchor="t" bIns="91425" lIns="91425" spcFirstLastPara="1" rIns="91425" wrap="square" tIns="91425">
            <a:spAutoFit/>
          </a:bodyPr>
          <a:lstStyle/>
          <a:p>
            <a:pPr indent="-304800" lvl="0" marL="457200" rtl="0" algn="l">
              <a:lnSpc>
                <a:spcPct val="115000"/>
              </a:lnSpc>
              <a:spcBef>
                <a:spcPts val="120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Edge-level tasks predict relationships between nodes.</a:t>
            </a:r>
            <a:endParaRPr sz="1200">
              <a:solidFill>
                <a:schemeClr val="dk1"/>
              </a:solidFill>
              <a:latin typeface="Calibri"/>
              <a:ea typeface="Calibri"/>
              <a:cs typeface="Calibri"/>
              <a:sym typeface="Calibri"/>
            </a:endParaRPr>
          </a:p>
          <a:p>
            <a:pPr indent="-304800" lvl="0" marL="457200" rtl="0" algn="l">
              <a:lnSpc>
                <a:spcPct val="115000"/>
              </a:lnSpc>
              <a:spcBef>
                <a:spcPts val="0"/>
              </a:spcBef>
              <a:spcAft>
                <a:spcPts val="0"/>
              </a:spcAft>
              <a:buClr>
                <a:schemeClr val="dk1"/>
              </a:buClr>
              <a:buSzPts val="1200"/>
              <a:buChar char="●"/>
            </a:pPr>
            <a:r>
              <a:rPr lang="en" sz="1200">
                <a:solidFill>
                  <a:schemeClr val="dk1"/>
                </a:solidFill>
                <a:latin typeface="Calibri"/>
                <a:ea typeface="Calibri"/>
                <a:cs typeface="Calibri"/>
                <a:sym typeface="Calibri"/>
              </a:rPr>
              <a:t>Example: </a:t>
            </a:r>
            <a:r>
              <a:rPr b="1" lang="en" sz="1200">
                <a:solidFill>
                  <a:schemeClr val="dk1"/>
                </a:solidFill>
                <a:latin typeface="Calibri"/>
                <a:ea typeface="Calibri"/>
                <a:cs typeface="Calibri"/>
                <a:sym typeface="Calibri"/>
              </a:rPr>
              <a:t>image scene understanding</a:t>
            </a:r>
            <a:endParaRPr b="1" sz="1200">
              <a:solidFill>
                <a:schemeClr val="dk1"/>
              </a:solidFill>
              <a:latin typeface="Calibri"/>
              <a:ea typeface="Calibri"/>
              <a:cs typeface="Calibri"/>
              <a:sym typeface="Calibri"/>
            </a:endParaRPr>
          </a:p>
          <a:p>
            <a:pPr indent="-304800" lvl="1" marL="914400" rtl="0" algn="l">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Nodes represent objects in an image.</a:t>
            </a:r>
            <a:endParaRPr sz="1200">
              <a:solidFill>
                <a:schemeClr val="dk1"/>
              </a:solidFill>
              <a:latin typeface="Calibri"/>
              <a:ea typeface="Calibri"/>
              <a:cs typeface="Calibri"/>
              <a:sym typeface="Calibri"/>
            </a:endParaRPr>
          </a:p>
          <a:p>
            <a:pPr indent="-304800" lvl="1" marL="914400" rtl="0" algn="l">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Edges represent relationships between objects.</a:t>
            </a:r>
            <a:endParaRPr sz="1200">
              <a:solidFill>
                <a:schemeClr val="dk1"/>
              </a:solidFill>
              <a:latin typeface="Calibri"/>
              <a:ea typeface="Calibri"/>
              <a:cs typeface="Calibri"/>
              <a:sym typeface="Calibri"/>
            </a:endParaRPr>
          </a:p>
          <a:p>
            <a:pPr indent="-304800" lvl="0" marL="457200" rtl="0" algn="l">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 goal is to predict:</a:t>
            </a:r>
            <a:endParaRPr sz="1200">
              <a:solidFill>
                <a:schemeClr val="dk1"/>
              </a:solidFill>
              <a:latin typeface="Calibri"/>
              <a:ea typeface="Calibri"/>
              <a:cs typeface="Calibri"/>
              <a:sym typeface="Calibri"/>
            </a:endParaRPr>
          </a:p>
          <a:p>
            <a:pPr indent="-304800" lvl="1" marL="914400" rtl="0" algn="l">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Whether two objects are connected</a:t>
            </a:r>
            <a:endParaRPr sz="1200">
              <a:solidFill>
                <a:schemeClr val="dk1"/>
              </a:solidFill>
              <a:latin typeface="Calibri"/>
              <a:ea typeface="Calibri"/>
              <a:cs typeface="Calibri"/>
              <a:sym typeface="Calibri"/>
            </a:endParaRPr>
          </a:p>
          <a:p>
            <a:pPr indent="-304800" lvl="1" marL="914400" rtl="0" algn="l">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What type of relationship they have</a:t>
            </a:r>
            <a:endParaRPr sz="1200">
              <a:solidFill>
                <a:schemeClr val="dk1"/>
              </a:solidFill>
              <a:latin typeface="Calibri"/>
              <a:ea typeface="Calibri"/>
              <a:cs typeface="Calibri"/>
              <a:sym typeface="Calibri"/>
            </a:endParaRPr>
          </a:p>
          <a:p>
            <a:pPr indent="-304800" lvl="0" marL="457200" rtl="0" algn="l">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We can start with a fully connected graph.</a:t>
            </a:r>
            <a:endParaRPr sz="1200">
              <a:solidFill>
                <a:schemeClr val="dk1"/>
              </a:solidFill>
              <a:latin typeface="Calibri"/>
              <a:ea typeface="Calibri"/>
              <a:cs typeface="Calibri"/>
              <a:sym typeface="Calibri"/>
            </a:endParaRPr>
          </a:p>
          <a:p>
            <a:pPr indent="-304800" lvl="0" marL="457200" rtl="0" algn="l">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Then, weak or irrelevant edges can be removed to create a sparse graph.</a:t>
            </a:r>
            <a:endParaRPr sz="1200">
              <a:solidFill>
                <a:schemeClr val="dk1"/>
              </a:solidFill>
              <a:latin typeface="Calibri"/>
              <a:ea typeface="Calibri"/>
              <a:cs typeface="Calibri"/>
              <a:sym typeface="Calibri"/>
            </a:endParaRPr>
          </a:p>
        </p:txBody>
      </p:sp>
      <p:pic>
        <p:nvPicPr>
          <p:cNvPr id="134" name="Google Shape;134;p23"/>
          <p:cNvPicPr preferRelativeResize="0"/>
          <p:nvPr/>
        </p:nvPicPr>
        <p:blipFill>
          <a:blip r:embed="rId3">
            <a:alphaModFix/>
          </a:blip>
          <a:stretch>
            <a:fillRect/>
          </a:stretch>
        </p:blipFill>
        <p:spPr>
          <a:xfrm>
            <a:off x="3765950" y="63950"/>
            <a:ext cx="5237376" cy="3060251"/>
          </a:xfrm>
          <a:prstGeom prst="rect">
            <a:avLst/>
          </a:prstGeom>
          <a:noFill/>
          <a:ln>
            <a:noFill/>
          </a:ln>
        </p:spPr>
      </p:pic>
      <p:pic>
        <p:nvPicPr>
          <p:cNvPr id="135" name="Google Shape;135;p23"/>
          <p:cNvPicPr preferRelativeResize="0"/>
          <p:nvPr/>
        </p:nvPicPr>
        <p:blipFill>
          <a:blip r:embed="rId4">
            <a:alphaModFix/>
          </a:blip>
          <a:stretch>
            <a:fillRect/>
          </a:stretch>
        </p:blipFill>
        <p:spPr>
          <a:xfrm>
            <a:off x="4111625" y="3124199"/>
            <a:ext cx="4546034" cy="1840526"/>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24"/>
          <p:cNvSpPr txBox="1"/>
          <p:nvPr/>
        </p:nvSpPr>
        <p:spPr>
          <a:xfrm>
            <a:off x="259375" y="263550"/>
            <a:ext cx="77454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800">
                <a:solidFill>
                  <a:schemeClr val="dk1"/>
                </a:solidFill>
                <a:latin typeface="Calibri"/>
                <a:ea typeface="Calibri"/>
                <a:cs typeface="Calibri"/>
                <a:sym typeface="Calibri"/>
              </a:rPr>
              <a:t>The challenges of using graphs in machine learning</a:t>
            </a:r>
            <a:endParaRPr b="1" sz="1800">
              <a:solidFill>
                <a:schemeClr val="dk1"/>
              </a:solidFill>
              <a:latin typeface="Calibri"/>
              <a:ea typeface="Calibri"/>
              <a:cs typeface="Calibri"/>
              <a:sym typeface="Calibri"/>
            </a:endParaRPr>
          </a:p>
        </p:txBody>
      </p:sp>
      <p:sp>
        <p:nvSpPr>
          <p:cNvPr id="141" name="Google Shape;141;p24"/>
          <p:cNvSpPr txBox="1"/>
          <p:nvPr/>
        </p:nvSpPr>
        <p:spPr>
          <a:xfrm>
            <a:off x="340000" y="792150"/>
            <a:ext cx="84396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2" name="Google Shape;142;p24"/>
          <p:cNvSpPr txBox="1"/>
          <p:nvPr/>
        </p:nvSpPr>
        <p:spPr>
          <a:xfrm>
            <a:off x="106575" y="792150"/>
            <a:ext cx="6452400" cy="3555600"/>
          </a:xfrm>
          <a:prstGeom prst="rect">
            <a:avLst/>
          </a:prstGeom>
          <a:noFill/>
          <a:ln>
            <a:noFill/>
          </a:ln>
        </p:spPr>
        <p:txBody>
          <a:bodyPr anchorCtr="0" anchor="t" bIns="91425" lIns="91425" spcFirstLastPara="1" rIns="91425" wrap="square" tIns="91425">
            <a:spAutoFit/>
          </a:bodyPr>
          <a:lstStyle/>
          <a:p>
            <a:pPr indent="-304800" lvl="0" marL="457200" rtl="0" algn="l">
              <a:lnSpc>
                <a:spcPct val="115000"/>
              </a:lnSpc>
              <a:spcBef>
                <a:spcPts val="120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Neural networks usually expect rectangular or grid-like inputs.</a:t>
            </a:r>
            <a:endParaRPr sz="1200">
              <a:solidFill>
                <a:schemeClr val="dk1"/>
              </a:solidFill>
              <a:latin typeface="Calibri"/>
              <a:ea typeface="Calibri"/>
              <a:cs typeface="Calibri"/>
              <a:sym typeface="Calibri"/>
            </a:endParaRPr>
          </a:p>
          <a:p>
            <a:pPr indent="-304800" lvl="0" marL="457200" rtl="0" algn="l">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Graphs are harder to represent because they have irregular structures.</a:t>
            </a:r>
            <a:endParaRPr sz="1200">
              <a:solidFill>
                <a:schemeClr val="dk1"/>
              </a:solidFill>
              <a:latin typeface="Calibri"/>
              <a:ea typeface="Calibri"/>
              <a:cs typeface="Calibri"/>
              <a:sym typeface="Calibri"/>
            </a:endParaRPr>
          </a:p>
          <a:p>
            <a:pPr indent="-304800" lvl="0" marL="457200" rtl="0" algn="l">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 graph may contain four types of information:</a:t>
            </a:r>
            <a:endParaRPr sz="1200">
              <a:solidFill>
                <a:schemeClr val="dk1"/>
              </a:solidFill>
              <a:latin typeface="Calibri"/>
              <a:ea typeface="Calibri"/>
              <a:cs typeface="Calibri"/>
              <a:sym typeface="Calibri"/>
            </a:endParaRPr>
          </a:p>
          <a:p>
            <a:pPr indent="-304800" lvl="1" marL="914400" rtl="0" algn="l">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Node features</a:t>
            </a:r>
            <a:endParaRPr sz="1200">
              <a:solidFill>
                <a:schemeClr val="dk1"/>
              </a:solidFill>
              <a:latin typeface="Calibri"/>
              <a:ea typeface="Calibri"/>
              <a:cs typeface="Calibri"/>
              <a:sym typeface="Calibri"/>
            </a:endParaRPr>
          </a:p>
          <a:p>
            <a:pPr indent="-304800" lvl="1" marL="914400" rtl="0" algn="l">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Edge features</a:t>
            </a:r>
            <a:endParaRPr sz="1200">
              <a:solidFill>
                <a:schemeClr val="dk1"/>
              </a:solidFill>
              <a:latin typeface="Calibri"/>
              <a:ea typeface="Calibri"/>
              <a:cs typeface="Calibri"/>
              <a:sym typeface="Calibri"/>
            </a:endParaRPr>
          </a:p>
          <a:p>
            <a:pPr indent="-304800" lvl="1" marL="914400" rtl="0" algn="l">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Global graph features</a:t>
            </a:r>
            <a:endParaRPr sz="1200">
              <a:solidFill>
                <a:schemeClr val="dk1"/>
              </a:solidFill>
              <a:latin typeface="Calibri"/>
              <a:ea typeface="Calibri"/>
              <a:cs typeface="Calibri"/>
              <a:sym typeface="Calibri"/>
            </a:endParaRPr>
          </a:p>
          <a:p>
            <a:pPr indent="-304800" lvl="1" marL="914400" rtl="0" algn="l">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Connectivity information</a:t>
            </a:r>
            <a:endParaRPr sz="1200">
              <a:solidFill>
                <a:schemeClr val="dk1"/>
              </a:solidFill>
              <a:latin typeface="Calibri"/>
              <a:ea typeface="Calibri"/>
              <a:cs typeface="Calibri"/>
              <a:sym typeface="Calibri"/>
            </a:endParaRPr>
          </a:p>
          <a:p>
            <a:pPr indent="-304800" lvl="0" marL="457200" rtl="0" algn="l">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Node, edge, and global features can be stored in matrices.</a:t>
            </a:r>
            <a:endParaRPr sz="1200">
              <a:solidFill>
                <a:schemeClr val="dk1"/>
              </a:solidFill>
              <a:latin typeface="Calibri"/>
              <a:ea typeface="Calibri"/>
              <a:cs typeface="Calibri"/>
              <a:sym typeface="Calibri"/>
            </a:endParaRPr>
          </a:p>
          <a:p>
            <a:pPr indent="-304800" lvl="0" marL="457200" rtl="0" algn="l">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Connectivity is more challenging to represent.</a:t>
            </a:r>
            <a:endParaRPr sz="1200">
              <a:solidFill>
                <a:schemeClr val="dk1"/>
              </a:solidFill>
              <a:latin typeface="Calibri"/>
              <a:ea typeface="Calibri"/>
              <a:cs typeface="Calibri"/>
              <a:sym typeface="Calibri"/>
            </a:endParaRPr>
          </a:p>
          <a:p>
            <a:pPr indent="-304800" lvl="0" marL="457200" rtl="0" algn="l">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An adjacency matrix is a simple option, but it has drawbacks:</a:t>
            </a:r>
            <a:endParaRPr sz="1200">
              <a:solidFill>
                <a:schemeClr val="dk1"/>
              </a:solidFill>
              <a:latin typeface="Calibri"/>
              <a:ea typeface="Calibri"/>
              <a:cs typeface="Calibri"/>
              <a:sym typeface="Calibri"/>
            </a:endParaRPr>
          </a:p>
          <a:p>
            <a:pPr indent="-304800" lvl="1" marL="914400" rtl="0" algn="l">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Large graphs can have millions of nodes.</a:t>
            </a:r>
            <a:endParaRPr sz="1200">
              <a:solidFill>
                <a:schemeClr val="dk1"/>
              </a:solidFill>
              <a:latin typeface="Calibri"/>
              <a:ea typeface="Calibri"/>
              <a:cs typeface="Calibri"/>
              <a:sym typeface="Calibri"/>
            </a:endParaRPr>
          </a:p>
          <a:p>
            <a:pPr indent="-304800" lvl="1" marL="914400" rtl="0" algn="l">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Most adjacency matrices are very sparse.</a:t>
            </a:r>
            <a:endParaRPr sz="1200">
              <a:solidFill>
                <a:schemeClr val="dk1"/>
              </a:solidFill>
              <a:latin typeface="Calibri"/>
              <a:ea typeface="Calibri"/>
              <a:cs typeface="Calibri"/>
              <a:sym typeface="Calibri"/>
            </a:endParaRPr>
          </a:p>
          <a:p>
            <a:pPr indent="-304800" lvl="1" marL="914400" rtl="0" algn="l">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Sparse matrices waste memory.</a:t>
            </a:r>
            <a:endParaRPr sz="1200">
              <a:solidFill>
                <a:schemeClr val="dk1"/>
              </a:solidFill>
              <a:latin typeface="Calibri"/>
              <a:ea typeface="Calibri"/>
              <a:cs typeface="Calibri"/>
              <a:sym typeface="Calibri"/>
            </a:endParaRPr>
          </a:p>
          <a:p>
            <a:pPr indent="-304800" lvl="1" marL="914400" rtl="0" algn="l">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Different node orderings can create different adjacency matrices for the same graph.</a:t>
            </a:r>
            <a:endParaRPr sz="1200">
              <a:solidFill>
                <a:schemeClr val="dk1"/>
              </a:solidFill>
              <a:latin typeface="Calibri"/>
              <a:ea typeface="Calibri"/>
              <a:cs typeface="Calibri"/>
              <a:sym typeface="Calibri"/>
            </a:endParaRPr>
          </a:p>
          <a:p>
            <a:pPr indent="-304800" lvl="0" marL="457200" rtl="0" algn="l">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Neural networks may treat these different adjacency matrices differently.</a:t>
            </a:r>
            <a:endParaRPr sz="1200">
              <a:solidFill>
                <a:schemeClr val="dk1"/>
              </a:solidFill>
              <a:latin typeface="Calibri"/>
              <a:ea typeface="Calibri"/>
              <a:cs typeface="Calibri"/>
              <a:sym typeface="Calibri"/>
            </a:endParaRPr>
          </a:p>
          <a:p>
            <a:pPr indent="-304800" lvl="0" marL="457200" rtl="0" algn="l">
              <a:lnSpc>
                <a:spcPct val="115000"/>
              </a:lnSpc>
              <a:spcBef>
                <a:spcPts val="0"/>
              </a:spcBef>
              <a:spcAft>
                <a:spcPts val="0"/>
              </a:spcAft>
              <a:buClr>
                <a:schemeClr val="dk1"/>
              </a:buClr>
              <a:buSzPts val="1200"/>
              <a:buChar char="●"/>
            </a:pPr>
            <a:r>
              <a:rPr lang="en" sz="1200">
                <a:solidFill>
                  <a:schemeClr val="dk1"/>
                </a:solidFill>
                <a:latin typeface="Calibri"/>
                <a:ea typeface="Calibri"/>
                <a:cs typeface="Calibri"/>
                <a:sym typeface="Calibri"/>
              </a:rPr>
              <a:t>Therefore, graph models need to handle </a:t>
            </a:r>
            <a:r>
              <a:rPr b="1" lang="en" sz="1200">
                <a:solidFill>
                  <a:schemeClr val="dk1"/>
                </a:solidFill>
                <a:latin typeface="Calibri"/>
                <a:ea typeface="Calibri"/>
                <a:cs typeface="Calibri"/>
                <a:sym typeface="Calibri"/>
              </a:rPr>
              <a:t>permutation invariance</a:t>
            </a:r>
            <a:r>
              <a:rPr lang="en" sz="1200">
                <a:solidFill>
                  <a:schemeClr val="dk1"/>
                </a:solidFill>
                <a:latin typeface="Calibri"/>
                <a:ea typeface="Calibri"/>
                <a:cs typeface="Calibri"/>
                <a:sym typeface="Calibri"/>
              </a:rPr>
              <a:t>.</a:t>
            </a:r>
            <a:endParaRPr sz="1000">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25"/>
          <p:cNvSpPr txBox="1"/>
          <p:nvPr/>
        </p:nvSpPr>
        <p:spPr>
          <a:xfrm>
            <a:off x="259375" y="263550"/>
            <a:ext cx="77454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800">
                <a:solidFill>
                  <a:schemeClr val="dk1"/>
                </a:solidFill>
                <a:latin typeface="Calibri"/>
                <a:ea typeface="Calibri"/>
                <a:cs typeface="Calibri"/>
                <a:sym typeface="Calibri"/>
              </a:rPr>
              <a:t>The challenges of using graphs in machine learning</a:t>
            </a:r>
            <a:endParaRPr b="1" sz="1800">
              <a:solidFill>
                <a:schemeClr val="dk1"/>
              </a:solidFill>
              <a:latin typeface="Calibri"/>
              <a:ea typeface="Calibri"/>
              <a:cs typeface="Calibri"/>
              <a:sym typeface="Calibri"/>
            </a:endParaRPr>
          </a:p>
        </p:txBody>
      </p:sp>
      <p:sp>
        <p:nvSpPr>
          <p:cNvPr id="148" name="Google Shape;148;p25"/>
          <p:cNvSpPr txBox="1"/>
          <p:nvPr/>
        </p:nvSpPr>
        <p:spPr>
          <a:xfrm>
            <a:off x="340000" y="792150"/>
            <a:ext cx="84396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9" name="Google Shape;149;p25"/>
          <p:cNvSpPr txBox="1"/>
          <p:nvPr/>
        </p:nvSpPr>
        <p:spPr>
          <a:xfrm>
            <a:off x="106575" y="792150"/>
            <a:ext cx="8325300" cy="548700"/>
          </a:xfrm>
          <a:prstGeom prst="rect">
            <a:avLst/>
          </a:prstGeom>
          <a:noFill/>
          <a:ln>
            <a:noFill/>
          </a:ln>
        </p:spPr>
        <p:txBody>
          <a:bodyPr anchorCtr="0" anchor="t" bIns="91425" lIns="91425" spcFirstLastPara="1" rIns="91425" wrap="square" tIns="91425">
            <a:spAutoFit/>
          </a:bodyPr>
          <a:lstStyle/>
          <a:p>
            <a:pPr indent="-298450" lvl="0" marL="457200" rtl="0" algn="l">
              <a:lnSpc>
                <a:spcPct val="115000"/>
              </a:lnSpc>
              <a:spcBef>
                <a:spcPts val="120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For example, the Othello graph from before can be described equivalently with these two adjacency matrices. It can also be described with every other possible permutation of the nodes.</a:t>
            </a:r>
            <a:endParaRPr sz="900">
              <a:solidFill>
                <a:schemeClr val="dk1"/>
              </a:solidFill>
              <a:latin typeface="Calibri"/>
              <a:ea typeface="Calibri"/>
              <a:cs typeface="Calibri"/>
              <a:sym typeface="Calibri"/>
            </a:endParaRPr>
          </a:p>
        </p:txBody>
      </p:sp>
      <p:pic>
        <p:nvPicPr>
          <p:cNvPr id="150" name="Google Shape;150;p25"/>
          <p:cNvPicPr preferRelativeResize="0"/>
          <p:nvPr/>
        </p:nvPicPr>
        <p:blipFill>
          <a:blip r:embed="rId3">
            <a:alphaModFix/>
          </a:blip>
          <a:stretch>
            <a:fillRect/>
          </a:stretch>
        </p:blipFill>
        <p:spPr>
          <a:xfrm>
            <a:off x="1304175" y="1406600"/>
            <a:ext cx="6262772" cy="330315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26"/>
          <p:cNvSpPr txBox="1"/>
          <p:nvPr/>
        </p:nvSpPr>
        <p:spPr>
          <a:xfrm>
            <a:off x="259375" y="263550"/>
            <a:ext cx="77454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800">
                <a:solidFill>
                  <a:schemeClr val="dk1"/>
                </a:solidFill>
                <a:latin typeface="Calibri"/>
                <a:ea typeface="Calibri"/>
                <a:cs typeface="Calibri"/>
                <a:sym typeface="Calibri"/>
              </a:rPr>
              <a:t>The challenges of using graphs in machine learning</a:t>
            </a:r>
            <a:endParaRPr b="1" sz="1800">
              <a:solidFill>
                <a:schemeClr val="dk1"/>
              </a:solidFill>
              <a:latin typeface="Calibri"/>
              <a:ea typeface="Calibri"/>
              <a:cs typeface="Calibri"/>
              <a:sym typeface="Calibri"/>
            </a:endParaRPr>
          </a:p>
        </p:txBody>
      </p:sp>
      <p:sp>
        <p:nvSpPr>
          <p:cNvPr id="156" name="Google Shape;156;p26"/>
          <p:cNvSpPr txBox="1"/>
          <p:nvPr/>
        </p:nvSpPr>
        <p:spPr>
          <a:xfrm>
            <a:off x="340000" y="792150"/>
            <a:ext cx="84396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7" name="Google Shape;157;p26"/>
          <p:cNvSpPr txBox="1"/>
          <p:nvPr/>
        </p:nvSpPr>
        <p:spPr>
          <a:xfrm>
            <a:off x="106575" y="792150"/>
            <a:ext cx="1986000" cy="2301000"/>
          </a:xfrm>
          <a:prstGeom prst="rect">
            <a:avLst/>
          </a:prstGeom>
          <a:noFill/>
          <a:ln>
            <a:noFill/>
          </a:ln>
        </p:spPr>
        <p:txBody>
          <a:bodyPr anchorCtr="0" anchor="t" bIns="91425" lIns="91425" spcFirstLastPara="1" rIns="91425" wrap="square" tIns="91425">
            <a:spAutoFit/>
          </a:bodyPr>
          <a:lstStyle/>
          <a:p>
            <a:pPr indent="-298450" lvl="0" marL="457200" rtl="0" algn="l">
              <a:lnSpc>
                <a:spcPct val="115000"/>
              </a:lnSpc>
              <a:spcBef>
                <a:spcPts val="120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The example below shows every adjacency matrix that can describe this small graph of 4 nodes. This is already a significant number of adjacency matrices, for larger examples like Othello, the number is untenable.</a:t>
            </a:r>
            <a:endParaRPr sz="900">
              <a:solidFill>
                <a:schemeClr val="dk1"/>
              </a:solidFill>
              <a:latin typeface="Calibri"/>
              <a:ea typeface="Calibri"/>
              <a:cs typeface="Calibri"/>
              <a:sym typeface="Calibri"/>
            </a:endParaRPr>
          </a:p>
        </p:txBody>
      </p:sp>
      <p:pic>
        <p:nvPicPr>
          <p:cNvPr id="158" name="Google Shape;158;p26"/>
          <p:cNvPicPr preferRelativeResize="0"/>
          <p:nvPr/>
        </p:nvPicPr>
        <p:blipFill>
          <a:blip r:embed="rId3">
            <a:alphaModFix/>
          </a:blip>
          <a:stretch>
            <a:fillRect/>
          </a:stretch>
        </p:blipFill>
        <p:spPr>
          <a:xfrm>
            <a:off x="3194550" y="725250"/>
            <a:ext cx="5896699" cy="4411776"/>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27"/>
          <p:cNvSpPr txBox="1"/>
          <p:nvPr/>
        </p:nvSpPr>
        <p:spPr>
          <a:xfrm>
            <a:off x="259375" y="263550"/>
            <a:ext cx="77454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800">
                <a:solidFill>
                  <a:schemeClr val="dk1"/>
                </a:solidFill>
                <a:latin typeface="Calibri"/>
                <a:ea typeface="Calibri"/>
                <a:cs typeface="Calibri"/>
                <a:sym typeface="Calibri"/>
              </a:rPr>
              <a:t>The challenges of using graphs in machine learning</a:t>
            </a:r>
            <a:endParaRPr b="1" sz="1800">
              <a:solidFill>
                <a:schemeClr val="dk1"/>
              </a:solidFill>
              <a:latin typeface="Calibri"/>
              <a:ea typeface="Calibri"/>
              <a:cs typeface="Calibri"/>
              <a:sym typeface="Calibri"/>
            </a:endParaRPr>
          </a:p>
        </p:txBody>
      </p:sp>
      <p:sp>
        <p:nvSpPr>
          <p:cNvPr id="164" name="Google Shape;164;p27"/>
          <p:cNvSpPr txBox="1"/>
          <p:nvPr/>
        </p:nvSpPr>
        <p:spPr>
          <a:xfrm>
            <a:off x="340000" y="792150"/>
            <a:ext cx="84396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5" name="Google Shape;165;p27"/>
          <p:cNvSpPr txBox="1"/>
          <p:nvPr/>
        </p:nvSpPr>
        <p:spPr>
          <a:xfrm>
            <a:off x="106575" y="792150"/>
            <a:ext cx="8756100" cy="354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t/>
            </a:r>
            <a:endParaRPr sz="1100">
              <a:solidFill>
                <a:schemeClr val="dk1"/>
              </a:solidFill>
            </a:endParaRPr>
          </a:p>
        </p:txBody>
      </p:sp>
      <p:sp>
        <p:nvSpPr>
          <p:cNvPr id="166" name="Google Shape;166;p27"/>
          <p:cNvSpPr txBox="1"/>
          <p:nvPr/>
        </p:nvSpPr>
        <p:spPr>
          <a:xfrm>
            <a:off x="5237275" y="1896200"/>
            <a:ext cx="3000000" cy="3000000"/>
          </a:xfrm>
          <a:prstGeom prst="rect">
            <a:avLst/>
          </a:prstGeom>
          <a:noFill/>
          <a:ln>
            <a:noFill/>
          </a:ln>
        </p:spPr>
        <p:txBody>
          <a:bodyPr anchorCtr="0" anchor="ctr" bIns="91425" lIns="91425" spcFirstLastPara="1" rIns="91425" wrap="square" tIns="91425">
            <a:noAutofit/>
          </a:bodyPr>
          <a:lstStyle/>
          <a:p>
            <a:pPr indent="0" lvl="0" marL="457200" rtl="0" algn="l">
              <a:lnSpc>
                <a:spcPct val="115000"/>
              </a:lnSpc>
              <a:spcBef>
                <a:spcPts val="1200"/>
              </a:spcBef>
              <a:spcAft>
                <a:spcPts val="1200"/>
              </a:spcAft>
              <a:buNone/>
            </a:pPr>
            <a:r>
              <a:t/>
            </a:r>
            <a:endParaRPr sz="1100"/>
          </a:p>
        </p:txBody>
      </p:sp>
      <p:sp>
        <p:nvSpPr>
          <p:cNvPr id="167" name="Google Shape;167;p27"/>
          <p:cNvSpPr txBox="1"/>
          <p:nvPr/>
        </p:nvSpPr>
        <p:spPr>
          <a:xfrm>
            <a:off x="395650" y="747350"/>
            <a:ext cx="50643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800">
              <a:solidFill>
                <a:schemeClr val="dk2"/>
              </a:solidFill>
            </a:endParaRPr>
          </a:p>
        </p:txBody>
      </p:sp>
      <p:sp>
        <p:nvSpPr>
          <p:cNvPr id="168" name="Google Shape;168;p27"/>
          <p:cNvSpPr txBox="1"/>
          <p:nvPr/>
        </p:nvSpPr>
        <p:spPr>
          <a:xfrm>
            <a:off x="106575" y="792150"/>
            <a:ext cx="8219700" cy="2555100"/>
          </a:xfrm>
          <a:prstGeom prst="rect">
            <a:avLst/>
          </a:prstGeom>
          <a:noFill/>
          <a:ln>
            <a:noFill/>
          </a:ln>
        </p:spPr>
        <p:txBody>
          <a:bodyPr anchorCtr="0" anchor="t" bIns="91425" lIns="91425" spcFirstLastPara="1" rIns="91425" wrap="square" tIns="91425">
            <a:spAutoFit/>
          </a:bodyPr>
          <a:lstStyle/>
          <a:p>
            <a:pPr indent="-298450" lvl="0" marL="457200" rtl="0" algn="l">
              <a:lnSpc>
                <a:spcPct val="100000"/>
              </a:lnSpc>
              <a:spcBef>
                <a:spcPts val="120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Graphs contain different types of information:</a:t>
            </a:r>
            <a:endParaRPr sz="1100">
              <a:solidFill>
                <a:schemeClr val="dk1"/>
              </a:solidFill>
              <a:latin typeface="Calibri"/>
              <a:ea typeface="Calibri"/>
              <a:cs typeface="Calibri"/>
              <a:sym typeface="Calibri"/>
            </a:endParaRPr>
          </a:p>
          <a:p>
            <a:pPr indent="-298450" lvl="1" marL="914400" rtl="0" algn="l">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Node features</a:t>
            </a:r>
            <a:endParaRPr sz="1100">
              <a:solidFill>
                <a:schemeClr val="dk1"/>
              </a:solidFill>
              <a:latin typeface="Calibri"/>
              <a:ea typeface="Calibri"/>
              <a:cs typeface="Calibri"/>
              <a:sym typeface="Calibri"/>
            </a:endParaRPr>
          </a:p>
          <a:p>
            <a:pPr indent="-298450" lvl="1" marL="914400" rtl="0" algn="l">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Edge features</a:t>
            </a:r>
            <a:endParaRPr sz="1100">
              <a:solidFill>
                <a:schemeClr val="dk1"/>
              </a:solidFill>
              <a:latin typeface="Calibri"/>
              <a:ea typeface="Calibri"/>
              <a:cs typeface="Calibri"/>
              <a:sym typeface="Calibri"/>
            </a:endParaRPr>
          </a:p>
          <a:p>
            <a:pPr indent="-298450" lvl="1" marL="914400" rtl="0" algn="l">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Connectivity</a:t>
            </a:r>
            <a:endParaRPr sz="1100">
              <a:solidFill>
                <a:schemeClr val="dk1"/>
              </a:solidFill>
              <a:latin typeface="Calibri"/>
              <a:ea typeface="Calibri"/>
              <a:cs typeface="Calibri"/>
              <a:sym typeface="Calibri"/>
            </a:endParaRPr>
          </a:p>
          <a:p>
            <a:pPr indent="-298450" lvl="1" marL="914400" rtl="0" algn="l">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Global graph features</a:t>
            </a:r>
            <a:endParaRPr sz="1100">
              <a:solidFill>
                <a:schemeClr val="dk1"/>
              </a:solidFill>
              <a:latin typeface="Calibri"/>
              <a:ea typeface="Calibri"/>
              <a:cs typeface="Calibri"/>
              <a:sym typeface="Calibri"/>
            </a:endParaRPr>
          </a:p>
          <a:p>
            <a:pPr indent="-298450" lvl="0" marL="457200" rtl="0" algn="l">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For sparse graphs, an adjacency list is more efficient than an adjacency matrix.</a:t>
            </a:r>
            <a:endParaRPr sz="1100">
              <a:solidFill>
                <a:schemeClr val="dk1"/>
              </a:solidFill>
              <a:latin typeface="Calibri"/>
              <a:ea typeface="Calibri"/>
              <a:cs typeface="Calibri"/>
              <a:sym typeface="Calibri"/>
            </a:endParaRPr>
          </a:p>
          <a:p>
            <a:pPr indent="-298450" lvl="0" marL="457200" rtl="0" algn="l">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Each edge is stored as a pair of connected nodes:</a:t>
            </a:r>
            <a:endParaRPr sz="1100">
              <a:solidFill>
                <a:schemeClr val="dk1"/>
              </a:solidFill>
              <a:latin typeface="Calibri"/>
              <a:ea typeface="Calibri"/>
              <a:cs typeface="Calibri"/>
              <a:sym typeface="Calibri"/>
            </a:endParaRPr>
          </a:p>
          <a:p>
            <a:pPr indent="-298450" lvl="1" marL="914400" rtl="0" algn="l">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(source node, target node)</a:t>
            </a:r>
            <a:endParaRPr sz="1100">
              <a:solidFill>
                <a:schemeClr val="dk1"/>
              </a:solidFill>
              <a:latin typeface="Calibri"/>
              <a:ea typeface="Calibri"/>
              <a:cs typeface="Calibri"/>
              <a:sym typeface="Calibri"/>
            </a:endParaRPr>
          </a:p>
          <a:p>
            <a:pPr indent="-298450" lvl="1" marL="914400" rtl="0" algn="l">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Example: an edge between node i and node j is stored as (i, j).</a:t>
            </a:r>
            <a:endParaRPr sz="1100">
              <a:solidFill>
                <a:schemeClr val="dk1"/>
              </a:solidFill>
              <a:latin typeface="Calibri"/>
              <a:ea typeface="Calibri"/>
              <a:cs typeface="Calibri"/>
              <a:sym typeface="Calibri"/>
            </a:endParaRPr>
          </a:p>
          <a:p>
            <a:pPr indent="-298450" lvl="1" marL="914400" rtl="0" algn="l">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This avoids storing disconnected node pairs.</a:t>
            </a:r>
            <a:endParaRPr sz="1100">
              <a:solidFill>
                <a:schemeClr val="dk1"/>
              </a:solidFill>
              <a:latin typeface="Calibri"/>
              <a:ea typeface="Calibri"/>
              <a:cs typeface="Calibri"/>
              <a:sym typeface="Calibri"/>
            </a:endParaRPr>
          </a:p>
          <a:p>
            <a:pPr indent="-298450" lvl="0" marL="457200" rtl="0" algn="l">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Storage complexity:</a:t>
            </a:r>
            <a:endParaRPr sz="1100">
              <a:solidFill>
                <a:schemeClr val="dk1"/>
              </a:solidFill>
              <a:latin typeface="Calibri"/>
              <a:ea typeface="Calibri"/>
              <a:cs typeface="Calibri"/>
              <a:sym typeface="Calibri"/>
            </a:endParaRPr>
          </a:p>
          <a:p>
            <a:pPr indent="-298450" lvl="1" marL="914400" rtl="0" algn="l">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Adjacency matrix: O(n_nodes²)</a:t>
            </a:r>
            <a:endParaRPr sz="1100">
              <a:solidFill>
                <a:schemeClr val="dk1"/>
              </a:solidFill>
              <a:latin typeface="Calibri"/>
              <a:ea typeface="Calibri"/>
              <a:cs typeface="Calibri"/>
              <a:sym typeface="Calibri"/>
            </a:endParaRPr>
          </a:p>
          <a:p>
            <a:pPr indent="-298450" lvl="1" marL="914400" rtl="0" algn="l">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Adjacency list: O(n_edges)</a:t>
            </a:r>
            <a:endParaRPr sz="1100">
              <a:solidFill>
                <a:schemeClr val="dk1"/>
              </a:solidFill>
              <a:latin typeface="Calibri"/>
              <a:ea typeface="Calibri"/>
              <a:cs typeface="Calibri"/>
              <a:sym typeface="Calibri"/>
            </a:endParaRPr>
          </a:p>
          <a:p>
            <a:pPr indent="-298450" lvl="0" marL="457200" rtl="0" algn="l">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Since most real-world graphs are sparse, adjacency lists save memory and computation.</a:t>
            </a:r>
            <a:endParaRPr sz="1100">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28"/>
          <p:cNvSpPr txBox="1"/>
          <p:nvPr/>
        </p:nvSpPr>
        <p:spPr>
          <a:xfrm>
            <a:off x="259375" y="263550"/>
            <a:ext cx="77454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800">
                <a:solidFill>
                  <a:schemeClr val="dk1"/>
                </a:solidFill>
                <a:latin typeface="Calibri"/>
                <a:ea typeface="Calibri"/>
                <a:cs typeface="Calibri"/>
                <a:sym typeface="Calibri"/>
              </a:rPr>
              <a:t>The challenges of using graphs in machine learning</a:t>
            </a:r>
            <a:endParaRPr b="1" sz="1800">
              <a:solidFill>
                <a:schemeClr val="dk1"/>
              </a:solidFill>
              <a:latin typeface="Calibri"/>
              <a:ea typeface="Calibri"/>
              <a:cs typeface="Calibri"/>
              <a:sym typeface="Calibri"/>
            </a:endParaRPr>
          </a:p>
        </p:txBody>
      </p:sp>
      <p:sp>
        <p:nvSpPr>
          <p:cNvPr id="174" name="Google Shape;174;p28"/>
          <p:cNvSpPr txBox="1"/>
          <p:nvPr/>
        </p:nvSpPr>
        <p:spPr>
          <a:xfrm>
            <a:off x="340000" y="792150"/>
            <a:ext cx="84396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5" name="Google Shape;175;p28"/>
          <p:cNvSpPr txBox="1"/>
          <p:nvPr/>
        </p:nvSpPr>
        <p:spPr>
          <a:xfrm>
            <a:off x="106575" y="792150"/>
            <a:ext cx="8756100" cy="354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t/>
            </a:r>
            <a:endParaRPr sz="1100">
              <a:solidFill>
                <a:schemeClr val="dk1"/>
              </a:solidFill>
            </a:endParaRPr>
          </a:p>
        </p:txBody>
      </p:sp>
      <p:sp>
        <p:nvSpPr>
          <p:cNvPr id="176" name="Google Shape;176;p28"/>
          <p:cNvSpPr txBox="1"/>
          <p:nvPr/>
        </p:nvSpPr>
        <p:spPr>
          <a:xfrm>
            <a:off x="395650" y="747350"/>
            <a:ext cx="50643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800">
              <a:solidFill>
                <a:schemeClr val="dk2"/>
              </a:solidFill>
            </a:endParaRPr>
          </a:p>
        </p:txBody>
      </p:sp>
      <p:sp>
        <p:nvSpPr>
          <p:cNvPr id="177" name="Google Shape;177;p28"/>
          <p:cNvSpPr txBox="1"/>
          <p:nvPr/>
        </p:nvSpPr>
        <p:spPr>
          <a:xfrm>
            <a:off x="106575" y="792150"/>
            <a:ext cx="8219700" cy="354000"/>
          </a:xfrm>
          <a:prstGeom prst="rect">
            <a:avLst/>
          </a:prstGeom>
          <a:noFill/>
          <a:ln>
            <a:noFill/>
          </a:ln>
        </p:spPr>
        <p:txBody>
          <a:bodyPr anchorCtr="0" anchor="t" bIns="91425" lIns="91425" spcFirstLastPara="1" rIns="91425" wrap="square" tIns="91425">
            <a:spAutoFit/>
          </a:bodyPr>
          <a:lstStyle/>
          <a:p>
            <a:pPr indent="0" lvl="0" marL="0" rtl="0" algn="l">
              <a:lnSpc>
                <a:spcPct val="100000"/>
              </a:lnSpc>
              <a:spcBef>
                <a:spcPts val="1200"/>
              </a:spcBef>
              <a:spcAft>
                <a:spcPts val="1200"/>
              </a:spcAft>
              <a:buNone/>
            </a:pPr>
            <a:r>
              <a:t/>
            </a:r>
            <a:endParaRPr sz="1100">
              <a:solidFill>
                <a:schemeClr val="dk1"/>
              </a:solidFill>
            </a:endParaRPr>
          </a:p>
        </p:txBody>
      </p:sp>
      <p:graphicFrame>
        <p:nvGraphicFramePr>
          <p:cNvPr id="178" name="Google Shape;178;p28"/>
          <p:cNvGraphicFramePr/>
          <p:nvPr/>
        </p:nvGraphicFramePr>
        <p:xfrm>
          <a:off x="1863988" y="1741350"/>
          <a:ext cx="3000000" cy="3000000"/>
        </p:xfrm>
        <a:graphic>
          <a:graphicData uri="http://schemas.openxmlformats.org/drawingml/2006/table">
            <a:tbl>
              <a:tblPr>
                <a:noFill/>
                <a:tableStyleId>{C0C555C6-4410-434D-95D9-05A88E91E4BD}</a:tableStyleId>
              </a:tblPr>
              <a:tblGrid>
                <a:gridCol w="1332050"/>
                <a:gridCol w="1407450"/>
                <a:gridCol w="2324800"/>
              </a:tblGrid>
              <a:tr h="412500">
                <a:tc>
                  <a:txBody>
                    <a:bodyPr/>
                    <a:lstStyle/>
                    <a:p>
                      <a:pPr indent="0" lvl="0" marL="0" rtl="0" algn="ctr">
                        <a:lnSpc>
                          <a:spcPct val="115000"/>
                        </a:lnSpc>
                        <a:spcBef>
                          <a:spcPts val="0"/>
                        </a:spcBef>
                        <a:spcAft>
                          <a:spcPts val="0"/>
                        </a:spcAft>
                        <a:buNone/>
                      </a:pPr>
                      <a:r>
                        <a:rPr b="1" lang="en" sz="1000">
                          <a:solidFill>
                            <a:schemeClr val="dk1"/>
                          </a:solidFill>
                          <a:latin typeface="Calibri"/>
                          <a:ea typeface="Calibri"/>
                          <a:cs typeface="Calibri"/>
                          <a:sym typeface="Calibri"/>
                        </a:rPr>
                        <a:t>Component</a:t>
                      </a:r>
                      <a:endParaRPr b="1" sz="1000">
                        <a:solidFill>
                          <a:schemeClr val="dk1"/>
                        </a:solidFill>
                        <a:latin typeface="Calibri"/>
                        <a:ea typeface="Calibri"/>
                        <a:cs typeface="Calibri"/>
                        <a:sym typeface="Calibri"/>
                      </a:endParaRPr>
                    </a:p>
                  </a:txBody>
                  <a:tcPr marT="91425" marB="91425" marR="91425" marL="91425"/>
                </a:tc>
                <a:tc>
                  <a:txBody>
                    <a:bodyPr/>
                    <a:lstStyle/>
                    <a:p>
                      <a:pPr indent="0" lvl="0" marL="0" rtl="0" algn="ctr">
                        <a:lnSpc>
                          <a:spcPct val="115000"/>
                        </a:lnSpc>
                        <a:spcBef>
                          <a:spcPts val="0"/>
                        </a:spcBef>
                        <a:spcAft>
                          <a:spcPts val="0"/>
                        </a:spcAft>
                        <a:buNone/>
                      </a:pPr>
                      <a:r>
                        <a:rPr b="1" lang="en" sz="1000">
                          <a:solidFill>
                            <a:schemeClr val="dk1"/>
                          </a:solidFill>
                          <a:latin typeface="Calibri"/>
                          <a:ea typeface="Calibri"/>
                          <a:cs typeface="Calibri"/>
                          <a:sym typeface="Calibri"/>
                        </a:rPr>
                        <a:t>Shape</a:t>
                      </a:r>
                      <a:endParaRPr b="1" sz="1000">
                        <a:solidFill>
                          <a:schemeClr val="dk1"/>
                        </a:solidFill>
                        <a:latin typeface="Calibri"/>
                        <a:ea typeface="Calibri"/>
                        <a:cs typeface="Calibri"/>
                        <a:sym typeface="Calibri"/>
                      </a:endParaRPr>
                    </a:p>
                  </a:txBody>
                  <a:tcPr marT="91425" marB="91425" marR="91425" marL="91425"/>
                </a:tc>
                <a:tc>
                  <a:txBody>
                    <a:bodyPr/>
                    <a:lstStyle/>
                    <a:p>
                      <a:pPr indent="0" lvl="0" marL="0" rtl="0" algn="ctr">
                        <a:lnSpc>
                          <a:spcPct val="115000"/>
                        </a:lnSpc>
                        <a:spcBef>
                          <a:spcPts val="0"/>
                        </a:spcBef>
                        <a:spcAft>
                          <a:spcPts val="0"/>
                        </a:spcAft>
                        <a:buNone/>
                      </a:pPr>
                      <a:r>
                        <a:rPr b="1" lang="en" sz="1000">
                          <a:solidFill>
                            <a:schemeClr val="dk1"/>
                          </a:solidFill>
                          <a:latin typeface="Calibri"/>
                          <a:ea typeface="Calibri"/>
                          <a:cs typeface="Calibri"/>
                          <a:sym typeface="Calibri"/>
                        </a:rPr>
                        <a:t>Meaning</a:t>
                      </a:r>
                      <a:endParaRPr b="1" sz="1000">
                        <a:solidFill>
                          <a:schemeClr val="dk1"/>
                        </a:solidFill>
                        <a:latin typeface="Calibri"/>
                        <a:ea typeface="Calibri"/>
                        <a:cs typeface="Calibri"/>
                        <a:sym typeface="Calibri"/>
                      </a:endParaRPr>
                    </a:p>
                  </a:txBody>
                  <a:tcPr marT="91425" marB="91425" marR="91425" marL="91425"/>
                </a:tc>
              </a:tr>
              <a:tr h="390300">
                <a:tc>
                  <a:txBody>
                    <a:bodyPr/>
                    <a:lstStyle/>
                    <a:p>
                      <a:pPr indent="0" lvl="0" marL="0" rtl="0" algn="l">
                        <a:spcBef>
                          <a:spcPts val="0"/>
                        </a:spcBef>
                        <a:spcAft>
                          <a:spcPts val="0"/>
                        </a:spcAft>
                        <a:buNone/>
                      </a:pPr>
                      <a:r>
                        <a:rPr lang="en" sz="1000">
                          <a:solidFill>
                            <a:schemeClr val="dk1"/>
                          </a:solidFill>
                          <a:latin typeface="Calibri"/>
                          <a:ea typeface="Calibri"/>
                          <a:cs typeface="Calibri"/>
                          <a:sym typeface="Calibri"/>
                        </a:rPr>
                        <a:t>Node features X</a:t>
                      </a:r>
                      <a:endParaRPr sz="1000">
                        <a:solidFill>
                          <a:schemeClr val="dk1"/>
                        </a:solidFill>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n" sz="1000">
                          <a:solidFill>
                            <a:schemeClr val="dk1"/>
                          </a:solidFill>
                          <a:latin typeface="Calibri"/>
                          <a:ea typeface="Calibri"/>
                          <a:cs typeface="Calibri"/>
                          <a:sym typeface="Calibri"/>
                        </a:rPr>
                        <a:t>[n_nodes, d_n]</a:t>
                      </a:r>
                      <a:endParaRPr sz="1000">
                        <a:solidFill>
                          <a:schemeClr val="dk1"/>
                        </a:solidFill>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n" sz="1000">
                          <a:solidFill>
                            <a:schemeClr val="dk1"/>
                          </a:solidFill>
                          <a:latin typeface="Calibri"/>
                          <a:ea typeface="Calibri"/>
                          <a:cs typeface="Calibri"/>
                          <a:sym typeface="Calibri"/>
                        </a:rPr>
                        <a:t>Feature vector for each node</a:t>
                      </a:r>
                      <a:endParaRPr sz="1000">
                        <a:solidFill>
                          <a:schemeClr val="dk1"/>
                        </a:solidFill>
                        <a:latin typeface="Calibri"/>
                        <a:ea typeface="Calibri"/>
                        <a:cs typeface="Calibri"/>
                        <a:sym typeface="Calibri"/>
                      </a:endParaRPr>
                    </a:p>
                  </a:txBody>
                  <a:tcPr marT="91425" marB="91425" marR="91425" marL="91425"/>
                </a:tc>
              </a:tr>
              <a:tr h="390300">
                <a:tc>
                  <a:txBody>
                    <a:bodyPr/>
                    <a:lstStyle/>
                    <a:p>
                      <a:pPr indent="0" lvl="0" marL="0" rtl="0" algn="l">
                        <a:spcBef>
                          <a:spcPts val="0"/>
                        </a:spcBef>
                        <a:spcAft>
                          <a:spcPts val="0"/>
                        </a:spcAft>
                        <a:buNone/>
                      </a:pPr>
                      <a:r>
                        <a:rPr lang="en" sz="1000">
                          <a:solidFill>
                            <a:schemeClr val="dk1"/>
                          </a:solidFill>
                          <a:latin typeface="Calibri"/>
                          <a:ea typeface="Calibri"/>
                          <a:cs typeface="Calibri"/>
                          <a:sym typeface="Calibri"/>
                        </a:rPr>
                        <a:t>Edge features E</a:t>
                      </a:r>
                      <a:endParaRPr sz="1000">
                        <a:solidFill>
                          <a:schemeClr val="dk1"/>
                        </a:solidFill>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n" sz="1000">
                          <a:solidFill>
                            <a:schemeClr val="dk1"/>
                          </a:solidFill>
                          <a:latin typeface="Calibri"/>
                          <a:ea typeface="Calibri"/>
                          <a:cs typeface="Calibri"/>
                          <a:sym typeface="Calibri"/>
                        </a:rPr>
                        <a:t>[n_edges, d_e]</a:t>
                      </a:r>
                      <a:endParaRPr sz="1000">
                        <a:solidFill>
                          <a:schemeClr val="dk1"/>
                        </a:solidFill>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n" sz="1000">
                          <a:solidFill>
                            <a:schemeClr val="dk1"/>
                          </a:solidFill>
                          <a:latin typeface="Calibri"/>
                          <a:ea typeface="Calibri"/>
                          <a:cs typeface="Calibri"/>
                          <a:sym typeface="Calibri"/>
                        </a:rPr>
                        <a:t>Feature vector for each edge</a:t>
                      </a:r>
                      <a:endParaRPr sz="1000">
                        <a:solidFill>
                          <a:schemeClr val="dk1"/>
                        </a:solidFill>
                        <a:latin typeface="Calibri"/>
                        <a:ea typeface="Calibri"/>
                        <a:cs typeface="Calibri"/>
                        <a:sym typeface="Calibri"/>
                      </a:endParaRPr>
                    </a:p>
                  </a:txBody>
                  <a:tcPr marT="91425" marB="91425" marR="91425" marL="91425"/>
                </a:tc>
              </a:tr>
              <a:tr h="390300">
                <a:tc>
                  <a:txBody>
                    <a:bodyPr/>
                    <a:lstStyle/>
                    <a:p>
                      <a:pPr indent="0" lvl="0" marL="0" rtl="0" algn="l">
                        <a:spcBef>
                          <a:spcPts val="0"/>
                        </a:spcBef>
                        <a:spcAft>
                          <a:spcPts val="0"/>
                        </a:spcAft>
                        <a:buNone/>
                      </a:pPr>
                      <a:r>
                        <a:rPr lang="en" sz="1000">
                          <a:solidFill>
                            <a:schemeClr val="dk1"/>
                          </a:solidFill>
                          <a:latin typeface="Calibri"/>
                          <a:ea typeface="Calibri"/>
                          <a:cs typeface="Calibri"/>
                          <a:sym typeface="Calibri"/>
                        </a:rPr>
                        <a:t>Adjacency list</a:t>
                      </a:r>
                      <a:endParaRPr sz="1000">
                        <a:solidFill>
                          <a:schemeClr val="dk1"/>
                        </a:solidFill>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n" sz="1000">
                          <a:solidFill>
                            <a:schemeClr val="dk1"/>
                          </a:solidFill>
                          <a:latin typeface="Calibri"/>
                          <a:ea typeface="Calibri"/>
                          <a:cs typeface="Calibri"/>
                          <a:sym typeface="Calibri"/>
                        </a:rPr>
                        <a:t>[n_edges, 2]</a:t>
                      </a:r>
                      <a:endParaRPr sz="1000">
                        <a:solidFill>
                          <a:schemeClr val="dk1"/>
                        </a:solidFill>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n" sz="1000">
                          <a:solidFill>
                            <a:schemeClr val="dk1"/>
                          </a:solidFill>
                          <a:latin typeface="Calibri"/>
                          <a:ea typeface="Calibri"/>
                          <a:cs typeface="Calibri"/>
                          <a:sym typeface="Calibri"/>
                        </a:rPr>
                        <a:t>Stores edge pairs (i, j)</a:t>
                      </a:r>
                      <a:endParaRPr sz="1000">
                        <a:solidFill>
                          <a:schemeClr val="dk1"/>
                        </a:solidFill>
                        <a:latin typeface="Calibri"/>
                        <a:ea typeface="Calibri"/>
                        <a:cs typeface="Calibri"/>
                        <a:sym typeface="Calibri"/>
                      </a:endParaRPr>
                    </a:p>
                  </a:txBody>
                  <a:tcPr marT="91425" marB="91425" marR="91425" marL="91425"/>
                </a:tc>
              </a:tr>
              <a:tr h="390300">
                <a:tc>
                  <a:txBody>
                    <a:bodyPr/>
                    <a:lstStyle/>
                    <a:p>
                      <a:pPr indent="0" lvl="0" marL="0" rtl="0" algn="l">
                        <a:spcBef>
                          <a:spcPts val="0"/>
                        </a:spcBef>
                        <a:spcAft>
                          <a:spcPts val="0"/>
                        </a:spcAft>
                        <a:buNone/>
                      </a:pPr>
                      <a:r>
                        <a:rPr lang="en" sz="1000">
                          <a:solidFill>
                            <a:schemeClr val="dk1"/>
                          </a:solidFill>
                          <a:latin typeface="Calibri"/>
                          <a:ea typeface="Calibri"/>
                          <a:cs typeface="Calibri"/>
                          <a:sym typeface="Calibri"/>
                        </a:rPr>
                        <a:t>Global feature u</a:t>
                      </a:r>
                      <a:endParaRPr sz="1000">
                        <a:solidFill>
                          <a:schemeClr val="dk1"/>
                        </a:solidFill>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n" sz="1000">
                          <a:solidFill>
                            <a:schemeClr val="dk1"/>
                          </a:solidFill>
                          <a:latin typeface="Calibri"/>
                          <a:ea typeface="Calibri"/>
                          <a:cs typeface="Calibri"/>
                          <a:sym typeface="Calibri"/>
                        </a:rPr>
                        <a:t>[d_g]</a:t>
                      </a:r>
                      <a:endParaRPr sz="1000">
                        <a:solidFill>
                          <a:schemeClr val="dk1"/>
                        </a:solidFill>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n" sz="1000">
                          <a:solidFill>
                            <a:schemeClr val="dk1"/>
                          </a:solidFill>
                          <a:latin typeface="Calibri"/>
                          <a:ea typeface="Calibri"/>
                          <a:cs typeface="Calibri"/>
                          <a:sym typeface="Calibri"/>
                        </a:rPr>
                        <a:t>Whole-graph feature vector</a:t>
                      </a:r>
                      <a:endParaRPr sz="1000">
                        <a:solidFill>
                          <a:schemeClr val="dk1"/>
                        </a:solidFill>
                        <a:latin typeface="Calibri"/>
                        <a:ea typeface="Calibri"/>
                        <a:cs typeface="Calibri"/>
                        <a:sym typeface="Calibri"/>
                      </a:endParaRPr>
                    </a:p>
                  </a:txBody>
                  <a:tcPr marT="91425" marB="91425" marR="91425" marL="91425"/>
                </a:tc>
              </a:tr>
            </a:tbl>
          </a:graphicData>
        </a:graphic>
      </p:graphicFrame>
      <p:sp>
        <p:nvSpPr>
          <p:cNvPr id="179" name="Google Shape;179;p28"/>
          <p:cNvSpPr txBox="1"/>
          <p:nvPr/>
        </p:nvSpPr>
        <p:spPr>
          <a:xfrm>
            <a:off x="395650" y="792150"/>
            <a:ext cx="6726000" cy="882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400"/>
              </a:spcBef>
              <a:spcAft>
                <a:spcPts val="400"/>
              </a:spcAft>
              <a:buNone/>
            </a:pPr>
            <a:r>
              <a:rPr b="1" lang="en" sz="1300"/>
              <a:t>Tensor Representation : </a:t>
            </a:r>
            <a:r>
              <a:rPr lang="en" sz="1100"/>
              <a:t>A practical GNN representation usually uses four tensors:</a:t>
            </a:r>
            <a:endParaRPr sz="1100"/>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pic>
        <p:nvPicPr>
          <p:cNvPr id="184" name="Google Shape;184;p29"/>
          <p:cNvPicPr preferRelativeResize="0"/>
          <p:nvPr/>
        </p:nvPicPr>
        <p:blipFill>
          <a:blip r:embed="rId3">
            <a:alphaModFix/>
          </a:blip>
          <a:stretch>
            <a:fillRect/>
          </a:stretch>
        </p:blipFill>
        <p:spPr>
          <a:xfrm>
            <a:off x="2139375" y="152400"/>
            <a:ext cx="4865238" cy="48387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30"/>
          <p:cNvSpPr txBox="1"/>
          <p:nvPr/>
        </p:nvSpPr>
        <p:spPr>
          <a:xfrm>
            <a:off x="334100" y="290150"/>
            <a:ext cx="7139400" cy="3534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Clr>
                <a:schemeClr val="dk1"/>
              </a:buClr>
              <a:buSzPts val="1100"/>
              <a:buFont typeface="Arial"/>
              <a:buNone/>
            </a:pPr>
            <a:r>
              <a:rPr lang="en" sz="1200">
                <a:solidFill>
                  <a:schemeClr val="dk1"/>
                </a:solidFill>
                <a:latin typeface="Calibri"/>
                <a:ea typeface="Calibri"/>
                <a:cs typeface="Calibri"/>
                <a:sym typeface="Calibri"/>
              </a:rPr>
              <a:t>Each </a:t>
            </a:r>
            <a:r>
              <a:rPr b="1" lang="en" sz="1200">
                <a:solidFill>
                  <a:schemeClr val="dk1"/>
                </a:solidFill>
                <a:latin typeface="Calibri"/>
                <a:ea typeface="Calibri"/>
                <a:cs typeface="Calibri"/>
                <a:sym typeface="Calibri"/>
              </a:rPr>
              <a:t>row</a:t>
            </a:r>
            <a:r>
              <a:rPr lang="en" sz="1200">
                <a:solidFill>
                  <a:schemeClr val="dk1"/>
                </a:solidFill>
                <a:latin typeface="Calibri"/>
                <a:ea typeface="Calibri"/>
                <a:cs typeface="Calibri"/>
                <a:sym typeface="Calibri"/>
              </a:rPr>
              <a:t> in the node feature matrix corresponds to </a:t>
            </a:r>
            <a:r>
              <a:rPr b="1" lang="en" sz="1200">
                <a:solidFill>
                  <a:schemeClr val="dk1"/>
                </a:solidFill>
                <a:latin typeface="Calibri"/>
                <a:ea typeface="Calibri"/>
                <a:cs typeface="Calibri"/>
                <a:sym typeface="Calibri"/>
              </a:rPr>
              <a:t>one node</a:t>
            </a:r>
            <a:r>
              <a:rPr lang="en" sz="1200">
                <a:solidFill>
                  <a:schemeClr val="dk1"/>
                </a:solidFill>
                <a:latin typeface="Calibri"/>
                <a:ea typeface="Calibri"/>
                <a:cs typeface="Calibri"/>
                <a:sym typeface="Calibri"/>
              </a:rPr>
              <a:t> in the graph. Let’s say you have a molecule with 4 atoms. Each atom is a node. Each atom has 3 properties, for example, atom type (0 or 1), charge (0 or 1), and mass (a float).</a:t>
            </a:r>
            <a:endParaRPr sz="1200">
              <a:solidFill>
                <a:schemeClr val="dk1"/>
              </a:solidFill>
              <a:latin typeface="Calibri"/>
              <a:ea typeface="Calibri"/>
              <a:cs typeface="Calibri"/>
              <a:sym typeface="Calibri"/>
            </a:endParaRPr>
          </a:p>
          <a:p>
            <a:pPr indent="0" lvl="0" marL="0" rtl="0" algn="l">
              <a:lnSpc>
                <a:spcPct val="115000"/>
              </a:lnSpc>
              <a:spcBef>
                <a:spcPts val="1200"/>
              </a:spcBef>
              <a:spcAft>
                <a:spcPts val="0"/>
              </a:spcAft>
              <a:buClr>
                <a:schemeClr val="dk1"/>
              </a:buClr>
              <a:buSzPts val="1100"/>
              <a:buFont typeface="Arial"/>
              <a:buNone/>
            </a:pPr>
            <a:r>
              <a:rPr lang="en" sz="1200">
                <a:solidFill>
                  <a:schemeClr val="dk1"/>
                </a:solidFill>
                <a:latin typeface="Calibri"/>
                <a:ea typeface="Calibri"/>
                <a:cs typeface="Calibri"/>
                <a:sym typeface="Calibri"/>
              </a:rPr>
              <a:t>The matrix X with shape (4, 3) stores all of this:</a:t>
            </a:r>
            <a:endParaRPr sz="1200">
              <a:solidFill>
                <a:schemeClr val="dk1"/>
              </a:solidFill>
              <a:latin typeface="Calibri"/>
              <a:ea typeface="Calibri"/>
              <a:cs typeface="Calibri"/>
              <a:sym typeface="Calibri"/>
            </a:endParaRPr>
          </a:p>
          <a:p>
            <a:pPr indent="-304800" lvl="0" marL="457200" rtl="0" algn="l">
              <a:lnSpc>
                <a:spcPct val="115000"/>
              </a:lnSpc>
              <a:spcBef>
                <a:spcPts val="1200"/>
              </a:spcBef>
              <a:spcAft>
                <a:spcPts val="0"/>
              </a:spcAft>
              <a:buClr>
                <a:schemeClr val="dk1"/>
              </a:buClr>
              <a:buSzPts val="1200"/>
              <a:buChar char="●"/>
            </a:pPr>
            <a:r>
              <a:rPr b="1" lang="en" sz="1200">
                <a:solidFill>
                  <a:schemeClr val="dk1"/>
                </a:solidFill>
                <a:latin typeface="Calibri"/>
                <a:ea typeface="Calibri"/>
                <a:cs typeface="Calibri"/>
                <a:sym typeface="Calibri"/>
              </a:rPr>
              <a:t>Row 0</a:t>
            </a:r>
            <a:r>
              <a:rPr lang="en" sz="1200">
                <a:solidFill>
                  <a:schemeClr val="dk1"/>
                </a:solidFill>
                <a:latin typeface="Calibri"/>
                <a:ea typeface="Calibri"/>
                <a:cs typeface="Calibri"/>
                <a:sym typeface="Calibri"/>
              </a:rPr>
              <a:t> = v₀'s features → [1, 0, 0.4]</a:t>
            </a:r>
            <a:endParaRPr sz="1200">
              <a:solidFill>
                <a:schemeClr val="dk1"/>
              </a:solidFill>
              <a:latin typeface="Calibri"/>
              <a:ea typeface="Calibri"/>
              <a:cs typeface="Calibri"/>
              <a:sym typeface="Calibri"/>
            </a:endParaRPr>
          </a:p>
          <a:p>
            <a:pPr indent="-304800" lvl="0" marL="457200" rtl="0" algn="l">
              <a:lnSpc>
                <a:spcPct val="115000"/>
              </a:lnSpc>
              <a:spcBef>
                <a:spcPts val="0"/>
              </a:spcBef>
              <a:spcAft>
                <a:spcPts val="0"/>
              </a:spcAft>
              <a:buClr>
                <a:schemeClr val="dk1"/>
              </a:buClr>
              <a:buSzPts val="1200"/>
              <a:buChar char="●"/>
            </a:pPr>
            <a:r>
              <a:rPr b="1" lang="en" sz="1200">
                <a:solidFill>
                  <a:schemeClr val="dk1"/>
                </a:solidFill>
                <a:latin typeface="Calibri"/>
                <a:ea typeface="Calibri"/>
                <a:cs typeface="Calibri"/>
                <a:sym typeface="Calibri"/>
              </a:rPr>
              <a:t>Row 1</a:t>
            </a:r>
            <a:r>
              <a:rPr lang="en" sz="1200">
                <a:solidFill>
                  <a:schemeClr val="dk1"/>
                </a:solidFill>
                <a:latin typeface="Calibri"/>
                <a:ea typeface="Calibri"/>
                <a:cs typeface="Calibri"/>
                <a:sym typeface="Calibri"/>
              </a:rPr>
              <a:t> = v₁'s features → [0, 1, 0.7]</a:t>
            </a:r>
            <a:endParaRPr sz="1200">
              <a:solidFill>
                <a:schemeClr val="dk1"/>
              </a:solidFill>
              <a:latin typeface="Calibri"/>
              <a:ea typeface="Calibri"/>
              <a:cs typeface="Calibri"/>
              <a:sym typeface="Calibri"/>
            </a:endParaRPr>
          </a:p>
          <a:p>
            <a:pPr indent="-304800" lvl="0" marL="457200" rtl="0" algn="l">
              <a:lnSpc>
                <a:spcPct val="115000"/>
              </a:lnSpc>
              <a:spcBef>
                <a:spcPts val="0"/>
              </a:spcBef>
              <a:spcAft>
                <a:spcPts val="0"/>
              </a:spcAft>
              <a:buClr>
                <a:schemeClr val="dk1"/>
              </a:buClr>
              <a:buSzPts val="1200"/>
              <a:buChar char="●"/>
            </a:pPr>
            <a:r>
              <a:rPr b="1" lang="en" sz="1200">
                <a:solidFill>
                  <a:schemeClr val="dk1"/>
                </a:solidFill>
                <a:latin typeface="Calibri"/>
                <a:ea typeface="Calibri"/>
                <a:cs typeface="Calibri"/>
                <a:sym typeface="Calibri"/>
              </a:rPr>
              <a:t>Row 2</a:t>
            </a:r>
            <a:r>
              <a:rPr lang="en" sz="1200">
                <a:solidFill>
                  <a:schemeClr val="dk1"/>
                </a:solidFill>
                <a:latin typeface="Calibri"/>
                <a:ea typeface="Calibri"/>
                <a:cs typeface="Calibri"/>
                <a:sym typeface="Calibri"/>
              </a:rPr>
              <a:t> = v₂'s features → [0, 0, 0.9]</a:t>
            </a:r>
            <a:endParaRPr sz="1200">
              <a:solidFill>
                <a:schemeClr val="dk1"/>
              </a:solidFill>
              <a:latin typeface="Calibri"/>
              <a:ea typeface="Calibri"/>
              <a:cs typeface="Calibri"/>
              <a:sym typeface="Calibri"/>
            </a:endParaRPr>
          </a:p>
          <a:p>
            <a:pPr indent="-304800" lvl="0" marL="457200" rtl="0" algn="l">
              <a:lnSpc>
                <a:spcPct val="115000"/>
              </a:lnSpc>
              <a:spcBef>
                <a:spcPts val="0"/>
              </a:spcBef>
              <a:spcAft>
                <a:spcPts val="0"/>
              </a:spcAft>
              <a:buClr>
                <a:schemeClr val="dk1"/>
              </a:buClr>
              <a:buSzPts val="1200"/>
              <a:buChar char="●"/>
            </a:pPr>
            <a:r>
              <a:rPr b="1" lang="en" sz="1200">
                <a:solidFill>
                  <a:schemeClr val="dk1"/>
                </a:solidFill>
                <a:latin typeface="Calibri"/>
                <a:ea typeface="Calibri"/>
                <a:cs typeface="Calibri"/>
                <a:sym typeface="Calibri"/>
              </a:rPr>
              <a:t>Row 3</a:t>
            </a:r>
            <a:r>
              <a:rPr lang="en" sz="1200">
                <a:solidFill>
                  <a:schemeClr val="dk1"/>
                </a:solidFill>
                <a:latin typeface="Calibri"/>
                <a:ea typeface="Calibri"/>
                <a:cs typeface="Calibri"/>
                <a:sym typeface="Calibri"/>
              </a:rPr>
              <a:t> = v₃'s features → [1, 1, 0.2]</a:t>
            </a:r>
            <a:endParaRPr sz="1200">
              <a:solidFill>
                <a:schemeClr val="dk1"/>
              </a:solidFill>
              <a:latin typeface="Calibri"/>
              <a:ea typeface="Calibri"/>
              <a:cs typeface="Calibri"/>
              <a:sym typeface="Calibri"/>
            </a:endParaRPr>
          </a:p>
          <a:p>
            <a:pPr indent="0" lvl="0" marL="0" rtl="0" algn="l">
              <a:lnSpc>
                <a:spcPct val="115000"/>
              </a:lnSpc>
              <a:spcBef>
                <a:spcPts val="1200"/>
              </a:spcBef>
              <a:spcAft>
                <a:spcPts val="0"/>
              </a:spcAft>
              <a:buClr>
                <a:schemeClr val="dk1"/>
              </a:buClr>
              <a:buSzPts val="1100"/>
              <a:buFont typeface="Arial"/>
              <a:buNone/>
            </a:pPr>
            <a:r>
              <a:rPr lang="en" sz="1200">
                <a:solidFill>
                  <a:schemeClr val="dk1"/>
                </a:solidFill>
                <a:latin typeface="Calibri"/>
                <a:ea typeface="Calibri"/>
                <a:cs typeface="Calibri"/>
                <a:sym typeface="Calibri"/>
              </a:rPr>
              <a:t>So when you see shape (n_nodes, d_node), n_nodes is the number of rows (one per node) and d_node is the number of columns (one per feature).</a:t>
            </a:r>
            <a:endParaRPr sz="1200">
              <a:solidFill>
                <a:schemeClr val="dk1"/>
              </a:solidFill>
              <a:latin typeface="Calibri"/>
              <a:ea typeface="Calibri"/>
              <a:cs typeface="Calibri"/>
              <a:sym typeface="Calibri"/>
            </a:endParaRPr>
          </a:p>
          <a:p>
            <a:pPr indent="0" lvl="0" marL="0" rtl="0" algn="l">
              <a:lnSpc>
                <a:spcPct val="115000"/>
              </a:lnSpc>
              <a:spcBef>
                <a:spcPts val="1200"/>
              </a:spcBef>
              <a:spcAft>
                <a:spcPts val="1200"/>
              </a:spcAft>
              <a:buNone/>
            </a:pPr>
            <a:r>
              <a:rPr lang="en" sz="1200">
                <a:solidFill>
                  <a:schemeClr val="dk1"/>
                </a:solidFill>
                <a:latin typeface="Calibri"/>
                <a:ea typeface="Calibri"/>
                <a:cs typeface="Calibri"/>
                <a:sym typeface="Calibri"/>
              </a:rPr>
              <a:t>The reason this matters for GCN is that W^(k) · X is a single matrix multiplication that updates </a:t>
            </a:r>
            <a:r>
              <a:rPr b="1" lang="en" sz="1200">
                <a:solidFill>
                  <a:schemeClr val="dk1"/>
                </a:solidFill>
                <a:latin typeface="Calibri"/>
                <a:ea typeface="Calibri"/>
                <a:cs typeface="Calibri"/>
                <a:sym typeface="Calibri"/>
              </a:rPr>
              <a:t>all nodes at once</a:t>
            </a:r>
            <a:r>
              <a:rPr lang="en" sz="1200">
                <a:solidFill>
                  <a:schemeClr val="dk1"/>
                </a:solidFill>
                <a:latin typeface="Calibri"/>
                <a:ea typeface="Calibri"/>
                <a:cs typeface="Calibri"/>
                <a:sym typeface="Calibri"/>
              </a:rPr>
              <a:t>, it applies the same weight matrix to every row simultaneously. That is why GCN is efficient and scales regardless of graph size.</a:t>
            </a:r>
            <a:endParaRPr sz="1900">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31"/>
          <p:cNvSpPr txBox="1"/>
          <p:nvPr/>
        </p:nvSpPr>
        <p:spPr>
          <a:xfrm>
            <a:off x="259375" y="263550"/>
            <a:ext cx="77454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800">
                <a:solidFill>
                  <a:schemeClr val="dk1"/>
                </a:solidFill>
                <a:latin typeface="Calibri"/>
                <a:ea typeface="Calibri"/>
                <a:cs typeface="Calibri"/>
                <a:sym typeface="Calibri"/>
              </a:rPr>
              <a:t>Building a GNN |</a:t>
            </a:r>
            <a:r>
              <a:rPr b="1" lang="en" sz="1300">
                <a:solidFill>
                  <a:schemeClr val="dk1"/>
                </a:solidFill>
              </a:rPr>
              <a:t>Graph Neural Networks: Graph-In, Graph-Out</a:t>
            </a:r>
            <a:endParaRPr b="1" sz="1800">
              <a:solidFill>
                <a:schemeClr val="dk1"/>
              </a:solidFill>
              <a:latin typeface="Calibri"/>
              <a:ea typeface="Calibri"/>
              <a:cs typeface="Calibri"/>
              <a:sym typeface="Calibri"/>
            </a:endParaRPr>
          </a:p>
        </p:txBody>
      </p:sp>
      <p:sp>
        <p:nvSpPr>
          <p:cNvPr id="195" name="Google Shape;195;p31"/>
          <p:cNvSpPr txBox="1"/>
          <p:nvPr/>
        </p:nvSpPr>
        <p:spPr>
          <a:xfrm>
            <a:off x="340000" y="792150"/>
            <a:ext cx="84396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6" name="Google Shape;196;p31"/>
          <p:cNvSpPr txBox="1"/>
          <p:nvPr/>
        </p:nvSpPr>
        <p:spPr>
          <a:xfrm>
            <a:off x="106575" y="792150"/>
            <a:ext cx="8756100" cy="354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t/>
            </a:r>
            <a:endParaRPr sz="1100">
              <a:solidFill>
                <a:schemeClr val="dk1"/>
              </a:solidFill>
            </a:endParaRPr>
          </a:p>
        </p:txBody>
      </p:sp>
      <p:sp>
        <p:nvSpPr>
          <p:cNvPr id="197" name="Google Shape;197;p31"/>
          <p:cNvSpPr txBox="1"/>
          <p:nvPr/>
        </p:nvSpPr>
        <p:spPr>
          <a:xfrm>
            <a:off x="395650" y="747350"/>
            <a:ext cx="50643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800">
              <a:solidFill>
                <a:schemeClr val="dk2"/>
              </a:solidFill>
            </a:endParaRPr>
          </a:p>
        </p:txBody>
      </p:sp>
      <p:sp>
        <p:nvSpPr>
          <p:cNvPr id="198" name="Google Shape;198;p31"/>
          <p:cNvSpPr txBox="1"/>
          <p:nvPr/>
        </p:nvSpPr>
        <p:spPr>
          <a:xfrm>
            <a:off x="106575" y="792150"/>
            <a:ext cx="7806600" cy="2803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n" sz="1100">
                <a:solidFill>
                  <a:schemeClr val="dk1"/>
                </a:solidFill>
              </a:rPr>
              <a:t>A </a:t>
            </a:r>
            <a:r>
              <a:rPr b="1" lang="en" sz="1100">
                <a:solidFill>
                  <a:schemeClr val="dk1"/>
                </a:solidFill>
              </a:rPr>
              <a:t>Graph Neural Network (GNN)</a:t>
            </a:r>
            <a:r>
              <a:rPr lang="en" sz="1100">
                <a:solidFill>
                  <a:schemeClr val="dk1"/>
                </a:solidFill>
              </a:rPr>
              <a:t> transforms graph attributes while preserving graph structure.</a:t>
            </a:r>
            <a:endParaRPr sz="11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sz="1100">
                <a:solidFill>
                  <a:schemeClr val="dk1"/>
                </a:solidFill>
              </a:rPr>
              <a:t>GNNs work with:</a:t>
            </a:r>
            <a:endParaRPr sz="1100">
              <a:solidFill>
                <a:schemeClr val="dk1"/>
              </a:solidFill>
            </a:endParaRPr>
          </a:p>
          <a:p>
            <a:pPr indent="-298450" lvl="1" marL="914400" rtl="0" algn="l">
              <a:lnSpc>
                <a:spcPct val="115000"/>
              </a:lnSpc>
              <a:spcBef>
                <a:spcPts val="0"/>
              </a:spcBef>
              <a:spcAft>
                <a:spcPts val="0"/>
              </a:spcAft>
              <a:buClr>
                <a:schemeClr val="dk1"/>
              </a:buClr>
              <a:buSzPts val="1100"/>
              <a:buChar char="○"/>
            </a:pPr>
            <a:r>
              <a:rPr b="1" lang="en" sz="1100">
                <a:solidFill>
                  <a:schemeClr val="dk1"/>
                </a:solidFill>
              </a:rPr>
              <a:t>Node features</a:t>
            </a:r>
            <a:endParaRPr b="1" sz="1100">
              <a:solidFill>
                <a:schemeClr val="dk1"/>
              </a:solidFill>
            </a:endParaRPr>
          </a:p>
          <a:p>
            <a:pPr indent="-298450" lvl="1" marL="914400" rtl="0" algn="l">
              <a:lnSpc>
                <a:spcPct val="115000"/>
              </a:lnSpc>
              <a:spcBef>
                <a:spcPts val="0"/>
              </a:spcBef>
              <a:spcAft>
                <a:spcPts val="0"/>
              </a:spcAft>
              <a:buClr>
                <a:schemeClr val="dk1"/>
              </a:buClr>
              <a:buSzPts val="1100"/>
              <a:buChar char="○"/>
            </a:pPr>
            <a:r>
              <a:rPr b="1" lang="en" sz="1100">
                <a:solidFill>
                  <a:schemeClr val="dk1"/>
                </a:solidFill>
              </a:rPr>
              <a:t>Edge features</a:t>
            </a:r>
            <a:endParaRPr b="1" sz="1100">
              <a:solidFill>
                <a:schemeClr val="dk1"/>
              </a:solidFill>
            </a:endParaRPr>
          </a:p>
          <a:p>
            <a:pPr indent="-298450" lvl="1" marL="914400" rtl="0" algn="l">
              <a:lnSpc>
                <a:spcPct val="115000"/>
              </a:lnSpc>
              <a:spcBef>
                <a:spcPts val="0"/>
              </a:spcBef>
              <a:spcAft>
                <a:spcPts val="0"/>
              </a:spcAft>
              <a:buClr>
                <a:schemeClr val="dk1"/>
              </a:buClr>
              <a:buSzPts val="1100"/>
              <a:buChar char="○"/>
            </a:pPr>
            <a:r>
              <a:rPr b="1" lang="en" sz="1100">
                <a:solidFill>
                  <a:schemeClr val="dk1"/>
                </a:solidFill>
              </a:rPr>
              <a:t>Global graph features</a:t>
            </a:r>
            <a:endParaRPr b="1"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 sz="1100">
                <a:solidFill>
                  <a:schemeClr val="dk1"/>
                </a:solidFill>
              </a:rPr>
              <a:t>GNNs preserve graph symmetries, especially </a:t>
            </a:r>
            <a:r>
              <a:rPr b="1" lang="en" sz="1100">
                <a:solidFill>
                  <a:schemeClr val="dk1"/>
                </a:solidFill>
              </a:rPr>
              <a:t>permutation invariance</a:t>
            </a:r>
            <a:r>
              <a:rPr lang="en" sz="1100">
                <a:solidFill>
                  <a:schemeClr val="dk1"/>
                </a:solidFill>
              </a:rPr>
              <a:t>.</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 sz="1100">
                <a:solidFill>
                  <a:schemeClr val="dk1"/>
                </a:solidFill>
              </a:rPr>
              <a:t>Many GNNs follow a </a:t>
            </a:r>
            <a:r>
              <a:rPr b="1" lang="en" sz="1100">
                <a:solidFill>
                  <a:schemeClr val="dk1"/>
                </a:solidFill>
              </a:rPr>
              <a:t>message passing</a:t>
            </a:r>
            <a:r>
              <a:rPr lang="en" sz="1100">
                <a:solidFill>
                  <a:schemeClr val="dk1"/>
                </a:solidFill>
              </a:rPr>
              <a:t> framework.</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 sz="1100">
                <a:solidFill>
                  <a:schemeClr val="dk1"/>
                </a:solidFill>
              </a:rPr>
              <a:t>GNNs use a </a:t>
            </a:r>
            <a:r>
              <a:rPr b="1" lang="en" sz="1100">
                <a:solidFill>
                  <a:schemeClr val="dk1"/>
                </a:solidFill>
              </a:rPr>
              <a:t>graph-in, graph-out</a:t>
            </a:r>
            <a:r>
              <a:rPr lang="en" sz="1100">
                <a:solidFill>
                  <a:schemeClr val="dk1"/>
                </a:solidFill>
              </a:rPr>
              <a:t> architecture:</a:t>
            </a:r>
            <a:endParaRPr sz="1100">
              <a:solidFill>
                <a:schemeClr val="dk1"/>
              </a:solidFill>
            </a:endParaRPr>
          </a:p>
          <a:p>
            <a:pPr indent="-298450" lvl="1" marL="914400" rtl="0" algn="l">
              <a:lnSpc>
                <a:spcPct val="115000"/>
              </a:lnSpc>
              <a:spcBef>
                <a:spcPts val="0"/>
              </a:spcBef>
              <a:spcAft>
                <a:spcPts val="0"/>
              </a:spcAft>
              <a:buClr>
                <a:schemeClr val="dk1"/>
              </a:buClr>
              <a:buSzPts val="1100"/>
              <a:buChar char="○"/>
            </a:pPr>
            <a:r>
              <a:rPr lang="en" sz="1100">
                <a:solidFill>
                  <a:schemeClr val="dk1"/>
                </a:solidFill>
              </a:rPr>
              <a:t>Input: graph with node, edge, and global features</a:t>
            </a:r>
            <a:endParaRPr sz="1100">
              <a:solidFill>
                <a:schemeClr val="dk1"/>
              </a:solidFill>
            </a:endParaRPr>
          </a:p>
          <a:p>
            <a:pPr indent="-298450" lvl="1" marL="914400" rtl="0" algn="l">
              <a:lnSpc>
                <a:spcPct val="115000"/>
              </a:lnSpc>
              <a:spcBef>
                <a:spcPts val="0"/>
              </a:spcBef>
              <a:spcAft>
                <a:spcPts val="0"/>
              </a:spcAft>
              <a:buClr>
                <a:schemeClr val="dk1"/>
              </a:buClr>
              <a:buSzPts val="1100"/>
              <a:buChar char="○"/>
            </a:pPr>
            <a:r>
              <a:rPr lang="en" sz="1100">
                <a:solidFill>
                  <a:schemeClr val="dk1"/>
                </a:solidFill>
              </a:rPr>
              <a:t>Output: same graph structure with updated embeddings</a:t>
            </a:r>
            <a:endParaRPr sz="1100">
              <a:solidFill>
                <a:schemeClr val="dk1"/>
              </a:solidFill>
            </a:endParaRPr>
          </a:p>
          <a:p>
            <a:pPr indent="-298450" lvl="1" marL="914400" rtl="0" algn="l">
              <a:lnSpc>
                <a:spcPct val="115000"/>
              </a:lnSpc>
              <a:spcBef>
                <a:spcPts val="0"/>
              </a:spcBef>
              <a:spcAft>
                <a:spcPts val="0"/>
              </a:spcAft>
              <a:buClr>
                <a:schemeClr val="dk1"/>
              </a:buClr>
              <a:buSzPts val="1100"/>
              <a:buChar char="○"/>
            </a:pPr>
            <a:r>
              <a:rPr lang="en" sz="1100">
                <a:solidFill>
                  <a:schemeClr val="dk1"/>
                </a:solidFill>
              </a:rPr>
              <a:t>Connectivity remains unchanged</a:t>
            </a:r>
            <a:endParaRPr sz="1100">
              <a:solidFill>
                <a:schemeClr val="dk1"/>
              </a:solidFill>
            </a:endParaRPr>
          </a:p>
          <a:p>
            <a:pPr indent="0" lvl="0" marL="0" rtl="0" algn="l">
              <a:lnSpc>
                <a:spcPct val="100000"/>
              </a:lnSpc>
              <a:spcBef>
                <a:spcPts val="1200"/>
              </a:spcBef>
              <a:spcAft>
                <a:spcPts val="1200"/>
              </a:spcAft>
              <a:buNone/>
            </a:pPr>
            <a:r>
              <a:t/>
            </a:r>
            <a:endParaRPr sz="1100">
              <a:solidFill>
                <a:schemeClr val="dk1"/>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32"/>
          <p:cNvSpPr txBox="1"/>
          <p:nvPr/>
        </p:nvSpPr>
        <p:spPr>
          <a:xfrm>
            <a:off x="259375" y="263550"/>
            <a:ext cx="77454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800">
                <a:solidFill>
                  <a:schemeClr val="dk1"/>
                </a:solidFill>
                <a:latin typeface="Calibri"/>
                <a:ea typeface="Calibri"/>
                <a:cs typeface="Calibri"/>
                <a:sym typeface="Calibri"/>
              </a:rPr>
              <a:t>Building a GNN |</a:t>
            </a:r>
            <a:r>
              <a:rPr b="1" lang="en" sz="1300">
                <a:solidFill>
                  <a:schemeClr val="dk1"/>
                </a:solidFill>
              </a:rPr>
              <a:t>Graph Neural Networks: Graph-In, Graph-Out</a:t>
            </a:r>
            <a:endParaRPr b="1" sz="1800">
              <a:solidFill>
                <a:schemeClr val="dk1"/>
              </a:solidFill>
              <a:latin typeface="Calibri"/>
              <a:ea typeface="Calibri"/>
              <a:cs typeface="Calibri"/>
              <a:sym typeface="Calibri"/>
            </a:endParaRPr>
          </a:p>
        </p:txBody>
      </p:sp>
      <p:sp>
        <p:nvSpPr>
          <p:cNvPr id="204" name="Google Shape;204;p32"/>
          <p:cNvSpPr txBox="1"/>
          <p:nvPr/>
        </p:nvSpPr>
        <p:spPr>
          <a:xfrm>
            <a:off x="340000" y="792150"/>
            <a:ext cx="84396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5" name="Google Shape;205;p32"/>
          <p:cNvSpPr txBox="1"/>
          <p:nvPr/>
        </p:nvSpPr>
        <p:spPr>
          <a:xfrm>
            <a:off x="106575" y="792150"/>
            <a:ext cx="8756100" cy="354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t/>
            </a:r>
            <a:endParaRPr sz="1100">
              <a:solidFill>
                <a:schemeClr val="dk1"/>
              </a:solidFill>
            </a:endParaRPr>
          </a:p>
        </p:txBody>
      </p:sp>
      <p:sp>
        <p:nvSpPr>
          <p:cNvPr id="206" name="Google Shape;206;p32"/>
          <p:cNvSpPr txBox="1"/>
          <p:nvPr/>
        </p:nvSpPr>
        <p:spPr>
          <a:xfrm>
            <a:off x="395650" y="747350"/>
            <a:ext cx="50643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800">
              <a:solidFill>
                <a:schemeClr val="dk2"/>
              </a:solidFill>
            </a:endParaRPr>
          </a:p>
        </p:txBody>
      </p:sp>
      <p:pic>
        <p:nvPicPr>
          <p:cNvPr id="207" name="Google Shape;207;p32"/>
          <p:cNvPicPr preferRelativeResize="0"/>
          <p:nvPr/>
        </p:nvPicPr>
        <p:blipFill>
          <a:blip r:embed="rId3">
            <a:alphaModFix/>
          </a:blip>
          <a:stretch>
            <a:fillRect/>
          </a:stretch>
        </p:blipFill>
        <p:spPr>
          <a:xfrm>
            <a:off x="3323500" y="878250"/>
            <a:ext cx="5732574" cy="3896101"/>
          </a:xfrm>
          <a:prstGeom prst="rect">
            <a:avLst/>
          </a:prstGeom>
          <a:noFill/>
          <a:ln>
            <a:noFill/>
          </a:ln>
        </p:spPr>
      </p:pic>
      <p:sp>
        <p:nvSpPr>
          <p:cNvPr id="208" name="Google Shape;208;p32"/>
          <p:cNvSpPr txBox="1"/>
          <p:nvPr/>
        </p:nvSpPr>
        <p:spPr>
          <a:xfrm>
            <a:off x="35175" y="792150"/>
            <a:ext cx="3411300" cy="3714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0"/>
              </a:spcAft>
              <a:buNone/>
            </a:pPr>
            <a:r>
              <a:rPr b="1" lang="en" sz="1200">
                <a:solidFill>
                  <a:schemeClr val="dk1"/>
                </a:solidFill>
              </a:rPr>
              <a:t>The Simplest GNN Layer</a:t>
            </a:r>
            <a:endParaRPr sz="1000">
              <a:solidFill>
                <a:schemeClr val="dk1"/>
              </a:solidFill>
            </a:endParaRPr>
          </a:p>
          <a:p>
            <a:pPr indent="-292100" lvl="0" marL="457200" rtl="0" algn="l">
              <a:lnSpc>
                <a:spcPct val="115000"/>
              </a:lnSpc>
              <a:spcBef>
                <a:spcPts val="1200"/>
              </a:spcBef>
              <a:spcAft>
                <a:spcPts val="0"/>
              </a:spcAft>
              <a:buClr>
                <a:schemeClr val="dk1"/>
              </a:buClr>
              <a:buSzPts val="1000"/>
              <a:buChar char="●"/>
            </a:pPr>
            <a:r>
              <a:rPr lang="en" sz="1000">
                <a:solidFill>
                  <a:schemeClr val="dk1"/>
                </a:solidFill>
              </a:rPr>
              <a:t>The simplest GNN updates each graph component independently.</a:t>
            </a:r>
            <a:endParaRPr sz="1000">
              <a:solidFill>
                <a:schemeClr val="dk1"/>
              </a:solidFill>
            </a:endParaRPr>
          </a:p>
          <a:p>
            <a:pPr indent="-292100" lvl="0" marL="457200" rtl="0" algn="l">
              <a:lnSpc>
                <a:spcPct val="115000"/>
              </a:lnSpc>
              <a:spcBef>
                <a:spcPts val="0"/>
              </a:spcBef>
              <a:spcAft>
                <a:spcPts val="0"/>
              </a:spcAft>
              <a:buClr>
                <a:schemeClr val="dk1"/>
              </a:buClr>
              <a:buSzPts val="1000"/>
              <a:buChar char="●"/>
            </a:pPr>
            <a:r>
              <a:rPr lang="en" sz="1000">
                <a:solidFill>
                  <a:schemeClr val="dk1"/>
                </a:solidFill>
              </a:rPr>
              <a:t>It uses separate MLPs for:</a:t>
            </a:r>
            <a:endParaRPr sz="1000">
              <a:solidFill>
                <a:schemeClr val="dk1"/>
              </a:solidFill>
            </a:endParaRPr>
          </a:p>
          <a:p>
            <a:pPr indent="-292100" lvl="1" marL="914400" rtl="0" algn="l">
              <a:lnSpc>
                <a:spcPct val="115000"/>
              </a:lnSpc>
              <a:spcBef>
                <a:spcPts val="0"/>
              </a:spcBef>
              <a:spcAft>
                <a:spcPts val="0"/>
              </a:spcAft>
              <a:buClr>
                <a:schemeClr val="dk1"/>
              </a:buClr>
              <a:buSzPts val="1000"/>
              <a:buChar char="○"/>
            </a:pPr>
            <a:r>
              <a:rPr b="1" lang="en" sz="1000">
                <a:solidFill>
                  <a:schemeClr val="dk1"/>
                </a:solidFill>
              </a:rPr>
              <a:t>Node features</a:t>
            </a:r>
            <a:endParaRPr b="1" sz="1000">
              <a:solidFill>
                <a:schemeClr val="dk1"/>
              </a:solidFill>
            </a:endParaRPr>
          </a:p>
          <a:p>
            <a:pPr indent="-292100" lvl="1" marL="914400" rtl="0" algn="l">
              <a:lnSpc>
                <a:spcPct val="115000"/>
              </a:lnSpc>
              <a:spcBef>
                <a:spcPts val="0"/>
              </a:spcBef>
              <a:spcAft>
                <a:spcPts val="0"/>
              </a:spcAft>
              <a:buClr>
                <a:schemeClr val="dk1"/>
              </a:buClr>
              <a:buSzPts val="1000"/>
              <a:buChar char="○"/>
            </a:pPr>
            <a:r>
              <a:rPr b="1" lang="en" sz="1000">
                <a:solidFill>
                  <a:schemeClr val="dk1"/>
                </a:solidFill>
              </a:rPr>
              <a:t>Edge features</a:t>
            </a:r>
            <a:endParaRPr b="1" sz="1000">
              <a:solidFill>
                <a:schemeClr val="dk1"/>
              </a:solidFill>
            </a:endParaRPr>
          </a:p>
          <a:p>
            <a:pPr indent="-292100" lvl="1" marL="914400" rtl="0" algn="l">
              <a:lnSpc>
                <a:spcPct val="115000"/>
              </a:lnSpc>
              <a:spcBef>
                <a:spcPts val="0"/>
              </a:spcBef>
              <a:spcAft>
                <a:spcPts val="0"/>
              </a:spcAft>
              <a:buClr>
                <a:schemeClr val="dk1"/>
              </a:buClr>
              <a:buSzPts val="1000"/>
              <a:buChar char="○"/>
            </a:pPr>
            <a:r>
              <a:rPr b="1" lang="en" sz="1000">
                <a:solidFill>
                  <a:schemeClr val="dk1"/>
                </a:solidFill>
              </a:rPr>
              <a:t>Global features</a:t>
            </a:r>
            <a:endParaRPr b="1" sz="1000">
              <a:solidFill>
                <a:schemeClr val="dk1"/>
              </a:solidFill>
            </a:endParaRPr>
          </a:p>
          <a:p>
            <a:pPr indent="-292100" lvl="0" marL="457200" rtl="0" algn="l">
              <a:lnSpc>
                <a:spcPct val="115000"/>
              </a:lnSpc>
              <a:spcBef>
                <a:spcPts val="0"/>
              </a:spcBef>
              <a:spcAft>
                <a:spcPts val="0"/>
              </a:spcAft>
              <a:buClr>
                <a:schemeClr val="dk1"/>
              </a:buClr>
              <a:buSzPts val="1000"/>
              <a:buChar char="●"/>
            </a:pPr>
            <a:r>
              <a:rPr lang="en" sz="1000">
                <a:solidFill>
                  <a:schemeClr val="dk1"/>
                </a:solidFill>
              </a:rPr>
              <a:t>Each node, edge, and global vector is passed through its own MLP.</a:t>
            </a:r>
            <a:endParaRPr sz="1000">
              <a:solidFill>
                <a:schemeClr val="dk1"/>
              </a:solidFill>
            </a:endParaRPr>
          </a:p>
          <a:p>
            <a:pPr indent="-292100" lvl="0" marL="457200" rtl="0" algn="l">
              <a:lnSpc>
                <a:spcPct val="115000"/>
              </a:lnSpc>
              <a:spcBef>
                <a:spcPts val="0"/>
              </a:spcBef>
              <a:spcAft>
                <a:spcPts val="0"/>
              </a:spcAft>
              <a:buClr>
                <a:schemeClr val="dk1"/>
              </a:buClr>
              <a:buSzPts val="1000"/>
              <a:buChar char="●"/>
            </a:pPr>
            <a:r>
              <a:rPr lang="en" sz="1000">
                <a:solidFill>
                  <a:schemeClr val="dk1"/>
                </a:solidFill>
              </a:rPr>
              <a:t>The output graph has:</a:t>
            </a:r>
            <a:endParaRPr sz="1000">
              <a:solidFill>
                <a:schemeClr val="dk1"/>
              </a:solidFill>
            </a:endParaRPr>
          </a:p>
          <a:p>
            <a:pPr indent="-292100" lvl="1" marL="914400" rtl="0" algn="l">
              <a:lnSpc>
                <a:spcPct val="115000"/>
              </a:lnSpc>
              <a:spcBef>
                <a:spcPts val="0"/>
              </a:spcBef>
              <a:spcAft>
                <a:spcPts val="0"/>
              </a:spcAft>
              <a:buClr>
                <a:schemeClr val="dk1"/>
              </a:buClr>
              <a:buSzPts val="1000"/>
              <a:buChar char="○"/>
            </a:pPr>
            <a:r>
              <a:rPr lang="en" sz="1000">
                <a:solidFill>
                  <a:schemeClr val="dk1"/>
                </a:solidFill>
              </a:rPr>
              <a:t>The </a:t>
            </a:r>
            <a:r>
              <a:rPr b="1" lang="en" sz="1000">
                <a:solidFill>
                  <a:schemeClr val="dk1"/>
                </a:solidFill>
              </a:rPr>
              <a:t>same adjacency list</a:t>
            </a:r>
            <a:endParaRPr b="1" sz="1000">
              <a:solidFill>
                <a:schemeClr val="dk1"/>
              </a:solidFill>
            </a:endParaRPr>
          </a:p>
          <a:p>
            <a:pPr indent="-292100" lvl="1" marL="914400" rtl="0" algn="l">
              <a:lnSpc>
                <a:spcPct val="115000"/>
              </a:lnSpc>
              <a:spcBef>
                <a:spcPts val="0"/>
              </a:spcBef>
              <a:spcAft>
                <a:spcPts val="0"/>
              </a:spcAft>
              <a:buClr>
                <a:schemeClr val="dk1"/>
              </a:buClr>
              <a:buSzPts val="1000"/>
              <a:buChar char="○"/>
            </a:pPr>
            <a:r>
              <a:rPr lang="en" sz="1000">
                <a:solidFill>
                  <a:schemeClr val="dk1"/>
                </a:solidFill>
              </a:rPr>
              <a:t>The </a:t>
            </a:r>
            <a:r>
              <a:rPr b="1" lang="en" sz="1000">
                <a:solidFill>
                  <a:schemeClr val="dk1"/>
                </a:solidFill>
              </a:rPr>
              <a:t>same number of node, edge, and global feature vectors</a:t>
            </a:r>
            <a:endParaRPr b="1" sz="1000">
              <a:solidFill>
                <a:schemeClr val="dk1"/>
              </a:solidFill>
            </a:endParaRPr>
          </a:p>
          <a:p>
            <a:pPr indent="-292100" lvl="1" marL="914400" rtl="0" algn="l">
              <a:lnSpc>
                <a:spcPct val="115000"/>
              </a:lnSpc>
              <a:spcBef>
                <a:spcPts val="0"/>
              </a:spcBef>
              <a:spcAft>
                <a:spcPts val="0"/>
              </a:spcAft>
              <a:buClr>
                <a:schemeClr val="dk1"/>
              </a:buClr>
              <a:buSzPts val="1000"/>
              <a:buChar char="○"/>
            </a:pPr>
            <a:r>
              <a:rPr lang="en" sz="1000">
                <a:solidFill>
                  <a:schemeClr val="dk1"/>
                </a:solidFill>
              </a:rPr>
              <a:t>Updated node, edge, and global embeddings</a:t>
            </a:r>
            <a:endParaRPr sz="1000">
              <a:solidFill>
                <a:schemeClr val="dk1"/>
              </a:solidFill>
            </a:endParaRPr>
          </a:p>
          <a:p>
            <a:pPr indent="-292100" lvl="0" marL="457200" rtl="0" algn="l">
              <a:lnSpc>
                <a:spcPct val="115000"/>
              </a:lnSpc>
              <a:spcBef>
                <a:spcPts val="0"/>
              </a:spcBef>
              <a:spcAft>
                <a:spcPts val="0"/>
              </a:spcAft>
              <a:buClr>
                <a:schemeClr val="dk1"/>
              </a:buClr>
              <a:buSzPts val="1000"/>
              <a:buChar char="●"/>
            </a:pPr>
            <a:r>
              <a:rPr lang="en" sz="1000">
                <a:solidFill>
                  <a:schemeClr val="dk1"/>
                </a:solidFill>
              </a:rPr>
              <a:t>GNN layers can be </a:t>
            </a:r>
            <a:r>
              <a:rPr b="1" lang="en" sz="1000">
                <a:solidFill>
                  <a:schemeClr val="dk1"/>
                </a:solidFill>
              </a:rPr>
              <a:t>stacked</a:t>
            </a:r>
            <a:r>
              <a:rPr lang="en" sz="1000">
                <a:solidFill>
                  <a:schemeClr val="dk1"/>
                </a:solidFill>
              </a:rPr>
              <a:t> like regular neural network layers.</a:t>
            </a:r>
            <a:endParaRPr sz="1000">
              <a:solidFill>
                <a:schemeClr val="dk1"/>
              </a:solidFill>
            </a:endParaRPr>
          </a:p>
          <a:p>
            <a:pPr indent="-292100" lvl="0" marL="457200" rtl="0" algn="l">
              <a:lnSpc>
                <a:spcPct val="115000"/>
              </a:lnSpc>
              <a:spcBef>
                <a:spcPts val="0"/>
              </a:spcBef>
              <a:spcAft>
                <a:spcPts val="0"/>
              </a:spcAft>
              <a:buClr>
                <a:schemeClr val="dk1"/>
              </a:buClr>
              <a:buSzPts val="1000"/>
              <a:buChar char="●"/>
            </a:pPr>
            <a:r>
              <a:rPr lang="en" sz="1000">
                <a:solidFill>
                  <a:schemeClr val="dk1"/>
                </a:solidFill>
              </a:rPr>
              <a:t>This simple version updates embeddings, but </a:t>
            </a:r>
            <a:r>
              <a:rPr b="1" lang="en" sz="1000">
                <a:solidFill>
                  <a:schemeClr val="dk1"/>
                </a:solidFill>
              </a:rPr>
              <a:t>does not yet use graph connectivity</a:t>
            </a:r>
            <a:r>
              <a:rPr lang="en" sz="1000">
                <a:solidFill>
                  <a:schemeClr val="dk1"/>
                </a:solidFill>
              </a:rPr>
              <a:t>.</a:t>
            </a:r>
            <a:endParaRPr sz="1000">
              <a:solidFill>
                <a:schemeClr val="dk1"/>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33"/>
          <p:cNvSpPr txBox="1"/>
          <p:nvPr/>
        </p:nvSpPr>
        <p:spPr>
          <a:xfrm>
            <a:off x="259375" y="263550"/>
            <a:ext cx="77454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800">
                <a:solidFill>
                  <a:schemeClr val="dk1"/>
                </a:solidFill>
                <a:latin typeface="Calibri"/>
                <a:ea typeface="Calibri"/>
                <a:cs typeface="Calibri"/>
                <a:sym typeface="Calibri"/>
              </a:rPr>
              <a:t>Building a GNN |</a:t>
            </a:r>
            <a:r>
              <a:rPr b="1" lang="en" sz="1300">
                <a:solidFill>
                  <a:schemeClr val="dk1"/>
                </a:solidFill>
              </a:rPr>
              <a:t>Graph Neural Networks: Graph-In, Graph-Out</a:t>
            </a:r>
            <a:endParaRPr b="1" sz="1800">
              <a:solidFill>
                <a:schemeClr val="dk1"/>
              </a:solidFill>
              <a:latin typeface="Calibri"/>
              <a:ea typeface="Calibri"/>
              <a:cs typeface="Calibri"/>
              <a:sym typeface="Calibri"/>
            </a:endParaRPr>
          </a:p>
        </p:txBody>
      </p:sp>
      <p:sp>
        <p:nvSpPr>
          <p:cNvPr id="214" name="Google Shape;214;p33"/>
          <p:cNvSpPr txBox="1"/>
          <p:nvPr/>
        </p:nvSpPr>
        <p:spPr>
          <a:xfrm>
            <a:off x="340000" y="792150"/>
            <a:ext cx="84396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5" name="Google Shape;215;p33"/>
          <p:cNvSpPr txBox="1"/>
          <p:nvPr/>
        </p:nvSpPr>
        <p:spPr>
          <a:xfrm>
            <a:off x="106575" y="792150"/>
            <a:ext cx="8756100" cy="354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t/>
            </a:r>
            <a:endParaRPr sz="1100">
              <a:solidFill>
                <a:schemeClr val="dk1"/>
              </a:solidFill>
            </a:endParaRPr>
          </a:p>
        </p:txBody>
      </p:sp>
      <p:sp>
        <p:nvSpPr>
          <p:cNvPr id="216" name="Google Shape;216;p33"/>
          <p:cNvSpPr txBox="1"/>
          <p:nvPr/>
        </p:nvSpPr>
        <p:spPr>
          <a:xfrm>
            <a:off x="35175" y="792150"/>
            <a:ext cx="4642200" cy="2639700"/>
          </a:xfrm>
          <a:prstGeom prst="rect">
            <a:avLst/>
          </a:prstGeom>
          <a:noFill/>
          <a:ln>
            <a:noFill/>
          </a:ln>
        </p:spPr>
        <p:txBody>
          <a:bodyPr anchorCtr="0" anchor="t" bIns="91425" lIns="91425" spcFirstLastPara="1" rIns="91425" wrap="square" tIns="91425">
            <a:spAutoFit/>
          </a:bodyPr>
          <a:lstStyle/>
          <a:p>
            <a:pPr indent="-292100" lvl="0" marL="457200" rtl="0" algn="l">
              <a:lnSpc>
                <a:spcPct val="115000"/>
              </a:lnSpc>
              <a:spcBef>
                <a:spcPts val="1200"/>
              </a:spcBef>
              <a:spcAft>
                <a:spcPts val="0"/>
              </a:spcAft>
              <a:buClr>
                <a:schemeClr val="dk1"/>
              </a:buClr>
              <a:buSzPts val="1000"/>
              <a:buFont typeface="Calibri"/>
              <a:buChar char="●"/>
            </a:pPr>
            <a:r>
              <a:rPr lang="en" sz="1000">
                <a:solidFill>
                  <a:schemeClr val="dk1"/>
                </a:solidFill>
                <a:latin typeface="Calibri"/>
                <a:ea typeface="Calibri"/>
                <a:cs typeface="Calibri"/>
                <a:sym typeface="Calibri"/>
              </a:rPr>
              <a:t>Apply separate MLPs to each graph attribute independently:</a:t>
            </a:r>
            <a:endParaRPr sz="1000">
              <a:solidFill>
                <a:schemeClr val="dk1"/>
              </a:solidFill>
              <a:latin typeface="Calibri"/>
              <a:ea typeface="Calibri"/>
              <a:cs typeface="Calibri"/>
              <a:sym typeface="Calibri"/>
            </a:endParaRPr>
          </a:p>
          <a:p>
            <a:pPr indent="-292100" lvl="1" marL="914400" rtl="0" algn="l">
              <a:lnSpc>
                <a:spcPct val="115000"/>
              </a:lnSpc>
              <a:spcBef>
                <a:spcPts val="0"/>
              </a:spcBef>
              <a:spcAft>
                <a:spcPts val="0"/>
              </a:spcAft>
              <a:buClr>
                <a:schemeClr val="dk1"/>
              </a:buClr>
              <a:buSzPts val="1000"/>
              <a:buChar char="○"/>
            </a:pPr>
            <a:r>
              <a:rPr lang="en" sz="1000">
                <a:solidFill>
                  <a:schemeClr val="dk1"/>
                </a:solidFill>
                <a:latin typeface="Calibri"/>
                <a:ea typeface="Calibri"/>
                <a:cs typeface="Calibri"/>
                <a:sym typeface="Calibri"/>
              </a:rPr>
              <a:t>MLP_V updates node embeddings.</a:t>
            </a:r>
            <a:endParaRPr sz="1000">
              <a:solidFill>
                <a:schemeClr val="dk1"/>
              </a:solidFill>
              <a:latin typeface="Calibri"/>
              <a:ea typeface="Calibri"/>
              <a:cs typeface="Calibri"/>
              <a:sym typeface="Calibri"/>
            </a:endParaRPr>
          </a:p>
          <a:p>
            <a:pPr indent="-292100" lvl="1" marL="914400" rtl="0" algn="l">
              <a:lnSpc>
                <a:spcPct val="115000"/>
              </a:lnSpc>
              <a:spcBef>
                <a:spcPts val="0"/>
              </a:spcBef>
              <a:spcAft>
                <a:spcPts val="0"/>
              </a:spcAft>
              <a:buClr>
                <a:schemeClr val="dk1"/>
              </a:buClr>
              <a:buSzPts val="1000"/>
              <a:buChar char="○"/>
            </a:pPr>
            <a:r>
              <a:rPr lang="en" sz="1000">
                <a:solidFill>
                  <a:schemeClr val="dk1"/>
                </a:solidFill>
                <a:latin typeface="Calibri"/>
                <a:ea typeface="Calibri"/>
                <a:cs typeface="Calibri"/>
                <a:sym typeface="Calibri"/>
              </a:rPr>
              <a:t>MLP_E updates edge embeddings.</a:t>
            </a:r>
            <a:endParaRPr sz="1000">
              <a:solidFill>
                <a:schemeClr val="dk1"/>
              </a:solidFill>
              <a:latin typeface="Calibri"/>
              <a:ea typeface="Calibri"/>
              <a:cs typeface="Calibri"/>
              <a:sym typeface="Calibri"/>
            </a:endParaRPr>
          </a:p>
          <a:p>
            <a:pPr indent="-292100" lvl="1" marL="914400" rtl="0" algn="l">
              <a:lnSpc>
                <a:spcPct val="115000"/>
              </a:lnSpc>
              <a:spcBef>
                <a:spcPts val="0"/>
              </a:spcBef>
              <a:spcAft>
                <a:spcPts val="0"/>
              </a:spcAft>
              <a:buClr>
                <a:schemeClr val="dk1"/>
              </a:buClr>
              <a:buSzPts val="1000"/>
              <a:buChar char="○"/>
            </a:pPr>
            <a:r>
              <a:rPr lang="en" sz="1000">
                <a:solidFill>
                  <a:schemeClr val="dk1"/>
                </a:solidFill>
                <a:latin typeface="Calibri"/>
                <a:ea typeface="Calibri"/>
                <a:cs typeface="Calibri"/>
                <a:sym typeface="Calibri"/>
              </a:rPr>
              <a:t>MLP_U updates the global graph vector.</a:t>
            </a:r>
            <a:endParaRPr sz="1000">
              <a:solidFill>
                <a:schemeClr val="dk1"/>
              </a:solidFill>
              <a:latin typeface="Calibri"/>
              <a:ea typeface="Calibri"/>
              <a:cs typeface="Calibri"/>
              <a:sym typeface="Calibri"/>
            </a:endParaRPr>
          </a:p>
          <a:p>
            <a:pPr indent="-292100" lvl="0" marL="457200" rtl="0" algn="l">
              <a:lnSpc>
                <a:spcPct val="115000"/>
              </a:lnSpc>
              <a:spcBef>
                <a:spcPts val="0"/>
              </a:spcBef>
              <a:spcAft>
                <a:spcPts val="0"/>
              </a:spcAft>
              <a:buClr>
                <a:schemeClr val="dk1"/>
              </a:buClr>
              <a:buSzPts val="1000"/>
              <a:buFont typeface="Calibri"/>
              <a:buChar char="●"/>
            </a:pPr>
            <a:r>
              <a:rPr lang="en" sz="1000">
                <a:solidFill>
                  <a:schemeClr val="dk1"/>
                </a:solidFill>
                <a:latin typeface="Calibri"/>
                <a:ea typeface="Calibri"/>
                <a:cs typeface="Calibri"/>
                <a:sym typeface="Calibri"/>
              </a:rPr>
              <a:t>The same MLP weights are shared across all nodes or edges.</a:t>
            </a:r>
            <a:endParaRPr sz="1000">
              <a:solidFill>
                <a:schemeClr val="dk1"/>
              </a:solidFill>
              <a:latin typeface="Calibri"/>
              <a:ea typeface="Calibri"/>
              <a:cs typeface="Calibri"/>
              <a:sym typeface="Calibri"/>
            </a:endParaRPr>
          </a:p>
          <a:p>
            <a:pPr indent="-292100" lvl="0" marL="457200" rtl="0" algn="l">
              <a:lnSpc>
                <a:spcPct val="115000"/>
              </a:lnSpc>
              <a:spcBef>
                <a:spcPts val="0"/>
              </a:spcBef>
              <a:spcAft>
                <a:spcPts val="0"/>
              </a:spcAft>
              <a:buClr>
                <a:schemeClr val="dk1"/>
              </a:buClr>
              <a:buSzPts val="1000"/>
              <a:buFont typeface="Calibri"/>
              <a:buChar char="●"/>
            </a:pPr>
            <a:r>
              <a:rPr lang="en" sz="1000">
                <a:solidFill>
                  <a:schemeClr val="dk1"/>
                </a:solidFill>
                <a:latin typeface="Calibri"/>
                <a:ea typeface="Calibri"/>
                <a:cs typeface="Calibri"/>
                <a:sym typeface="Calibri"/>
              </a:rPr>
              <a:t>The graph structure/connectivity is not used inside this layer.</a:t>
            </a:r>
            <a:endParaRPr sz="1000">
              <a:solidFill>
                <a:schemeClr val="dk1"/>
              </a:solidFill>
              <a:latin typeface="Calibri"/>
              <a:ea typeface="Calibri"/>
              <a:cs typeface="Calibri"/>
              <a:sym typeface="Calibri"/>
            </a:endParaRPr>
          </a:p>
          <a:p>
            <a:pPr indent="-292100" lvl="0" marL="457200" rtl="0" algn="l">
              <a:lnSpc>
                <a:spcPct val="115000"/>
              </a:lnSpc>
              <a:spcBef>
                <a:spcPts val="0"/>
              </a:spcBef>
              <a:spcAft>
                <a:spcPts val="0"/>
              </a:spcAft>
              <a:buClr>
                <a:schemeClr val="dk1"/>
              </a:buClr>
              <a:buSzPts val="1000"/>
              <a:buFont typeface="Calibri"/>
              <a:buChar char="●"/>
            </a:pPr>
            <a:r>
              <a:rPr lang="en" sz="1000">
                <a:solidFill>
                  <a:schemeClr val="dk1"/>
                </a:solidFill>
                <a:latin typeface="Calibri"/>
                <a:ea typeface="Calibri"/>
                <a:cs typeface="Calibri"/>
                <a:sym typeface="Calibri"/>
              </a:rPr>
              <a:t>Each node, edge, and global feature is updated in isolation.</a:t>
            </a:r>
            <a:endParaRPr sz="1000">
              <a:solidFill>
                <a:schemeClr val="dk1"/>
              </a:solidFill>
              <a:latin typeface="Calibri"/>
              <a:ea typeface="Calibri"/>
              <a:cs typeface="Calibri"/>
              <a:sym typeface="Calibri"/>
            </a:endParaRPr>
          </a:p>
          <a:p>
            <a:pPr indent="-292100" lvl="0" marL="457200" rtl="0" algn="l">
              <a:lnSpc>
                <a:spcPct val="115000"/>
              </a:lnSpc>
              <a:spcBef>
                <a:spcPts val="0"/>
              </a:spcBef>
              <a:spcAft>
                <a:spcPts val="0"/>
              </a:spcAft>
              <a:buClr>
                <a:schemeClr val="dk1"/>
              </a:buClr>
              <a:buSzPts val="1000"/>
              <a:buFont typeface="Calibri"/>
              <a:buChar char="●"/>
            </a:pPr>
            <a:r>
              <a:rPr lang="en" sz="1000">
                <a:solidFill>
                  <a:schemeClr val="dk1"/>
                </a:solidFill>
                <a:latin typeface="Calibri"/>
                <a:ea typeface="Calibri"/>
                <a:cs typeface="Calibri"/>
                <a:sym typeface="Calibri"/>
              </a:rPr>
              <a:t>The output graph keeps:</a:t>
            </a:r>
            <a:endParaRPr sz="1000">
              <a:solidFill>
                <a:schemeClr val="dk1"/>
              </a:solidFill>
              <a:latin typeface="Calibri"/>
              <a:ea typeface="Calibri"/>
              <a:cs typeface="Calibri"/>
              <a:sym typeface="Calibri"/>
            </a:endParaRPr>
          </a:p>
          <a:p>
            <a:pPr indent="-292100" lvl="1" marL="914400" rtl="0" algn="l">
              <a:lnSpc>
                <a:spcPct val="115000"/>
              </a:lnSpc>
              <a:spcBef>
                <a:spcPts val="0"/>
              </a:spcBef>
              <a:spcAft>
                <a:spcPts val="0"/>
              </a:spcAft>
              <a:buClr>
                <a:schemeClr val="dk1"/>
              </a:buClr>
              <a:buSzPts val="1000"/>
              <a:buFont typeface="Calibri"/>
              <a:buChar char="○"/>
            </a:pPr>
            <a:r>
              <a:rPr lang="en" sz="1000">
                <a:solidFill>
                  <a:schemeClr val="dk1"/>
                </a:solidFill>
                <a:latin typeface="Calibri"/>
                <a:ea typeface="Calibri"/>
                <a:cs typeface="Calibri"/>
                <a:sym typeface="Calibri"/>
              </a:rPr>
              <a:t>The same nodes</a:t>
            </a:r>
            <a:endParaRPr sz="1000">
              <a:solidFill>
                <a:schemeClr val="dk1"/>
              </a:solidFill>
              <a:latin typeface="Calibri"/>
              <a:ea typeface="Calibri"/>
              <a:cs typeface="Calibri"/>
              <a:sym typeface="Calibri"/>
            </a:endParaRPr>
          </a:p>
          <a:p>
            <a:pPr indent="-292100" lvl="1" marL="914400" rtl="0" algn="l">
              <a:lnSpc>
                <a:spcPct val="115000"/>
              </a:lnSpc>
              <a:spcBef>
                <a:spcPts val="0"/>
              </a:spcBef>
              <a:spcAft>
                <a:spcPts val="0"/>
              </a:spcAft>
              <a:buClr>
                <a:schemeClr val="dk1"/>
              </a:buClr>
              <a:buSzPts val="1000"/>
              <a:buFont typeface="Calibri"/>
              <a:buChar char="○"/>
            </a:pPr>
            <a:r>
              <a:rPr lang="en" sz="1000">
                <a:solidFill>
                  <a:schemeClr val="dk1"/>
                </a:solidFill>
                <a:latin typeface="Calibri"/>
                <a:ea typeface="Calibri"/>
                <a:cs typeface="Calibri"/>
                <a:sym typeface="Calibri"/>
              </a:rPr>
              <a:t>The same edges</a:t>
            </a:r>
            <a:endParaRPr sz="1000">
              <a:solidFill>
                <a:schemeClr val="dk1"/>
              </a:solidFill>
              <a:latin typeface="Calibri"/>
              <a:ea typeface="Calibri"/>
              <a:cs typeface="Calibri"/>
              <a:sym typeface="Calibri"/>
            </a:endParaRPr>
          </a:p>
          <a:p>
            <a:pPr indent="-292100" lvl="1" marL="914400" rtl="0" algn="l">
              <a:lnSpc>
                <a:spcPct val="115000"/>
              </a:lnSpc>
              <a:spcBef>
                <a:spcPts val="0"/>
              </a:spcBef>
              <a:spcAft>
                <a:spcPts val="0"/>
              </a:spcAft>
              <a:buClr>
                <a:schemeClr val="dk1"/>
              </a:buClr>
              <a:buSzPts val="1000"/>
              <a:buFont typeface="Calibri"/>
              <a:buChar char="○"/>
            </a:pPr>
            <a:r>
              <a:rPr lang="en" sz="1000">
                <a:solidFill>
                  <a:schemeClr val="dk1"/>
                </a:solidFill>
                <a:latin typeface="Calibri"/>
                <a:ea typeface="Calibri"/>
                <a:cs typeface="Calibri"/>
                <a:sym typeface="Calibri"/>
              </a:rPr>
              <a:t>The same adjacency list</a:t>
            </a:r>
            <a:endParaRPr sz="1000">
              <a:solidFill>
                <a:schemeClr val="dk1"/>
              </a:solidFill>
              <a:latin typeface="Calibri"/>
              <a:ea typeface="Calibri"/>
              <a:cs typeface="Calibri"/>
              <a:sym typeface="Calibri"/>
            </a:endParaRPr>
          </a:p>
          <a:p>
            <a:pPr indent="-292100" lvl="1" marL="914400" rtl="0" algn="l">
              <a:lnSpc>
                <a:spcPct val="115000"/>
              </a:lnSpc>
              <a:spcBef>
                <a:spcPts val="0"/>
              </a:spcBef>
              <a:spcAft>
                <a:spcPts val="0"/>
              </a:spcAft>
              <a:buClr>
                <a:schemeClr val="dk1"/>
              </a:buClr>
              <a:buSzPts val="1000"/>
              <a:buFont typeface="Calibri"/>
              <a:buChar char="○"/>
            </a:pPr>
            <a:r>
              <a:rPr lang="en" sz="1000">
                <a:solidFill>
                  <a:schemeClr val="dk1"/>
                </a:solidFill>
                <a:latin typeface="Calibri"/>
                <a:ea typeface="Calibri"/>
                <a:cs typeface="Calibri"/>
                <a:sym typeface="Calibri"/>
              </a:rPr>
              <a:t>Updated embeddings</a:t>
            </a:r>
            <a:endParaRPr sz="1000">
              <a:solidFill>
                <a:schemeClr val="dk1"/>
              </a:solidFill>
              <a:latin typeface="Calibri"/>
              <a:ea typeface="Calibri"/>
              <a:cs typeface="Calibri"/>
              <a:sym typeface="Calibri"/>
            </a:endParaRPr>
          </a:p>
          <a:p>
            <a:pPr indent="-292100" lvl="0" marL="457200" rtl="0" algn="l">
              <a:lnSpc>
                <a:spcPct val="115000"/>
              </a:lnSpc>
              <a:spcBef>
                <a:spcPts val="0"/>
              </a:spcBef>
              <a:spcAft>
                <a:spcPts val="0"/>
              </a:spcAft>
              <a:buClr>
                <a:schemeClr val="dk1"/>
              </a:buClr>
              <a:buSzPts val="1000"/>
              <a:buChar char="●"/>
            </a:pPr>
            <a:r>
              <a:rPr b="1" lang="en" sz="1000">
                <a:solidFill>
                  <a:schemeClr val="dk1"/>
                </a:solidFill>
                <a:latin typeface="Calibri"/>
                <a:ea typeface="Calibri"/>
                <a:cs typeface="Calibri"/>
                <a:sym typeface="Calibri"/>
              </a:rPr>
              <a:t>Limitation:</a:t>
            </a:r>
            <a:r>
              <a:rPr lang="en" sz="1000">
                <a:solidFill>
                  <a:schemeClr val="dk1"/>
                </a:solidFill>
                <a:latin typeface="Calibri"/>
                <a:ea typeface="Calibri"/>
                <a:cs typeface="Calibri"/>
                <a:sym typeface="Calibri"/>
              </a:rPr>
              <a:t> nodes do not receive information from their neighbors.</a:t>
            </a:r>
            <a:endParaRPr sz="1000">
              <a:solidFill>
                <a:schemeClr val="dk1"/>
              </a:solidFill>
              <a:latin typeface="Calibri"/>
              <a:ea typeface="Calibri"/>
              <a:cs typeface="Calibri"/>
              <a:sym typeface="Calibri"/>
            </a:endParaRPr>
          </a:p>
          <a:p>
            <a:pPr indent="-292100" lvl="0" marL="457200" rtl="0" algn="l">
              <a:lnSpc>
                <a:spcPct val="115000"/>
              </a:lnSpc>
              <a:spcBef>
                <a:spcPts val="0"/>
              </a:spcBef>
              <a:spcAft>
                <a:spcPts val="0"/>
              </a:spcAft>
              <a:buClr>
                <a:schemeClr val="dk1"/>
              </a:buClr>
              <a:buSzPts val="1000"/>
              <a:buFont typeface="Calibri"/>
              <a:buChar char="●"/>
            </a:pPr>
            <a:r>
              <a:rPr lang="en" sz="1000">
                <a:solidFill>
                  <a:schemeClr val="dk1"/>
                </a:solidFill>
                <a:latin typeface="Calibri"/>
                <a:ea typeface="Calibri"/>
                <a:cs typeface="Calibri"/>
                <a:sym typeface="Calibri"/>
              </a:rPr>
              <a:t>Connectivity is only used later during prediction through pooling.</a:t>
            </a:r>
            <a:endParaRPr sz="1000">
              <a:solidFill>
                <a:schemeClr val="dk1"/>
              </a:solidFill>
              <a:latin typeface="Calibri"/>
              <a:ea typeface="Calibri"/>
              <a:cs typeface="Calibri"/>
              <a:sym typeface="Calibri"/>
            </a:endParaRPr>
          </a:p>
        </p:txBody>
      </p:sp>
      <p:pic>
        <p:nvPicPr>
          <p:cNvPr id="217" name="Google Shape;217;p33"/>
          <p:cNvPicPr preferRelativeResize="0"/>
          <p:nvPr/>
        </p:nvPicPr>
        <p:blipFill>
          <a:blip r:embed="rId3">
            <a:alphaModFix/>
          </a:blip>
          <a:stretch>
            <a:fillRect/>
          </a:stretch>
        </p:blipFill>
        <p:spPr>
          <a:xfrm>
            <a:off x="606650" y="3368050"/>
            <a:ext cx="2409125" cy="1617200"/>
          </a:xfrm>
          <a:prstGeom prst="rect">
            <a:avLst/>
          </a:prstGeom>
          <a:noFill/>
          <a:ln>
            <a:noFill/>
          </a:ln>
        </p:spPr>
      </p:pic>
      <p:sp>
        <p:nvSpPr>
          <p:cNvPr id="218" name="Google Shape;218;p33"/>
          <p:cNvSpPr txBox="1"/>
          <p:nvPr/>
        </p:nvSpPr>
        <p:spPr>
          <a:xfrm>
            <a:off x="5213850" y="725250"/>
            <a:ext cx="3411300" cy="3464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0"/>
              </a:spcAft>
              <a:buNone/>
            </a:pPr>
            <a:r>
              <a:rPr b="1" lang="en" sz="1300">
                <a:solidFill>
                  <a:schemeClr val="dk1"/>
                </a:solidFill>
                <a:latin typeface="Calibri"/>
                <a:ea typeface="Calibri"/>
                <a:cs typeface="Calibri"/>
                <a:sym typeface="Calibri"/>
              </a:rPr>
              <a:t>Making Predictions with GNNs</a:t>
            </a:r>
            <a:endParaRPr b="1" sz="1300">
              <a:solidFill>
                <a:schemeClr val="dk1"/>
              </a:solidFill>
              <a:latin typeface="Calibri"/>
              <a:ea typeface="Calibri"/>
              <a:cs typeface="Calibri"/>
              <a:sym typeface="Calibri"/>
            </a:endParaRPr>
          </a:p>
          <a:p>
            <a:pPr indent="-298450" lvl="0" marL="457200" rtl="0" algn="l">
              <a:lnSpc>
                <a:spcPct val="115000"/>
              </a:lnSpc>
              <a:spcBef>
                <a:spcPts val="120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After a GNN updates graph embeddings, we use them for prediction.</a:t>
            </a:r>
            <a:endParaRPr sz="1100">
              <a:solidFill>
                <a:schemeClr val="dk1"/>
              </a:solidFill>
              <a:latin typeface="Calibri"/>
              <a:ea typeface="Calibri"/>
              <a:cs typeface="Calibri"/>
              <a:sym typeface="Calibri"/>
            </a:endParaRPr>
          </a:p>
          <a:p>
            <a:pPr indent="-298450" lvl="0" marL="457200" rtl="0" algn="l">
              <a:lnSpc>
                <a:spcPct val="115000"/>
              </a:lnSpc>
              <a:spcBef>
                <a:spcPts val="0"/>
              </a:spcBef>
              <a:spcAft>
                <a:spcPts val="0"/>
              </a:spcAft>
              <a:buClr>
                <a:schemeClr val="dk1"/>
              </a:buClr>
              <a:buSzPts val="1100"/>
              <a:buChar char="●"/>
            </a:pPr>
            <a:r>
              <a:rPr lang="en" sz="1100">
                <a:solidFill>
                  <a:schemeClr val="dk1"/>
                </a:solidFill>
                <a:latin typeface="Calibri"/>
                <a:ea typeface="Calibri"/>
                <a:cs typeface="Calibri"/>
                <a:sym typeface="Calibri"/>
              </a:rPr>
              <a:t>For </a:t>
            </a:r>
            <a:r>
              <a:rPr b="1" lang="en" sz="1100">
                <a:solidFill>
                  <a:schemeClr val="dk1"/>
                </a:solidFill>
                <a:latin typeface="Calibri"/>
                <a:ea typeface="Calibri"/>
                <a:cs typeface="Calibri"/>
                <a:sym typeface="Calibri"/>
              </a:rPr>
              <a:t>binary node classification</a:t>
            </a:r>
            <a:r>
              <a:rPr lang="en" sz="1100">
                <a:solidFill>
                  <a:schemeClr val="dk1"/>
                </a:solidFill>
                <a:latin typeface="Calibri"/>
                <a:ea typeface="Calibri"/>
                <a:cs typeface="Calibri"/>
                <a:sym typeface="Calibri"/>
              </a:rPr>
              <a:t>:</a:t>
            </a:r>
            <a:endParaRPr sz="1100">
              <a:solidFill>
                <a:schemeClr val="dk1"/>
              </a:solidFill>
              <a:latin typeface="Calibri"/>
              <a:ea typeface="Calibri"/>
              <a:cs typeface="Calibri"/>
              <a:sym typeface="Calibri"/>
            </a:endParaRPr>
          </a:p>
          <a:p>
            <a:pPr indent="-298450" lvl="1" marL="914400" rtl="0" algn="l">
              <a:lnSpc>
                <a:spcPct val="115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Take each node embedding.</a:t>
            </a:r>
            <a:endParaRPr sz="1100">
              <a:solidFill>
                <a:schemeClr val="dk1"/>
              </a:solidFill>
              <a:latin typeface="Calibri"/>
              <a:ea typeface="Calibri"/>
              <a:cs typeface="Calibri"/>
              <a:sym typeface="Calibri"/>
            </a:endParaRPr>
          </a:p>
          <a:p>
            <a:pPr indent="-298450" lvl="1" marL="914400" rtl="0" algn="l">
              <a:lnSpc>
                <a:spcPct val="115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Apply a linear classifier.</a:t>
            </a:r>
            <a:endParaRPr sz="1100">
              <a:solidFill>
                <a:schemeClr val="dk1"/>
              </a:solidFill>
              <a:latin typeface="Calibri"/>
              <a:ea typeface="Calibri"/>
              <a:cs typeface="Calibri"/>
              <a:sym typeface="Calibri"/>
            </a:endParaRPr>
          </a:p>
          <a:p>
            <a:pPr indent="-298450" lvl="1" marL="914400" rtl="0" algn="l">
              <a:lnSpc>
                <a:spcPct val="115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Output a class label for each node.</a:t>
            </a:r>
            <a:endParaRPr sz="1100">
              <a:solidFill>
                <a:schemeClr val="dk1"/>
              </a:solidFill>
              <a:latin typeface="Calibri"/>
              <a:ea typeface="Calibri"/>
              <a:cs typeface="Calibri"/>
              <a:sym typeface="Calibri"/>
            </a:endParaRPr>
          </a:p>
          <a:p>
            <a:pPr indent="-298450" lvl="0" marL="457200" rtl="0" algn="l">
              <a:lnSpc>
                <a:spcPct val="115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This can also be extended to:</a:t>
            </a:r>
            <a:endParaRPr sz="1100">
              <a:solidFill>
                <a:schemeClr val="dk1"/>
              </a:solidFill>
              <a:latin typeface="Calibri"/>
              <a:ea typeface="Calibri"/>
              <a:cs typeface="Calibri"/>
              <a:sym typeface="Calibri"/>
            </a:endParaRPr>
          </a:p>
          <a:p>
            <a:pPr indent="-298450" lvl="1" marL="914400" rtl="0" algn="l">
              <a:lnSpc>
                <a:spcPct val="115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Multi-class classification</a:t>
            </a:r>
            <a:endParaRPr sz="1100">
              <a:solidFill>
                <a:schemeClr val="dk1"/>
              </a:solidFill>
              <a:latin typeface="Calibri"/>
              <a:ea typeface="Calibri"/>
              <a:cs typeface="Calibri"/>
              <a:sym typeface="Calibri"/>
            </a:endParaRPr>
          </a:p>
          <a:p>
            <a:pPr indent="-298450" lvl="1" marL="914400" rtl="0" algn="l">
              <a:lnSpc>
                <a:spcPct val="115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Regression tasks</a:t>
            </a:r>
            <a:endParaRPr sz="1100">
              <a:solidFill>
                <a:schemeClr val="dk1"/>
              </a:solidFill>
              <a:latin typeface="Calibri"/>
              <a:ea typeface="Calibri"/>
              <a:cs typeface="Calibri"/>
              <a:sym typeface="Calibri"/>
            </a:endParaRPr>
          </a:p>
          <a:p>
            <a:pPr indent="-298450" lvl="0" marL="457200" rtl="0" algn="l">
              <a:lnSpc>
                <a:spcPct val="115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Prediction is easy when the required information is already stored in the target component.</a:t>
            </a:r>
            <a:endParaRPr sz="1100">
              <a:solidFill>
                <a:schemeClr val="dk1"/>
              </a:solidFill>
              <a:latin typeface="Calibri"/>
              <a:ea typeface="Calibri"/>
              <a:cs typeface="Calibri"/>
              <a:sym typeface="Calibri"/>
            </a:endParaRPr>
          </a:p>
          <a:p>
            <a:pPr indent="-298450" lvl="0" marL="457200" rtl="0" algn="l">
              <a:lnSpc>
                <a:spcPct val="115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Example:</a:t>
            </a:r>
            <a:endParaRPr sz="1100">
              <a:solidFill>
                <a:schemeClr val="dk1"/>
              </a:solidFill>
              <a:latin typeface="Calibri"/>
              <a:ea typeface="Calibri"/>
              <a:cs typeface="Calibri"/>
              <a:sym typeface="Calibri"/>
            </a:endParaRPr>
          </a:p>
          <a:p>
            <a:pPr indent="-298450" lvl="1" marL="914400" rtl="0" algn="l">
              <a:lnSpc>
                <a:spcPct val="115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Node prediction is straightforward if node embeddings contain useful information.</a:t>
            </a:r>
            <a:endParaRPr b="1" sz="1200">
              <a:solidFill>
                <a:schemeClr val="dk1"/>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34"/>
          <p:cNvSpPr txBox="1"/>
          <p:nvPr/>
        </p:nvSpPr>
        <p:spPr>
          <a:xfrm>
            <a:off x="215425" y="245950"/>
            <a:ext cx="77454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800">
                <a:solidFill>
                  <a:schemeClr val="dk1"/>
                </a:solidFill>
                <a:latin typeface="Calibri"/>
                <a:ea typeface="Calibri"/>
                <a:cs typeface="Calibri"/>
                <a:sym typeface="Calibri"/>
              </a:rPr>
              <a:t>Node-level prediction using a GNN</a:t>
            </a:r>
            <a:endParaRPr b="1" sz="1800">
              <a:solidFill>
                <a:schemeClr val="dk1"/>
              </a:solidFill>
              <a:latin typeface="Calibri"/>
              <a:ea typeface="Calibri"/>
              <a:cs typeface="Calibri"/>
              <a:sym typeface="Calibri"/>
            </a:endParaRPr>
          </a:p>
        </p:txBody>
      </p:sp>
      <p:sp>
        <p:nvSpPr>
          <p:cNvPr id="224" name="Google Shape;224;p34"/>
          <p:cNvSpPr txBox="1"/>
          <p:nvPr/>
        </p:nvSpPr>
        <p:spPr>
          <a:xfrm>
            <a:off x="340000" y="792150"/>
            <a:ext cx="84396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5" name="Google Shape;225;p34"/>
          <p:cNvSpPr txBox="1"/>
          <p:nvPr/>
        </p:nvSpPr>
        <p:spPr>
          <a:xfrm>
            <a:off x="106575" y="792150"/>
            <a:ext cx="8756100" cy="354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t/>
            </a:r>
            <a:endParaRPr sz="1100">
              <a:solidFill>
                <a:schemeClr val="dk1"/>
              </a:solidFill>
            </a:endParaRPr>
          </a:p>
        </p:txBody>
      </p:sp>
      <p:sp>
        <p:nvSpPr>
          <p:cNvPr id="226" name="Google Shape;226;p34"/>
          <p:cNvSpPr txBox="1"/>
          <p:nvPr/>
        </p:nvSpPr>
        <p:spPr>
          <a:xfrm>
            <a:off x="395650" y="747350"/>
            <a:ext cx="50643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800">
              <a:solidFill>
                <a:schemeClr val="dk2"/>
              </a:solidFill>
            </a:endParaRPr>
          </a:p>
        </p:txBody>
      </p:sp>
      <p:sp>
        <p:nvSpPr>
          <p:cNvPr id="227" name="Google Shape;227;p34"/>
          <p:cNvSpPr txBox="1"/>
          <p:nvPr/>
        </p:nvSpPr>
        <p:spPr>
          <a:xfrm>
            <a:off x="215425" y="596700"/>
            <a:ext cx="4462200" cy="4198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Clr>
                <a:schemeClr val="dk1"/>
              </a:buClr>
              <a:buSzPts val="1100"/>
              <a:buFont typeface="Arial"/>
              <a:buNone/>
            </a:pPr>
            <a:r>
              <a:rPr lang="en" sz="1100">
                <a:solidFill>
                  <a:schemeClr val="dk1"/>
                </a:solidFill>
                <a:latin typeface="Calibri"/>
                <a:ea typeface="Calibri"/>
                <a:cs typeface="Calibri"/>
                <a:sym typeface="Calibri"/>
              </a:rPr>
              <a:t>On the left, we have the </a:t>
            </a:r>
            <a:r>
              <a:rPr b="1" lang="en" sz="1100">
                <a:solidFill>
                  <a:schemeClr val="dk1"/>
                </a:solidFill>
                <a:latin typeface="Calibri"/>
                <a:ea typeface="Calibri"/>
                <a:cs typeface="Calibri"/>
                <a:sym typeface="Calibri"/>
              </a:rPr>
              <a:t>final GNN layer output</a:t>
            </a:r>
            <a:r>
              <a:rPr lang="en" sz="1100">
                <a:solidFill>
                  <a:schemeClr val="dk1"/>
                </a:solidFill>
                <a:latin typeface="Calibri"/>
                <a:ea typeface="Calibri"/>
                <a:cs typeface="Calibri"/>
                <a:sym typeface="Calibri"/>
              </a:rPr>
              <a:t>. Each node already has a learned </a:t>
            </a:r>
            <a:r>
              <a:rPr b="1" lang="en" sz="1100">
                <a:solidFill>
                  <a:schemeClr val="dk1"/>
                </a:solidFill>
                <a:latin typeface="Calibri"/>
                <a:ea typeface="Calibri"/>
                <a:cs typeface="Calibri"/>
                <a:sym typeface="Calibri"/>
              </a:rPr>
              <a:t>node embedding</a:t>
            </a:r>
            <a:r>
              <a:rPr lang="en" sz="1100">
                <a:solidFill>
                  <a:schemeClr val="dk1"/>
                </a:solidFill>
                <a:latin typeface="Calibri"/>
                <a:ea typeface="Calibri"/>
                <a:cs typeface="Calibri"/>
                <a:sym typeface="Calibri"/>
              </a:rPr>
              <a:t>. These embeddings are shown as node vectors, represented by the yellow nodes.</a:t>
            </a:r>
            <a:endParaRPr sz="1100">
              <a:solidFill>
                <a:schemeClr val="dk1"/>
              </a:solidFill>
              <a:latin typeface="Calibri"/>
              <a:ea typeface="Calibri"/>
              <a:cs typeface="Calibri"/>
              <a:sym typeface="Calibri"/>
            </a:endParaRPr>
          </a:p>
          <a:p>
            <a:pPr indent="0" lvl="0" marL="0" rtl="0" algn="l">
              <a:lnSpc>
                <a:spcPct val="115000"/>
              </a:lnSpc>
              <a:spcBef>
                <a:spcPts val="1200"/>
              </a:spcBef>
              <a:spcAft>
                <a:spcPts val="0"/>
              </a:spcAft>
              <a:buClr>
                <a:schemeClr val="dk1"/>
              </a:buClr>
              <a:buSzPts val="1100"/>
              <a:buFont typeface="Arial"/>
              <a:buNone/>
            </a:pPr>
            <a:r>
              <a:rPr lang="en" sz="1100">
                <a:solidFill>
                  <a:schemeClr val="dk1"/>
                </a:solidFill>
                <a:latin typeface="Calibri"/>
                <a:ea typeface="Calibri"/>
                <a:cs typeface="Calibri"/>
                <a:sym typeface="Calibri"/>
              </a:rPr>
              <a:t>The middle arrow shows a </a:t>
            </a:r>
            <a:r>
              <a:rPr b="1" lang="en" sz="1100">
                <a:solidFill>
                  <a:schemeClr val="dk1"/>
                </a:solidFill>
                <a:latin typeface="Calibri"/>
                <a:ea typeface="Calibri"/>
                <a:cs typeface="Calibri"/>
                <a:sym typeface="Calibri"/>
              </a:rPr>
              <a:t>classifier</a:t>
            </a:r>
            <a:r>
              <a:rPr lang="en" sz="1100">
                <a:solidFill>
                  <a:schemeClr val="dk1"/>
                </a:solidFill>
                <a:latin typeface="Calibri"/>
                <a:ea typeface="Calibri"/>
                <a:cs typeface="Calibri"/>
                <a:sym typeface="Calibri"/>
              </a:rPr>
              <a:t> being applied to each node embedding. In simple terms:</a:t>
            </a:r>
            <a:endParaRPr sz="1100">
              <a:solidFill>
                <a:schemeClr val="dk1"/>
              </a:solidFill>
              <a:latin typeface="Calibri"/>
              <a:ea typeface="Calibri"/>
              <a:cs typeface="Calibri"/>
              <a:sym typeface="Calibri"/>
            </a:endParaRPr>
          </a:p>
          <a:p>
            <a:pPr indent="-298450" lvl="0" marL="457200" rtl="0" algn="l">
              <a:lnSpc>
                <a:spcPct val="115000"/>
              </a:lnSpc>
              <a:spcBef>
                <a:spcPts val="1200"/>
              </a:spcBef>
              <a:spcAft>
                <a:spcPts val="0"/>
              </a:spcAft>
              <a:buClr>
                <a:schemeClr val="dk1"/>
              </a:buClr>
              <a:buSzPts val="1100"/>
              <a:buChar char="●"/>
            </a:pPr>
            <a:r>
              <a:rPr lang="en" sz="1100">
                <a:solidFill>
                  <a:schemeClr val="dk1"/>
                </a:solidFill>
                <a:latin typeface="Calibri"/>
                <a:ea typeface="Calibri"/>
                <a:cs typeface="Calibri"/>
                <a:sym typeface="Calibri"/>
              </a:rPr>
              <a:t>Take each node embedding v_n</a:t>
            </a:r>
            <a:endParaRPr sz="1100">
              <a:solidFill>
                <a:schemeClr val="dk1"/>
              </a:solidFill>
              <a:latin typeface="Calibri"/>
              <a:ea typeface="Calibri"/>
              <a:cs typeface="Calibri"/>
              <a:sym typeface="Calibri"/>
            </a:endParaRPr>
          </a:p>
          <a:p>
            <a:pPr indent="-298450" lvl="0" marL="457200" rtl="0" algn="l">
              <a:lnSpc>
                <a:spcPct val="115000"/>
              </a:lnSpc>
              <a:spcBef>
                <a:spcPts val="0"/>
              </a:spcBef>
              <a:spcAft>
                <a:spcPts val="0"/>
              </a:spcAft>
              <a:buClr>
                <a:schemeClr val="dk1"/>
              </a:buClr>
              <a:buSzPts val="1100"/>
              <a:buChar char="●"/>
            </a:pPr>
            <a:r>
              <a:rPr lang="en" sz="1100">
                <a:solidFill>
                  <a:schemeClr val="dk1"/>
                </a:solidFill>
                <a:latin typeface="Calibri"/>
                <a:ea typeface="Calibri"/>
                <a:cs typeface="Calibri"/>
                <a:sym typeface="Calibri"/>
              </a:rPr>
              <a:t>Pass it through a classifier C</a:t>
            </a:r>
            <a:endParaRPr sz="1100">
              <a:solidFill>
                <a:schemeClr val="dk1"/>
              </a:solidFill>
              <a:latin typeface="Calibri"/>
              <a:ea typeface="Calibri"/>
              <a:cs typeface="Calibri"/>
              <a:sym typeface="Calibri"/>
            </a:endParaRPr>
          </a:p>
          <a:p>
            <a:pPr indent="-298450" lvl="0" marL="457200" rtl="0" algn="l">
              <a:lnSpc>
                <a:spcPct val="115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Produce a prediction for that node</a:t>
            </a:r>
            <a:endParaRPr sz="1100">
              <a:solidFill>
                <a:schemeClr val="dk1"/>
              </a:solidFill>
              <a:latin typeface="Calibri"/>
              <a:ea typeface="Calibri"/>
              <a:cs typeface="Calibri"/>
              <a:sym typeface="Calibri"/>
            </a:endParaRPr>
          </a:p>
          <a:p>
            <a:pPr indent="0" lvl="0" marL="0" rtl="0" algn="l">
              <a:lnSpc>
                <a:spcPct val="115000"/>
              </a:lnSpc>
              <a:spcBef>
                <a:spcPts val="1200"/>
              </a:spcBef>
              <a:spcAft>
                <a:spcPts val="0"/>
              </a:spcAft>
              <a:buClr>
                <a:schemeClr val="dk1"/>
              </a:buClr>
              <a:buSzPts val="1100"/>
              <a:buFont typeface="Arial"/>
              <a:buNone/>
            </a:pPr>
            <a:r>
              <a:rPr lang="en" sz="1100">
                <a:solidFill>
                  <a:schemeClr val="dk1"/>
                </a:solidFill>
                <a:latin typeface="Calibri"/>
                <a:ea typeface="Calibri"/>
                <a:cs typeface="Calibri"/>
                <a:sym typeface="Calibri"/>
              </a:rPr>
              <a:t>So the GNN does not directly output the final class. First, it produces useful node embeddings. Then, a classifier converts those embeddings into labels.</a:t>
            </a:r>
            <a:endParaRPr sz="1100">
              <a:solidFill>
                <a:schemeClr val="dk1"/>
              </a:solidFill>
              <a:latin typeface="Calibri"/>
              <a:ea typeface="Calibri"/>
              <a:cs typeface="Calibri"/>
              <a:sym typeface="Calibri"/>
            </a:endParaRPr>
          </a:p>
          <a:p>
            <a:pPr indent="0" lvl="0" marL="0" rtl="0" algn="l">
              <a:lnSpc>
                <a:spcPct val="115000"/>
              </a:lnSpc>
              <a:spcBef>
                <a:spcPts val="1200"/>
              </a:spcBef>
              <a:spcAft>
                <a:spcPts val="0"/>
              </a:spcAft>
              <a:buClr>
                <a:schemeClr val="dk1"/>
              </a:buClr>
              <a:buSzPts val="1100"/>
              <a:buFont typeface="Arial"/>
              <a:buNone/>
            </a:pPr>
            <a:r>
              <a:rPr lang="en" sz="1100">
                <a:solidFill>
                  <a:schemeClr val="dk1"/>
                </a:solidFill>
                <a:latin typeface="Calibri"/>
                <a:ea typeface="Calibri"/>
                <a:cs typeface="Calibri"/>
                <a:sym typeface="Calibri"/>
              </a:rPr>
              <a:t>On the right, we get </a:t>
            </a:r>
            <a:r>
              <a:rPr b="1" lang="en" sz="1100">
                <a:solidFill>
                  <a:schemeClr val="dk1"/>
                </a:solidFill>
                <a:latin typeface="Calibri"/>
                <a:ea typeface="Calibri"/>
                <a:cs typeface="Calibri"/>
                <a:sym typeface="Calibri"/>
              </a:rPr>
              <a:t>node predictions</a:t>
            </a:r>
            <a:r>
              <a:rPr lang="en" sz="1100">
                <a:solidFill>
                  <a:schemeClr val="dk1"/>
                </a:solidFill>
                <a:latin typeface="Calibri"/>
                <a:ea typeface="Calibri"/>
                <a:cs typeface="Calibri"/>
                <a:sym typeface="Calibri"/>
              </a:rPr>
              <a:t>. Each node is assigned a class label, shown using different colors. For example:</a:t>
            </a:r>
            <a:endParaRPr sz="1100">
              <a:solidFill>
                <a:schemeClr val="dk1"/>
              </a:solidFill>
              <a:latin typeface="Calibri"/>
              <a:ea typeface="Calibri"/>
              <a:cs typeface="Calibri"/>
              <a:sym typeface="Calibri"/>
            </a:endParaRPr>
          </a:p>
          <a:p>
            <a:pPr indent="-298450" lvl="0" marL="457200" rtl="0" algn="l">
              <a:lnSpc>
                <a:spcPct val="115000"/>
              </a:lnSpc>
              <a:spcBef>
                <a:spcPts val="120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Teal nodes may represent one class.</a:t>
            </a:r>
            <a:endParaRPr sz="1100">
              <a:solidFill>
                <a:schemeClr val="dk1"/>
              </a:solidFill>
              <a:latin typeface="Calibri"/>
              <a:ea typeface="Calibri"/>
              <a:cs typeface="Calibri"/>
              <a:sym typeface="Calibri"/>
            </a:endParaRPr>
          </a:p>
          <a:p>
            <a:pPr indent="-298450" lvl="0" marL="457200" rtl="0" algn="l">
              <a:lnSpc>
                <a:spcPct val="115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Red nodes may represent another class.</a:t>
            </a:r>
            <a:endParaRPr sz="1100">
              <a:solidFill>
                <a:schemeClr val="dk1"/>
              </a:solidFill>
              <a:latin typeface="Calibri"/>
              <a:ea typeface="Calibri"/>
              <a:cs typeface="Calibri"/>
              <a:sym typeface="Calibri"/>
            </a:endParaRPr>
          </a:p>
          <a:p>
            <a:pPr indent="0" lvl="0" marL="0" rtl="0" algn="l">
              <a:lnSpc>
                <a:spcPct val="115000"/>
              </a:lnSpc>
              <a:spcBef>
                <a:spcPts val="1200"/>
              </a:spcBef>
              <a:spcAft>
                <a:spcPts val="1200"/>
              </a:spcAft>
              <a:buNone/>
            </a:pPr>
            <a:r>
              <a:rPr lang="en" sz="1100">
                <a:solidFill>
                  <a:schemeClr val="dk1"/>
                </a:solidFill>
                <a:latin typeface="Calibri"/>
                <a:ea typeface="Calibri"/>
                <a:cs typeface="Calibri"/>
                <a:sym typeface="Calibri"/>
              </a:rPr>
              <a:t>A GNN learns node embeddings from the graph, then a classifier uses those embeddings to predict a label for each node.</a:t>
            </a:r>
            <a:endParaRPr b="1" sz="1300">
              <a:solidFill>
                <a:schemeClr val="dk1"/>
              </a:solidFill>
              <a:latin typeface="Calibri"/>
              <a:ea typeface="Calibri"/>
              <a:cs typeface="Calibri"/>
              <a:sym typeface="Calibri"/>
            </a:endParaRPr>
          </a:p>
        </p:txBody>
      </p:sp>
      <p:pic>
        <p:nvPicPr>
          <p:cNvPr id="228" name="Google Shape;228;p34"/>
          <p:cNvPicPr preferRelativeResize="0"/>
          <p:nvPr/>
        </p:nvPicPr>
        <p:blipFill>
          <a:blip r:embed="rId3">
            <a:alphaModFix/>
          </a:blip>
          <a:stretch>
            <a:fillRect/>
          </a:stretch>
        </p:blipFill>
        <p:spPr>
          <a:xfrm>
            <a:off x="4572000" y="1441425"/>
            <a:ext cx="4161574" cy="1949196"/>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35"/>
          <p:cNvSpPr txBox="1"/>
          <p:nvPr/>
        </p:nvSpPr>
        <p:spPr>
          <a:xfrm>
            <a:off x="259375" y="263550"/>
            <a:ext cx="77454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800">
                <a:solidFill>
                  <a:schemeClr val="dk1"/>
                </a:solidFill>
                <a:latin typeface="Calibri"/>
                <a:ea typeface="Calibri"/>
                <a:cs typeface="Calibri"/>
                <a:sym typeface="Calibri"/>
              </a:rPr>
              <a:t>Pooling - Routing Information for Prediction</a:t>
            </a:r>
            <a:endParaRPr b="1" sz="1800">
              <a:solidFill>
                <a:schemeClr val="dk1"/>
              </a:solidFill>
              <a:latin typeface="Calibri"/>
              <a:ea typeface="Calibri"/>
              <a:cs typeface="Calibri"/>
              <a:sym typeface="Calibri"/>
            </a:endParaRPr>
          </a:p>
        </p:txBody>
      </p:sp>
      <p:sp>
        <p:nvSpPr>
          <p:cNvPr id="234" name="Google Shape;234;p35"/>
          <p:cNvSpPr txBox="1"/>
          <p:nvPr/>
        </p:nvSpPr>
        <p:spPr>
          <a:xfrm>
            <a:off x="340000" y="792150"/>
            <a:ext cx="84396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5" name="Google Shape;235;p35"/>
          <p:cNvSpPr txBox="1"/>
          <p:nvPr/>
        </p:nvSpPr>
        <p:spPr>
          <a:xfrm>
            <a:off x="106575" y="792150"/>
            <a:ext cx="8756100" cy="354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t/>
            </a:r>
            <a:endParaRPr sz="1100">
              <a:solidFill>
                <a:schemeClr val="dk1"/>
              </a:solidFill>
            </a:endParaRPr>
          </a:p>
        </p:txBody>
      </p:sp>
      <p:sp>
        <p:nvSpPr>
          <p:cNvPr id="236" name="Google Shape;236;p35"/>
          <p:cNvSpPr txBox="1"/>
          <p:nvPr/>
        </p:nvSpPr>
        <p:spPr>
          <a:xfrm>
            <a:off x="395650" y="747350"/>
            <a:ext cx="50643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800">
              <a:solidFill>
                <a:schemeClr val="dk2"/>
              </a:solidFill>
            </a:endParaRPr>
          </a:p>
        </p:txBody>
      </p:sp>
      <p:sp>
        <p:nvSpPr>
          <p:cNvPr id="237" name="Google Shape;237;p35"/>
          <p:cNvSpPr txBox="1"/>
          <p:nvPr/>
        </p:nvSpPr>
        <p:spPr>
          <a:xfrm>
            <a:off x="340000" y="792150"/>
            <a:ext cx="8276400" cy="4248300"/>
          </a:xfrm>
          <a:prstGeom prst="rect">
            <a:avLst/>
          </a:prstGeom>
          <a:noFill/>
          <a:ln>
            <a:noFill/>
          </a:ln>
        </p:spPr>
        <p:txBody>
          <a:bodyPr anchorCtr="0" anchor="t" bIns="91425" lIns="91425" spcFirstLastPara="1" rIns="91425" wrap="square" tIns="91425">
            <a:spAutoFit/>
          </a:bodyPr>
          <a:lstStyle/>
          <a:p>
            <a:pPr indent="-298450" lvl="0" marL="457200" rtl="0" algn="l">
              <a:lnSpc>
                <a:spcPct val="115000"/>
              </a:lnSpc>
              <a:spcBef>
                <a:spcPts val="1200"/>
              </a:spcBef>
              <a:spcAft>
                <a:spcPts val="0"/>
              </a:spcAft>
              <a:buClr>
                <a:schemeClr val="dk1"/>
              </a:buClr>
              <a:buSzPts val="1100"/>
              <a:buChar char="●"/>
            </a:pPr>
            <a:r>
              <a:rPr lang="en" sz="1100">
                <a:solidFill>
                  <a:schemeClr val="dk1"/>
                </a:solidFill>
              </a:rPr>
              <a:t>Pooling is used when useful information is stored in one graph component, but prediction is needed in another.</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 sz="1100">
                <a:solidFill>
                  <a:schemeClr val="dk1"/>
                </a:solidFill>
              </a:rPr>
              <a:t>Example:</a:t>
            </a:r>
            <a:endParaRPr sz="1100">
              <a:solidFill>
                <a:schemeClr val="dk1"/>
              </a:solidFill>
            </a:endParaRPr>
          </a:p>
          <a:p>
            <a:pPr indent="-298450" lvl="1" marL="914400" rtl="0" algn="l">
              <a:lnSpc>
                <a:spcPct val="115000"/>
              </a:lnSpc>
              <a:spcBef>
                <a:spcPts val="0"/>
              </a:spcBef>
              <a:spcAft>
                <a:spcPts val="0"/>
              </a:spcAft>
              <a:buClr>
                <a:schemeClr val="dk1"/>
              </a:buClr>
              <a:buSzPts val="1100"/>
              <a:buChar char="○"/>
            </a:pPr>
            <a:r>
              <a:rPr lang="en" sz="1100">
                <a:solidFill>
                  <a:schemeClr val="dk1"/>
                </a:solidFill>
              </a:rPr>
              <a:t>Edge features contain important information.</a:t>
            </a:r>
            <a:endParaRPr sz="1100">
              <a:solidFill>
                <a:schemeClr val="dk1"/>
              </a:solidFill>
            </a:endParaRPr>
          </a:p>
          <a:p>
            <a:pPr indent="-298450" lvl="1" marL="914400" rtl="0" algn="l">
              <a:lnSpc>
                <a:spcPct val="115000"/>
              </a:lnSpc>
              <a:spcBef>
                <a:spcPts val="0"/>
              </a:spcBef>
              <a:spcAft>
                <a:spcPts val="0"/>
              </a:spcAft>
              <a:buClr>
                <a:schemeClr val="dk1"/>
              </a:buClr>
              <a:buSzPts val="1100"/>
              <a:buChar char="○"/>
            </a:pPr>
            <a:r>
              <a:rPr lang="en" sz="1100">
                <a:solidFill>
                  <a:schemeClr val="dk1"/>
                </a:solidFill>
              </a:rPr>
              <a:t>But the task requires </a:t>
            </a:r>
            <a:r>
              <a:rPr b="1" lang="en" sz="1100">
                <a:solidFill>
                  <a:schemeClr val="dk1"/>
                </a:solidFill>
              </a:rPr>
              <a:t>node-level prediction</a:t>
            </a:r>
            <a:r>
              <a:rPr lang="en" sz="1100">
                <a:solidFill>
                  <a:schemeClr val="dk1"/>
                </a:solidFill>
              </a:rPr>
              <a:t>.</a:t>
            </a:r>
            <a:endParaRPr sz="1100">
              <a:solidFill>
                <a:schemeClr val="dk1"/>
              </a:solidFill>
            </a:endParaRPr>
          </a:p>
          <a:p>
            <a:pPr indent="-298450" lvl="1" marL="914400" rtl="0" algn="l">
              <a:lnSpc>
                <a:spcPct val="115000"/>
              </a:lnSpc>
              <a:spcBef>
                <a:spcPts val="0"/>
              </a:spcBef>
              <a:spcAft>
                <a:spcPts val="0"/>
              </a:spcAft>
              <a:buClr>
                <a:schemeClr val="dk1"/>
              </a:buClr>
              <a:buSzPts val="1100"/>
              <a:buChar char="○"/>
            </a:pPr>
            <a:r>
              <a:rPr lang="en" sz="1100">
                <a:solidFill>
                  <a:schemeClr val="dk1"/>
                </a:solidFill>
              </a:rPr>
              <a:t>So, edge information must be collected and passed to nodes.</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 sz="1100">
                <a:solidFill>
                  <a:schemeClr val="dk1"/>
                </a:solidFill>
              </a:rPr>
              <a:t>Pooling transfers information across graph components:</a:t>
            </a:r>
            <a:endParaRPr sz="1100">
              <a:solidFill>
                <a:schemeClr val="dk1"/>
              </a:solidFill>
            </a:endParaRPr>
          </a:p>
          <a:p>
            <a:pPr indent="-298450" lvl="1" marL="914400" rtl="0" algn="l">
              <a:lnSpc>
                <a:spcPct val="115000"/>
              </a:lnSpc>
              <a:spcBef>
                <a:spcPts val="0"/>
              </a:spcBef>
              <a:spcAft>
                <a:spcPts val="0"/>
              </a:spcAft>
              <a:buClr>
                <a:schemeClr val="dk1"/>
              </a:buClr>
              <a:buSzPts val="1100"/>
              <a:buChar char="○"/>
            </a:pPr>
            <a:r>
              <a:rPr b="1" lang="en" sz="1100">
                <a:solidFill>
                  <a:schemeClr val="dk1"/>
                </a:solidFill>
              </a:rPr>
              <a:t>Edges → Nodes</a:t>
            </a:r>
            <a:endParaRPr b="1" sz="1100">
              <a:solidFill>
                <a:schemeClr val="dk1"/>
              </a:solidFill>
            </a:endParaRPr>
          </a:p>
          <a:p>
            <a:pPr indent="-298450" lvl="1" marL="914400" rtl="0" algn="l">
              <a:lnSpc>
                <a:spcPct val="115000"/>
              </a:lnSpc>
              <a:spcBef>
                <a:spcPts val="0"/>
              </a:spcBef>
              <a:spcAft>
                <a:spcPts val="0"/>
              </a:spcAft>
              <a:buClr>
                <a:schemeClr val="dk1"/>
              </a:buClr>
              <a:buSzPts val="1100"/>
              <a:buChar char="○"/>
            </a:pPr>
            <a:r>
              <a:rPr b="1" lang="en" sz="1100">
                <a:solidFill>
                  <a:schemeClr val="dk1"/>
                </a:solidFill>
              </a:rPr>
              <a:t>Nodes → Edges</a:t>
            </a:r>
            <a:endParaRPr b="1" sz="1100">
              <a:solidFill>
                <a:schemeClr val="dk1"/>
              </a:solidFill>
            </a:endParaRPr>
          </a:p>
          <a:p>
            <a:pPr indent="-298450" lvl="1" marL="914400" rtl="0" algn="l">
              <a:lnSpc>
                <a:spcPct val="115000"/>
              </a:lnSpc>
              <a:spcBef>
                <a:spcPts val="0"/>
              </a:spcBef>
              <a:spcAft>
                <a:spcPts val="0"/>
              </a:spcAft>
              <a:buClr>
                <a:schemeClr val="dk1"/>
              </a:buClr>
              <a:buSzPts val="1100"/>
              <a:buChar char="○"/>
            </a:pPr>
            <a:r>
              <a:rPr b="1" lang="en" sz="1100">
                <a:solidFill>
                  <a:schemeClr val="dk1"/>
                </a:solidFill>
              </a:rPr>
              <a:t>Nodes/Edges → Global</a:t>
            </a:r>
            <a:endParaRPr b="1"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 sz="1100">
                <a:solidFill>
                  <a:schemeClr val="dk1"/>
                </a:solidFill>
              </a:rPr>
              <a:t>Pooling has two main steps:</a:t>
            </a:r>
            <a:endParaRPr sz="1100">
              <a:solidFill>
                <a:schemeClr val="dk1"/>
              </a:solidFill>
            </a:endParaRPr>
          </a:p>
          <a:p>
            <a:pPr indent="-298450" lvl="1" marL="914400" rtl="0" algn="l">
              <a:lnSpc>
                <a:spcPct val="115000"/>
              </a:lnSpc>
              <a:spcBef>
                <a:spcPts val="0"/>
              </a:spcBef>
              <a:spcAft>
                <a:spcPts val="0"/>
              </a:spcAft>
              <a:buClr>
                <a:schemeClr val="dk1"/>
              </a:buClr>
              <a:buSzPts val="1100"/>
              <a:buChar char="○"/>
            </a:pPr>
            <a:r>
              <a:rPr b="1" lang="en" sz="1100">
                <a:solidFill>
                  <a:schemeClr val="dk1"/>
                </a:solidFill>
              </a:rPr>
              <a:t>Gather:</a:t>
            </a:r>
            <a:r>
              <a:rPr lang="en" sz="1100">
                <a:solidFill>
                  <a:schemeClr val="dk1"/>
                </a:solidFill>
              </a:rPr>
              <a:t> collect relevant embeddings from neighbors or graph components.</a:t>
            </a:r>
            <a:endParaRPr sz="1100">
              <a:solidFill>
                <a:schemeClr val="dk1"/>
              </a:solidFill>
            </a:endParaRPr>
          </a:p>
          <a:p>
            <a:pPr indent="-298450" lvl="1" marL="914400" rtl="0" algn="l">
              <a:lnSpc>
                <a:spcPct val="115000"/>
              </a:lnSpc>
              <a:spcBef>
                <a:spcPts val="0"/>
              </a:spcBef>
              <a:spcAft>
                <a:spcPts val="0"/>
              </a:spcAft>
              <a:buClr>
                <a:schemeClr val="dk1"/>
              </a:buClr>
              <a:buSzPts val="1100"/>
              <a:buChar char="○"/>
            </a:pPr>
            <a:r>
              <a:rPr b="1" lang="en" sz="1100">
                <a:solidFill>
                  <a:schemeClr val="dk1"/>
                </a:solidFill>
              </a:rPr>
              <a:t>Aggregate:</a:t>
            </a:r>
            <a:r>
              <a:rPr lang="en" sz="1100">
                <a:solidFill>
                  <a:schemeClr val="dk1"/>
                </a:solidFill>
              </a:rPr>
              <a:t> combine them into one representation.</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 sz="1100">
                <a:solidFill>
                  <a:schemeClr val="dk1"/>
                </a:solidFill>
              </a:rPr>
              <a:t>The aggregation function should be </a:t>
            </a:r>
            <a:r>
              <a:rPr b="1" lang="en" sz="1100">
                <a:solidFill>
                  <a:schemeClr val="dk1"/>
                </a:solidFill>
              </a:rPr>
              <a:t>permutation-invariant</a:t>
            </a:r>
            <a:r>
              <a:rPr lang="en" sz="1100">
                <a:solidFill>
                  <a:schemeClr val="dk1"/>
                </a:solidFill>
              </a:rPr>
              <a:t>.</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 sz="1100">
                <a:solidFill>
                  <a:schemeClr val="dk1"/>
                </a:solidFill>
              </a:rPr>
              <a:t>Common aggregation method:</a:t>
            </a:r>
            <a:endParaRPr sz="1100">
              <a:solidFill>
                <a:schemeClr val="dk1"/>
              </a:solidFill>
            </a:endParaRPr>
          </a:p>
          <a:p>
            <a:pPr indent="-298450" lvl="1" marL="914400" rtl="0" algn="l">
              <a:lnSpc>
                <a:spcPct val="115000"/>
              </a:lnSpc>
              <a:spcBef>
                <a:spcPts val="0"/>
              </a:spcBef>
              <a:spcAft>
                <a:spcPts val="0"/>
              </a:spcAft>
              <a:buClr>
                <a:schemeClr val="dk1"/>
              </a:buClr>
              <a:buSzPts val="1100"/>
              <a:buChar char="○"/>
            </a:pPr>
            <a:r>
              <a:rPr b="1" lang="en" sz="1100">
                <a:solidFill>
                  <a:schemeClr val="dk1"/>
                </a:solidFill>
              </a:rPr>
              <a:t>Sum pooling</a:t>
            </a:r>
            <a:endParaRPr b="1"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 sz="1100">
                <a:solidFill>
                  <a:schemeClr val="dk1"/>
                </a:solidFill>
              </a:rPr>
              <a:t>For any prediction task:</a:t>
            </a:r>
            <a:endParaRPr sz="1100">
              <a:solidFill>
                <a:schemeClr val="dk1"/>
              </a:solidFill>
            </a:endParaRPr>
          </a:p>
          <a:p>
            <a:pPr indent="-298450" lvl="1" marL="914400" rtl="0" algn="l">
              <a:lnSpc>
                <a:spcPct val="115000"/>
              </a:lnSpc>
              <a:spcBef>
                <a:spcPts val="0"/>
              </a:spcBef>
              <a:spcAft>
                <a:spcPts val="0"/>
              </a:spcAft>
              <a:buClr>
                <a:schemeClr val="dk1"/>
              </a:buClr>
              <a:buSzPts val="1100"/>
              <a:buChar char="○"/>
            </a:pPr>
            <a:r>
              <a:rPr lang="en" sz="1100">
                <a:solidFill>
                  <a:schemeClr val="dk1"/>
                </a:solidFill>
              </a:rPr>
              <a:t>Identify where the useful data is stored.</a:t>
            </a:r>
            <a:endParaRPr sz="1100">
              <a:solidFill>
                <a:schemeClr val="dk1"/>
              </a:solidFill>
            </a:endParaRPr>
          </a:p>
          <a:p>
            <a:pPr indent="-298450" lvl="1" marL="914400" rtl="0" algn="l">
              <a:lnSpc>
                <a:spcPct val="115000"/>
              </a:lnSpc>
              <a:spcBef>
                <a:spcPts val="0"/>
              </a:spcBef>
              <a:spcAft>
                <a:spcPts val="0"/>
              </a:spcAft>
              <a:buClr>
                <a:schemeClr val="dk1"/>
              </a:buClr>
              <a:buSzPts val="1100"/>
              <a:buChar char="○"/>
            </a:pPr>
            <a:r>
              <a:rPr lang="en" sz="1100">
                <a:solidFill>
                  <a:schemeClr val="dk1"/>
                </a:solidFill>
              </a:rPr>
              <a:t>Identify where the prediction is needed.</a:t>
            </a:r>
            <a:endParaRPr sz="1100">
              <a:solidFill>
                <a:schemeClr val="dk1"/>
              </a:solidFill>
            </a:endParaRPr>
          </a:p>
          <a:p>
            <a:pPr indent="-298450" lvl="1" marL="914400" rtl="0" algn="l">
              <a:lnSpc>
                <a:spcPct val="115000"/>
              </a:lnSpc>
              <a:spcBef>
                <a:spcPts val="0"/>
              </a:spcBef>
              <a:spcAft>
                <a:spcPts val="0"/>
              </a:spcAft>
              <a:buClr>
                <a:schemeClr val="dk1"/>
              </a:buClr>
              <a:buSzPts val="1100"/>
              <a:buChar char="○"/>
            </a:pPr>
            <a:r>
              <a:rPr lang="en" sz="1100">
                <a:solidFill>
                  <a:schemeClr val="dk1"/>
                </a:solidFill>
              </a:rPr>
              <a:t>Define the correct pooling rule.</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 sz="1100">
                <a:solidFill>
                  <a:schemeClr val="dk1"/>
                </a:solidFill>
              </a:rPr>
              <a:t>Pooling helps combine information from nodes, edges, and global context for prediction.</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 sz="1100">
                <a:solidFill>
                  <a:schemeClr val="dk1"/>
                </a:solidFill>
              </a:rPr>
              <a:t>It is a reusable building block for more advanced GNN models.</a:t>
            </a:r>
            <a:endParaRPr b="1" sz="1300">
              <a:solidFill>
                <a:schemeClr val="dk1"/>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36"/>
          <p:cNvSpPr txBox="1"/>
          <p:nvPr/>
        </p:nvSpPr>
        <p:spPr>
          <a:xfrm>
            <a:off x="259375" y="263550"/>
            <a:ext cx="77454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800">
                <a:solidFill>
                  <a:schemeClr val="dk1"/>
                </a:solidFill>
                <a:latin typeface="Calibri"/>
                <a:ea typeface="Calibri"/>
                <a:cs typeface="Calibri"/>
                <a:sym typeface="Calibri"/>
              </a:rPr>
              <a:t>Pooling</a:t>
            </a:r>
            <a:endParaRPr b="1" sz="1800">
              <a:solidFill>
                <a:schemeClr val="dk1"/>
              </a:solidFill>
              <a:latin typeface="Calibri"/>
              <a:ea typeface="Calibri"/>
              <a:cs typeface="Calibri"/>
              <a:sym typeface="Calibri"/>
            </a:endParaRPr>
          </a:p>
        </p:txBody>
      </p:sp>
      <p:sp>
        <p:nvSpPr>
          <p:cNvPr id="243" name="Google Shape;243;p36"/>
          <p:cNvSpPr txBox="1"/>
          <p:nvPr/>
        </p:nvSpPr>
        <p:spPr>
          <a:xfrm>
            <a:off x="340000" y="792150"/>
            <a:ext cx="84396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4" name="Google Shape;244;p36"/>
          <p:cNvSpPr txBox="1"/>
          <p:nvPr/>
        </p:nvSpPr>
        <p:spPr>
          <a:xfrm>
            <a:off x="106575" y="792150"/>
            <a:ext cx="8756100" cy="354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t/>
            </a:r>
            <a:endParaRPr sz="1100">
              <a:solidFill>
                <a:schemeClr val="dk1"/>
              </a:solidFill>
            </a:endParaRPr>
          </a:p>
        </p:txBody>
      </p:sp>
      <p:sp>
        <p:nvSpPr>
          <p:cNvPr id="245" name="Google Shape;245;p36"/>
          <p:cNvSpPr txBox="1"/>
          <p:nvPr/>
        </p:nvSpPr>
        <p:spPr>
          <a:xfrm>
            <a:off x="395650" y="747350"/>
            <a:ext cx="50643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800">
              <a:solidFill>
                <a:schemeClr val="dk2"/>
              </a:solidFill>
            </a:endParaRPr>
          </a:p>
        </p:txBody>
      </p:sp>
      <p:pic>
        <p:nvPicPr>
          <p:cNvPr id="246" name="Google Shape;246;p36"/>
          <p:cNvPicPr preferRelativeResize="0"/>
          <p:nvPr/>
        </p:nvPicPr>
        <p:blipFill>
          <a:blip r:embed="rId3">
            <a:alphaModFix/>
          </a:blip>
          <a:stretch>
            <a:fillRect/>
          </a:stretch>
        </p:blipFill>
        <p:spPr>
          <a:xfrm>
            <a:off x="1810813" y="1014275"/>
            <a:ext cx="5627284" cy="3584851"/>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p37"/>
          <p:cNvSpPr txBox="1"/>
          <p:nvPr/>
        </p:nvSpPr>
        <p:spPr>
          <a:xfrm>
            <a:off x="259375" y="263550"/>
            <a:ext cx="77454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800">
                <a:solidFill>
                  <a:schemeClr val="dk1"/>
                </a:solidFill>
                <a:latin typeface="Calibri"/>
                <a:ea typeface="Calibri"/>
                <a:cs typeface="Calibri"/>
                <a:sym typeface="Calibri"/>
              </a:rPr>
              <a:t>Only have edge-level features</a:t>
            </a:r>
            <a:endParaRPr b="1" sz="1800">
              <a:solidFill>
                <a:schemeClr val="dk1"/>
              </a:solidFill>
              <a:latin typeface="Calibri"/>
              <a:ea typeface="Calibri"/>
              <a:cs typeface="Calibri"/>
              <a:sym typeface="Calibri"/>
            </a:endParaRPr>
          </a:p>
        </p:txBody>
      </p:sp>
      <p:sp>
        <p:nvSpPr>
          <p:cNvPr id="252" name="Google Shape;252;p37"/>
          <p:cNvSpPr txBox="1"/>
          <p:nvPr/>
        </p:nvSpPr>
        <p:spPr>
          <a:xfrm>
            <a:off x="340000" y="792150"/>
            <a:ext cx="84396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3" name="Google Shape;253;p37"/>
          <p:cNvSpPr txBox="1"/>
          <p:nvPr/>
        </p:nvSpPr>
        <p:spPr>
          <a:xfrm>
            <a:off x="106575" y="792150"/>
            <a:ext cx="8756100" cy="354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t/>
            </a:r>
            <a:endParaRPr sz="1100">
              <a:solidFill>
                <a:schemeClr val="dk1"/>
              </a:solidFill>
            </a:endParaRPr>
          </a:p>
        </p:txBody>
      </p:sp>
      <p:sp>
        <p:nvSpPr>
          <p:cNvPr id="254" name="Google Shape;254;p37"/>
          <p:cNvSpPr txBox="1"/>
          <p:nvPr/>
        </p:nvSpPr>
        <p:spPr>
          <a:xfrm>
            <a:off x="395650" y="747350"/>
            <a:ext cx="84396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chemeClr val="dk1"/>
                </a:solidFill>
              </a:rPr>
              <a:t>If we only have edge-level features, and are trying to predict binary node information, we can use pooling to route (or pass) information to where it needs to go. The model looks like this.</a:t>
            </a:r>
            <a:endParaRPr sz="1000">
              <a:solidFill>
                <a:schemeClr val="dk1"/>
              </a:solidFill>
            </a:endParaRPr>
          </a:p>
        </p:txBody>
      </p:sp>
      <p:pic>
        <p:nvPicPr>
          <p:cNvPr id="255" name="Google Shape;255;p37"/>
          <p:cNvPicPr preferRelativeResize="0"/>
          <p:nvPr/>
        </p:nvPicPr>
        <p:blipFill>
          <a:blip r:embed="rId3">
            <a:alphaModFix/>
          </a:blip>
          <a:stretch>
            <a:fillRect/>
          </a:stretch>
        </p:blipFill>
        <p:spPr>
          <a:xfrm>
            <a:off x="3297125" y="1146138"/>
            <a:ext cx="5689273" cy="2438275"/>
          </a:xfrm>
          <a:prstGeom prst="rect">
            <a:avLst/>
          </a:prstGeom>
          <a:noFill/>
          <a:ln>
            <a:noFill/>
          </a:ln>
        </p:spPr>
      </p:pic>
      <p:sp>
        <p:nvSpPr>
          <p:cNvPr id="256" name="Google Shape;256;p37"/>
          <p:cNvSpPr txBox="1"/>
          <p:nvPr/>
        </p:nvSpPr>
        <p:spPr>
          <a:xfrm>
            <a:off x="246175" y="1248500"/>
            <a:ext cx="2998200" cy="3240900"/>
          </a:xfrm>
          <a:prstGeom prst="rect">
            <a:avLst/>
          </a:prstGeom>
          <a:noFill/>
          <a:ln>
            <a:noFill/>
          </a:ln>
        </p:spPr>
        <p:txBody>
          <a:bodyPr anchorCtr="0" anchor="t" bIns="91425" lIns="91425" spcFirstLastPara="1" rIns="91425" wrap="square" tIns="91425">
            <a:spAutoFit/>
          </a:bodyPr>
          <a:lstStyle/>
          <a:p>
            <a:pPr indent="-298450" lvl="0" marL="457200" rtl="0" algn="l">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Final GNN layer contains meaningful </a:t>
            </a:r>
            <a:r>
              <a:rPr b="1" lang="en" sz="1100">
                <a:solidFill>
                  <a:schemeClr val="dk1"/>
                </a:solidFill>
                <a:latin typeface="Calibri"/>
                <a:ea typeface="Calibri"/>
                <a:cs typeface="Calibri"/>
                <a:sym typeface="Calibri"/>
              </a:rPr>
              <a:t>edge embeddings</a:t>
            </a:r>
            <a:r>
              <a:rPr lang="en" sz="1100">
                <a:solidFill>
                  <a:schemeClr val="dk1"/>
                </a:solidFill>
                <a:latin typeface="Calibri"/>
                <a:ea typeface="Calibri"/>
                <a:cs typeface="Calibri"/>
                <a:sym typeface="Calibri"/>
              </a:rPr>
              <a:t>.</a:t>
            </a:r>
            <a:endParaRPr sz="1100">
              <a:solidFill>
                <a:schemeClr val="dk1"/>
              </a:solidFill>
              <a:latin typeface="Calibri"/>
              <a:ea typeface="Calibri"/>
              <a:cs typeface="Calibri"/>
              <a:sym typeface="Calibri"/>
            </a:endParaRPr>
          </a:p>
          <a:p>
            <a:pPr indent="-298450" lvl="0" marL="457200" rtl="0" algn="l">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Nodes do not yet have useful features.</a:t>
            </a:r>
            <a:endParaRPr sz="1100">
              <a:solidFill>
                <a:schemeClr val="dk1"/>
              </a:solidFill>
              <a:latin typeface="Calibri"/>
              <a:ea typeface="Calibri"/>
              <a:cs typeface="Calibri"/>
              <a:sym typeface="Calibri"/>
            </a:endParaRPr>
          </a:p>
          <a:p>
            <a:pPr indent="-298450" lvl="0" marL="457200" rtl="0" algn="l">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Task: make </a:t>
            </a:r>
            <a:r>
              <a:rPr b="1" lang="en" sz="1100">
                <a:solidFill>
                  <a:schemeClr val="dk1"/>
                </a:solidFill>
                <a:latin typeface="Calibri"/>
                <a:ea typeface="Calibri"/>
                <a:cs typeface="Calibri"/>
                <a:sym typeface="Calibri"/>
              </a:rPr>
              <a:t>node-level predictions</a:t>
            </a:r>
            <a:r>
              <a:rPr lang="en" sz="1100">
                <a:solidFill>
                  <a:schemeClr val="dk1"/>
                </a:solidFill>
                <a:latin typeface="Calibri"/>
                <a:ea typeface="Calibri"/>
                <a:cs typeface="Calibri"/>
                <a:sym typeface="Calibri"/>
              </a:rPr>
              <a:t>.</a:t>
            </a:r>
            <a:endParaRPr sz="1100">
              <a:solidFill>
                <a:schemeClr val="dk1"/>
              </a:solidFill>
              <a:latin typeface="Calibri"/>
              <a:ea typeface="Calibri"/>
              <a:cs typeface="Calibri"/>
              <a:sym typeface="Calibri"/>
            </a:endParaRPr>
          </a:p>
          <a:p>
            <a:pPr indent="-298450" lvl="0" marL="457200" rtl="0" algn="l">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Goal: classify each node into one of two classes.</a:t>
            </a:r>
            <a:endParaRPr sz="1100">
              <a:solidFill>
                <a:schemeClr val="dk1"/>
              </a:solidFill>
              <a:latin typeface="Calibri"/>
              <a:ea typeface="Calibri"/>
              <a:cs typeface="Calibri"/>
              <a:sym typeface="Calibri"/>
            </a:endParaRPr>
          </a:p>
          <a:p>
            <a:pPr indent="-298450" lvl="0" marL="457200" rtl="0" algn="l">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Since data is in edges but prediction is on nodes, use </a:t>
            </a:r>
            <a:r>
              <a:rPr b="1" lang="en" sz="1100">
                <a:solidFill>
                  <a:schemeClr val="dk1"/>
                </a:solidFill>
                <a:latin typeface="Calibri"/>
                <a:ea typeface="Calibri"/>
                <a:cs typeface="Calibri"/>
                <a:sym typeface="Calibri"/>
              </a:rPr>
              <a:t>edge-to-node pooling</a:t>
            </a:r>
            <a:r>
              <a:rPr lang="en" sz="1100">
                <a:solidFill>
                  <a:schemeClr val="dk1"/>
                </a:solidFill>
                <a:latin typeface="Calibri"/>
                <a:ea typeface="Calibri"/>
                <a:cs typeface="Calibri"/>
                <a:sym typeface="Calibri"/>
              </a:rPr>
              <a:t>.</a:t>
            </a:r>
            <a:endParaRPr sz="1100">
              <a:solidFill>
                <a:schemeClr val="dk1"/>
              </a:solidFill>
              <a:latin typeface="Calibri"/>
              <a:ea typeface="Calibri"/>
              <a:cs typeface="Calibri"/>
              <a:sym typeface="Calibri"/>
            </a:endParaRPr>
          </a:p>
          <a:p>
            <a:pPr indent="-298450" lvl="0" marL="457200" rtl="0" algn="l">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For each node v:</a:t>
            </a:r>
            <a:endParaRPr sz="1100">
              <a:solidFill>
                <a:schemeClr val="dk1"/>
              </a:solidFill>
              <a:latin typeface="Calibri"/>
              <a:ea typeface="Calibri"/>
              <a:cs typeface="Calibri"/>
              <a:sym typeface="Calibri"/>
            </a:endParaRPr>
          </a:p>
          <a:p>
            <a:pPr indent="-298450" lvl="1" marL="914400" rtl="0" algn="l">
              <a:lnSpc>
                <a:spcPct val="115000"/>
              </a:lnSpc>
              <a:spcBef>
                <a:spcPts val="0"/>
              </a:spcBef>
              <a:spcAft>
                <a:spcPts val="0"/>
              </a:spcAft>
              <a:buClr>
                <a:schemeClr val="dk1"/>
              </a:buClr>
              <a:buSzPts val="1100"/>
              <a:buFont typeface="Calibri"/>
              <a:buChar char="○"/>
            </a:pPr>
            <a:r>
              <a:rPr b="1" lang="en" sz="1100">
                <a:solidFill>
                  <a:schemeClr val="dk1"/>
                </a:solidFill>
                <a:latin typeface="Calibri"/>
                <a:ea typeface="Calibri"/>
                <a:cs typeface="Calibri"/>
                <a:sym typeface="Calibri"/>
              </a:rPr>
              <a:t>Gather:</a:t>
            </a:r>
            <a:r>
              <a:rPr lang="en" sz="1100">
                <a:solidFill>
                  <a:schemeClr val="dk1"/>
                </a:solidFill>
                <a:latin typeface="Calibri"/>
                <a:ea typeface="Calibri"/>
                <a:cs typeface="Calibri"/>
                <a:sym typeface="Calibri"/>
              </a:rPr>
              <a:t> collect embeddings of all edges connected to node v.</a:t>
            </a:r>
            <a:endParaRPr sz="1100">
              <a:solidFill>
                <a:schemeClr val="dk1"/>
              </a:solidFill>
              <a:latin typeface="Calibri"/>
              <a:ea typeface="Calibri"/>
              <a:cs typeface="Calibri"/>
              <a:sym typeface="Calibri"/>
            </a:endParaRPr>
          </a:p>
          <a:p>
            <a:pPr indent="-298450" lvl="1" marL="914400" rtl="0" algn="l">
              <a:lnSpc>
                <a:spcPct val="115000"/>
              </a:lnSpc>
              <a:spcBef>
                <a:spcPts val="0"/>
              </a:spcBef>
              <a:spcAft>
                <a:spcPts val="0"/>
              </a:spcAft>
              <a:buClr>
                <a:schemeClr val="dk1"/>
              </a:buClr>
              <a:buSzPts val="1100"/>
              <a:buFont typeface="Calibri"/>
              <a:buChar char="○"/>
            </a:pPr>
            <a:r>
              <a:rPr b="1" lang="en" sz="1100">
                <a:solidFill>
                  <a:schemeClr val="dk1"/>
                </a:solidFill>
                <a:latin typeface="Calibri"/>
                <a:ea typeface="Calibri"/>
                <a:cs typeface="Calibri"/>
                <a:sym typeface="Calibri"/>
              </a:rPr>
              <a:t>Aggregate:</a:t>
            </a:r>
            <a:r>
              <a:rPr lang="en" sz="1100">
                <a:solidFill>
                  <a:schemeClr val="dk1"/>
                </a:solidFill>
                <a:latin typeface="Calibri"/>
                <a:ea typeface="Calibri"/>
                <a:cs typeface="Calibri"/>
                <a:sym typeface="Calibri"/>
              </a:rPr>
              <a:t> combine them into one node-level context vector using sum or mean.</a:t>
            </a:r>
            <a:endParaRPr sz="1100">
              <a:solidFill>
                <a:schemeClr val="dk1"/>
              </a:solidFill>
              <a:latin typeface="Calibri"/>
              <a:ea typeface="Calibri"/>
              <a:cs typeface="Calibri"/>
              <a:sym typeface="Calibri"/>
            </a:endParaRPr>
          </a:p>
          <a:p>
            <a:pPr indent="-298450" lvl="1" marL="914400" rtl="0" algn="l">
              <a:lnSpc>
                <a:spcPct val="115000"/>
              </a:lnSpc>
              <a:spcBef>
                <a:spcPts val="0"/>
              </a:spcBef>
              <a:spcAft>
                <a:spcPts val="0"/>
              </a:spcAft>
              <a:buClr>
                <a:schemeClr val="dk1"/>
              </a:buClr>
              <a:buSzPts val="1100"/>
              <a:buFont typeface="Calibri"/>
              <a:buChar char="○"/>
            </a:pPr>
            <a:r>
              <a:rPr b="1" lang="en" sz="1100">
                <a:solidFill>
                  <a:schemeClr val="dk1"/>
                </a:solidFill>
                <a:latin typeface="Calibri"/>
                <a:ea typeface="Calibri"/>
                <a:cs typeface="Calibri"/>
                <a:sym typeface="Calibri"/>
              </a:rPr>
              <a:t>Classify:</a:t>
            </a:r>
            <a:r>
              <a:rPr lang="en" sz="1100">
                <a:solidFill>
                  <a:schemeClr val="dk1"/>
                </a:solidFill>
                <a:latin typeface="Calibri"/>
                <a:ea typeface="Calibri"/>
                <a:cs typeface="Calibri"/>
                <a:sym typeface="Calibri"/>
              </a:rPr>
              <a:t> pass the context vector through an MLP to predict the node label.</a:t>
            </a:r>
            <a:endParaRPr sz="1100">
              <a:solidFill>
                <a:schemeClr val="dk1"/>
              </a:solidFill>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38"/>
          <p:cNvSpPr txBox="1"/>
          <p:nvPr/>
        </p:nvSpPr>
        <p:spPr>
          <a:xfrm>
            <a:off x="259375" y="263550"/>
            <a:ext cx="77454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800">
                <a:solidFill>
                  <a:schemeClr val="dk1"/>
                </a:solidFill>
                <a:latin typeface="Calibri"/>
                <a:ea typeface="Calibri"/>
                <a:cs typeface="Calibri"/>
                <a:sym typeface="Calibri"/>
              </a:rPr>
              <a:t>Only have </a:t>
            </a:r>
            <a:r>
              <a:rPr b="1" lang="en" sz="1800">
                <a:solidFill>
                  <a:schemeClr val="dk1"/>
                </a:solidFill>
                <a:latin typeface="Calibri"/>
                <a:ea typeface="Calibri"/>
                <a:cs typeface="Calibri"/>
                <a:sym typeface="Calibri"/>
              </a:rPr>
              <a:t>node-level features</a:t>
            </a:r>
            <a:endParaRPr b="1" sz="1800">
              <a:solidFill>
                <a:schemeClr val="dk1"/>
              </a:solidFill>
              <a:latin typeface="Calibri"/>
              <a:ea typeface="Calibri"/>
              <a:cs typeface="Calibri"/>
              <a:sym typeface="Calibri"/>
            </a:endParaRPr>
          </a:p>
        </p:txBody>
      </p:sp>
      <p:sp>
        <p:nvSpPr>
          <p:cNvPr id="262" name="Google Shape;262;p38"/>
          <p:cNvSpPr txBox="1"/>
          <p:nvPr/>
        </p:nvSpPr>
        <p:spPr>
          <a:xfrm>
            <a:off x="340000" y="792150"/>
            <a:ext cx="84396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63" name="Google Shape;263;p38"/>
          <p:cNvSpPr txBox="1"/>
          <p:nvPr/>
        </p:nvSpPr>
        <p:spPr>
          <a:xfrm>
            <a:off x="106575" y="792150"/>
            <a:ext cx="8756100" cy="354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t/>
            </a:r>
            <a:endParaRPr sz="1100">
              <a:solidFill>
                <a:schemeClr val="dk1"/>
              </a:solidFill>
            </a:endParaRPr>
          </a:p>
        </p:txBody>
      </p:sp>
      <p:sp>
        <p:nvSpPr>
          <p:cNvPr id="264" name="Google Shape;264;p38"/>
          <p:cNvSpPr txBox="1"/>
          <p:nvPr/>
        </p:nvSpPr>
        <p:spPr>
          <a:xfrm>
            <a:off x="395650" y="747350"/>
            <a:ext cx="85110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chemeClr val="dk1"/>
                </a:solidFill>
              </a:rPr>
              <a:t>If we only have node-level features, and are trying to predict binary edge-level information, the model looks like this.</a:t>
            </a:r>
            <a:endParaRPr sz="1000">
              <a:solidFill>
                <a:schemeClr val="dk1"/>
              </a:solidFill>
            </a:endParaRPr>
          </a:p>
        </p:txBody>
      </p:sp>
      <p:pic>
        <p:nvPicPr>
          <p:cNvPr id="265" name="Google Shape;265;p38"/>
          <p:cNvPicPr preferRelativeResize="0"/>
          <p:nvPr/>
        </p:nvPicPr>
        <p:blipFill>
          <a:blip r:embed="rId3">
            <a:alphaModFix/>
          </a:blip>
          <a:stretch>
            <a:fillRect/>
          </a:stretch>
        </p:blipFill>
        <p:spPr>
          <a:xfrm>
            <a:off x="3699600" y="1406775"/>
            <a:ext cx="5207051" cy="2351807"/>
          </a:xfrm>
          <a:prstGeom prst="rect">
            <a:avLst/>
          </a:prstGeom>
          <a:noFill/>
          <a:ln>
            <a:noFill/>
          </a:ln>
        </p:spPr>
      </p:pic>
      <p:sp>
        <p:nvSpPr>
          <p:cNvPr id="266" name="Google Shape;266;p38"/>
          <p:cNvSpPr txBox="1"/>
          <p:nvPr/>
        </p:nvSpPr>
        <p:spPr>
          <a:xfrm>
            <a:off x="193425" y="1274875"/>
            <a:ext cx="3297000" cy="2876700"/>
          </a:xfrm>
          <a:prstGeom prst="rect">
            <a:avLst/>
          </a:prstGeom>
          <a:noFill/>
          <a:ln>
            <a:noFill/>
          </a:ln>
        </p:spPr>
        <p:txBody>
          <a:bodyPr anchorCtr="0" anchor="t" bIns="91425" lIns="91425" spcFirstLastPara="1" rIns="91425" wrap="square" tIns="91425">
            <a:spAutoFit/>
          </a:bodyPr>
          <a:lstStyle/>
          <a:p>
            <a:pPr indent="-298450" lvl="0" marL="457200" rtl="0" algn="l">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Final layer contains only </a:t>
            </a:r>
            <a:r>
              <a:rPr b="1" lang="en" sz="1100">
                <a:solidFill>
                  <a:schemeClr val="dk1"/>
                </a:solidFill>
                <a:latin typeface="Calibri"/>
                <a:ea typeface="Calibri"/>
                <a:cs typeface="Calibri"/>
                <a:sym typeface="Calibri"/>
              </a:rPr>
              <a:t>node embeddings</a:t>
            </a:r>
            <a:r>
              <a:rPr lang="en" sz="1100">
                <a:solidFill>
                  <a:schemeClr val="dk1"/>
                </a:solidFill>
                <a:latin typeface="Calibri"/>
                <a:ea typeface="Calibri"/>
                <a:cs typeface="Calibri"/>
                <a:sym typeface="Calibri"/>
              </a:rPr>
              <a:t>.</a:t>
            </a:r>
            <a:endParaRPr sz="1100">
              <a:solidFill>
                <a:schemeClr val="dk1"/>
              </a:solidFill>
              <a:latin typeface="Calibri"/>
              <a:ea typeface="Calibri"/>
              <a:cs typeface="Calibri"/>
              <a:sym typeface="Calibri"/>
            </a:endParaRPr>
          </a:p>
          <a:p>
            <a:pPr indent="-298450" lvl="0" marL="457200" rtl="0" algn="l">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Edges have </a:t>
            </a:r>
            <a:r>
              <a:rPr b="1" lang="en" sz="1100">
                <a:solidFill>
                  <a:schemeClr val="dk1"/>
                </a:solidFill>
                <a:latin typeface="Calibri"/>
                <a:ea typeface="Calibri"/>
                <a:cs typeface="Calibri"/>
                <a:sym typeface="Calibri"/>
              </a:rPr>
              <a:t>no features</a:t>
            </a:r>
            <a:r>
              <a:rPr lang="en" sz="1100">
                <a:solidFill>
                  <a:schemeClr val="dk1"/>
                </a:solidFill>
                <a:latin typeface="Calibri"/>
                <a:ea typeface="Calibri"/>
                <a:cs typeface="Calibri"/>
                <a:sym typeface="Calibri"/>
              </a:rPr>
              <a:t>.</a:t>
            </a:r>
            <a:endParaRPr sz="1100">
              <a:solidFill>
                <a:schemeClr val="dk1"/>
              </a:solidFill>
              <a:latin typeface="Calibri"/>
              <a:ea typeface="Calibri"/>
              <a:cs typeface="Calibri"/>
              <a:sym typeface="Calibri"/>
            </a:endParaRPr>
          </a:p>
          <a:p>
            <a:pPr indent="-298450" lvl="0" marL="457200" rtl="0" algn="l">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Task: make </a:t>
            </a:r>
            <a:r>
              <a:rPr b="1" lang="en" sz="1100">
                <a:solidFill>
                  <a:schemeClr val="dk1"/>
                </a:solidFill>
                <a:latin typeface="Calibri"/>
                <a:ea typeface="Calibri"/>
                <a:cs typeface="Calibri"/>
                <a:sym typeface="Calibri"/>
              </a:rPr>
              <a:t>edge-level predictions</a:t>
            </a:r>
            <a:r>
              <a:rPr lang="en" sz="1100">
                <a:solidFill>
                  <a:schemeClr val="dk1"/>
                </a:solidFill>
                <a:latin typeface="Calibri"/>
                <a:ea typeface="Calibri"/>
                <a:cs typeface="Calibri"/>
                <a:sym typeface="Calibri"/>
              </a:rPr>
              <a:t>.</a:t>
            </a:r>
            <a:endParaRPr sz="1100">
              <a:solidFill>
                <a:schemeClr val="dk1"/>
              </a:solidFill>
              <a:latin typeface="Calibri"/>
              <a:ea typeface="Calibri"/>
              <a:cs typeface="Calibri"/>
              <a:sym typeface="Calibri"/>
            </a:endParaRPr>
          </a:p>
          <a:p>
            <a:pPr indent="-298450" lvl="0" marL="457200" rtl="0" algn="l">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Goal: classify each edge into one of two classes.</a:t>
            </a:r>
            <a:endParaRPr sz="1100">
              <a:solidFill>
                <a:schemeClr val="dk1"/>
              </a:solidFill>
              <a:latin typeface="Calibri"/>
              <a:ea typeface="Calibri"/>
              <a:cs typeface="Calibri"/>
              <a:sym typeface="Calibri"/>
            </a:endParaRPr>
          </a:p>
          <a:p>
            <a:pPr indent="-298450" lvl="0" marL="457200" rtl="0" algn="l">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Since data is in nodes but prediction is on edges, use </a:t>
            </a:r>
            <a:r>
              <a:rPr b="1" lang="en" sz="1100">
                <a:solidFill>
                  <a:schemeClr val="dk1"/>
                </a:solidFill>
                <a:latin typeface="Calibri"/>
                <a:ea typeface="Calibri"/>
                <a:cs typeface="Calibri"/>
                <a:sym typeface="Calibri"/>
              </a:rPr>
              <a:t>node-to-edge pooling</a:t>
            </a:r>
            <a:r>
              <a:rPr lang="en" sz="1100">
                <a:solidFill>
                  <a:schemeClr val="dk1"/>
                </a:solidFill>
                <a:latin typeface="Calibri"/>
                <a:ea typeface="Calibri"/>
                <a:cs typeface="Calibri"/>
                <a:sym typeface="Calibri"/>
              </a:rPr>
              <a:t>.</a:t>
            </a:r>
            <a:endParaRPr sz="1100">
              <a:solidFill>
                <a:schemeClr val="dk1"/>
              </a:solidFill>
              <a:latin typeface="Calibri"/>
              <a:ea typeface="Calibri"/>
              <a:cs typeface="Calibri"/>
              <a:sym typeface="Calibri"/>
            </a:endParaRPr>
          </a:p>
          <a:p>
            <a:pPr indent="-298450" lvl="0" marL="457200" rtl="0" algn="l">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For each edge (u, v):</a:t>
            </a:r>
            <a:endParaRPr sz="1100">
              <a:solidFill>
                <a:schemeClr val="dk1"/>
              </a:solidFill>
              <a:latin typeface="Calibri"/>
              <a:ea typeface="Calibri"/>
              <a:cs typeface="Calibri"/>
              <a:sym typeface="Calibri"/>
            </a:endParaRPr>
          </a:p>
          <a:p>
            <a:pPr indent="-298450" lvl="1" marL="914400" rtl="0" algn="l">
              <a:lnSpc>
                <a:spcPct val="115000"/>
              </a:lnSpc>
              <a:spcBef>
                <a:spcPts val="0"/>
              </a:spcBef>
              <a:spcAft>
                <a:spcPts val="0"/>
              </a:spcAft>
              <a:buClr>
                <a:schemeClr val="dk1"/>
              </a:buClr>
              <a:buSzPts val="1100"/>
              <a:buFont typeface="Calibri"/>
              <a:buChar char="○"/>
            </a:pPr>
            <a:r>
              <a:rPr b="1" lang="en" sz="1100">
                <a:solidFill>
                  <a:schemeClr val="dk1"/>
                </a:solidFill>
                <a:latin typeface="Calibri"/>
                <a:ea typeface="Calibri"/>
                <a:cs typeface="Calibri"/>
                <a:sym typeface="Calibri"/>
              </a:rPr>
              <a:t>Gather:</a:t>
            </a:r>
            <a:r>
              <a:rPr lang="en" sz="1100">
                <a:solidFill>
                  <a:schemeClr val="dk1"/>
                </a:solidFill>
                <a:latin typeface="Calibri"/>
                <a:ea typeface="Calibri"/>
                <a:cs typeface="Calibri"/>
                <a:sym typeface="Calibri"/>
              </a:rPr>
              <a:t> collect embeddings of endpoint nodes u and v.</a:t>
            </a:r>
            <a:endParaRPr sz="1100">
              <a:solidFill>
                <a:schemeClr val="dk1"/>
              </a:solidFill>
              <a:latin typeface="Calibri"/>
              <a:ea typeface="Calibri"/>
              <a:cs typeface="Calibri"/>
              <a:sym typeface="Calibri"/>
            </a:endParaRPr>
          </a:p>
          <a:p>
            <a:pPr indent="-298450" lvl="1" marL="914400" rtl="0" algn="l">
              <a:lnSpc>
                <a:spcPct val="115000"/>
              </a:lnSpc>
              <a:spcBef>
                <a:spcPts val="0"/>
              </a:spcBef>
              <a:spcAft>
                <a:spcPts val="0"/>
              </a:spcAft>
              <a:buClr>
                <a:schemeClr val="dk1"/>
              </a:buClr>
              <a:buSzPts val="1100"/>
              <a:buFont typeface="Calibri"/>
              <a:buChar char="○"/>
            </a:pPr>
            <a:r>
              <a:rPr b="1" lang="en" sz="1100">
                <a:solidFill>
                  <a:schemeClr val="dk1"/>
                </a:solidFill>
                <a:latin typeface="Calibri"/>
                <a:ea typeface="Calibri"/>
                <a:cs typeface="Calibri"/>
                <a:sym typeface="Calibri"/>
              </a:rPr>
              <a:t>Aggregate:</a:t>
            </a:r>
            <a:r>
              <a:rPr lang="en" sz="1100">
                <a:solidFill>
                  <a:schemeClr val="dk1"/>
                </a:solidFill>
                <a:latin typeface="Calibri"/>
                <a:ea typeface="Calibri"/>
                <a:cs typeface="Calibri"/>
                <a:sym typeface="Calibri"/>
              </a:rPr>
              <a:t> combine them into one edge-level context vector.</a:t>
            </a:r>
            <a:endParaRPr sz="1100">
              <a:solidFill>
                <a:schemeClr val="dk1"/>
              </a:solidFill>
              <a:latin typeface="Calibri"/>
              <a:ea typeface="Calibri"/>
              <a:cs typeface="Calibri"/>
              <a:sym typeface="Calibri"/>
            </a:endParaRPr>
          </a:p>
          <a:p>
            <a:pPr indent="-298450" lvl="1" marL="914400" rtl="0" algn="l">
              <a:lnSpc>
                <a:spcPct val="115000"/>
              </a:lnSpc>
              <a:spcBef>
                <a:spcPts val="0"/>
              </a:spcBef>
              <a:spcAft>
                <a:spcPts val="0"/>
              </a:spcAft>
              <a:buClr>
                <a:schemeClr val="dk1"/>
              </a:buClr>
              <a:buSzPts val="1100"/>
              <a:buFont typeface="Calibri"/>
              <a:buChar char="○"/>
            </a:pPr>
            <a:r>
              <a:rPr b="1" lang="en" sz="1100">
                <a:solidFill>
                  <a:schemeClr val="dk1"/>
                </a:solidFill>
                <a:latin typeface="Calibri"/>
                <a:ea typeface="Calibri"/>
                <a:cs typeface="Calibri"/>
                <a:sym typeface="Calibri"/>
              </a:rPr>
              <a:t>Classify:</a:t>
            </a:r>
            <a:r>
              <a:rPr lang="en" sz="1100">
                <a:solidFill>
                  <a:schemeClr val="dk1"/>
                </a:solidFill>
                <a:latin typeface="Calibri"/>
                <a:ea typeface="Calibri"/>
                <a:cs typeface="Calibri"/>
                <a:sym typeface="Calibri"/>
              </a:rPr>
              <a:t> pass the context vector through an MLP to predict the edge label.</a:t>
            </a:r>
            <a:endParaRPr sz="1800">
              <a:solidFill>
                <a:schemeClr val="dk1"/>
              </a:solidFill>
              <a:latin typeface="Calibri"/>
              <a:ea typeface="Calibri"/>
              <a:cs typeface="Calibri"/>
              <a:sym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sp>
        <p:nvSpPr>
          <p:cNvPr id="271" name="Google Shape;271;p39"/>
          <p:cNvSpPr txBox="1"/>
          <p:nvPr/>
        </p:nvSpPr>
        <p:spPr>
          <a:xfrm>
            <a:off x="259375" y="263550"/>
            <a:ext cx="77454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800">
                <a:solidFill>
                  <a:schemeClr val="dk1"/>
                </a:solidFill>
                <a:latin typeface="Calibri"/>
                <a:ea typeface="Calibri"/>
                <a:cs typeface="Calibri"/>
                <a:sym typeface="Calibri"/>
              </a:rPr>
              <a:t>Only have node-level features</a:t>
            </a:r>
            <a:endParaRPr b="1" sz="1800">
              <a:solidFill>
                <a:schemeClr val="dk1"/>
              </a:solidFill>
              <a:latin typeface="Calibri"/>
              <a:ea typeface="Calibri"/>
              <a:cs typeface="Calibri"/>
              <a:sym typeface="Calibri"/>
            </a:endParaRPr>
          </a:p>
        </p:txBody>
      </p:sp>
      <p:sp>
        <p:nvSpPr>
          <p:cNvPr id="272" name="Google Shape;272;p39"/>
          <p:cNvSpPr txBox="1"/>
          <p:nvPr/>
        </p:nvSpPr>
        <p:spPr>
          <a:xfrm>
            <a:off x="340000" y="792150"/>
            <a:ext cx="84396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3" name="Google Shape;273;p39"/>
          <p:cNvSpPr txBox="1"/>
          <p:nvPr/>
        </p:nvSpPr>
        <p:spPr>
          <a:xfrm>
            <a:off x="106575" y="792150"/>
            <a:ext cx="8756100" cy="354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t/>
            </a:r>
            <a:endParaRPr sz="1100">
              <a:solidFill>
                <a:schemeClr val="dk1"/>
              </a:solidFill>
            </a:endParaRPr>
          </a:p>
        </p:txBody>
      </p:sp>
      <p:sp>
        <p:nvSpPr>
          <p:cNvPr id="274" name="Google Shape;274;p39"/>
          <p:cNvSpPr txBox="1"/>
          <p:nvPr/>
        </p:nvSpPr>
        <p:spPr>
          <a:xfrm>
            <a:off x="395650" y="747350"/>
            <a:ext cx="8511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chemeClr val="dk1"/>
                </a:solidFill>
              </a:rPr>
              <a:t>If we only have node-level features, and need to predict a binary global property, we need to gather all available node information together and aggregate them. This is similar to Global Average Pooling layers in CNNs. The same can be done for edges.</a:t>
            </a:r>
            <a:endParaRPr sz="1000">
              <a:solidFill>
                <a:schemeClr val="dk1"/>
              </a:solidFill>
            </a:endParaRPr>
          </a:p>
        </p:txBody>
      </p:sp>
      <p:pic>
        <p:nvPicPr>
          <p:cNvPr id="275" name="Google Shape;275;p39"/>
          <p:cNvPicPr preferRelativeResize="0"/>
          <p:nvPr/>
        </p:nvPicPr>
        <p:blipFill>
          <a:blip r:embed="rId3">
            <a:alphaModFix/>
          </a:blip>
          <a:stretch>
            <a:fillRect/>
          </a:stretch>
        </p:blipFill>
        <p:spPr>
          <a:xfrm>
            <a:off x="4088400" y="1692850"/>
            <a:ext cx="4991102" cy="2164901"/>
          </a:xfrm>
          <a:prstGeom prst="rect">
            <a:avLst/>
          </a:prstGeom>
          <a:noFill/>
          <a:ln>
            <a:noFill/>
          </a:ln>
        </p:spPr>
      </p:pic>
      <p:sp>
        <p:nvSpPr>
          <p:cNvPr id="276" name="Google Shape;276;p39"/>
          <p:cNvSpPr txBox="1"/>
          <p:nvPr/>
        </p:nvSpPr>
        <p:spPr>
          <a:xfrm>
            <a:off x="0" y="1320750"/>
            <a:ext cx="3947700" cy="3486300"/>
          </a:xfrm>
          <a:prstGeom prst="rect">
            <a:avLst/>
          </a:prstGeom>
          <a:noFill/>
          <a:ln>
            <a:noFill/>
          </a:ln>
        </p:spPr>
        <p:txBody>
          <a:bodyPr anchorCtr="0" anchor="t" bIns="91425" lIns="91425" spcFirstLastPara="1" rIns="91425" wrap="square" tIns="91425">
            <a:spAutoFit/>
          </a:bodyPr>
          <a:lstStyle/>
          <a:p>
            <a:pPr indent="-298450" lvl="0" marL="457200" rtl="0" algn="l">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Node and edge embeddings exist, but one graph-level prediction is needed.</a:t>
            </a:r>
            <a:endParaRPr sz="1100">
              <a:solidFill>
                <a:schemeClr val="dk1"/>
              </a:solidFill>
              <a:latin typeface="Calibri"/>
              <a:ea typeface="Calibri"/>
              <a:cs typeface="Calibri"/>
              <a:sym typeface="Calibri"/>
            </a:endParaRPr>
          </a:p>
          <a:p>
            <a:pPr indent="-298450" lvl="0" marL="457200" rtl="0" algn="l">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Final GNN layer contains:</a:t>
            </a:r>
            <a:endParaRPr sz="1100">
              <a:solidFill>
                <a:schemeClr val="dk1"/>
              </a:solidFill>
              <a:latin typeface="Calibri"/>
              <a:ea typeface="Calibri"/>
              <a:cs typeface="Calibri"/>
              <a:sym typeface="Calibri"/>
            </a:endParaRPr>
          </a:p>
          <a:p>
            <a:pPr indent="-298450" lvl="1" marL="914400" rtl="0" algn="l">
              <a:lnSpc>
                <a:spcPct val="115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Node embeddings</a:t>
            </a:r>
            <a:endParaRPr sz="1100">
              <a:solidFill>
                <a:schemeClr val="dk1"/>
              </a:solidFill>
              <a:latin typeface="Calibri"/>
              <a:ea typeface="Calibri"/>
              <a:cs typeface="Calibri"/>
              <a:sym typeface="Calibri"/>
            </a:endParaRPr>
          </a:p>
          <a:p>
            <a:pPr indent="-298450" lvl="1" marL="914400" rtl="0" algn="l">
              <a:lnSpc>
                <a:spcPct val="115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Edge embeddings</a:t>
            </a:r>
            <a:endParaRPr sz="1100">
              <a:solidFill>
                <a:schemeClr val="dk1"/>
              </a:solidFill>
              <a:latin typeface="Calibri"/>
              <a:ea typeface="Calibri"/>
              <a:cs typeface="Calibri"/>
              <a:sym typeface="Calibri"/>
            </a:endParaRPr>
          </a:p>
          <a:p>
            <a:pPr indent="-298450" lvl="0" marL="457200" rtl="0" algn="l">
              <a:lnSpc>
                <a:spcPct val="115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Task: make a single binary prediction for the entire graph.</a:t>
            </a:r>
            <a:endParaRPr sz="1100">
              <a:solidFill>
                <a:schemeClr val="dk1"/>
              </a:solidFill>
              <a:latin typeface="Calibri"/>
              <a:ea typeface="Calibri"/>
              <a:cs typeface="Calibri"/>
              <a:sym typeface="Calibri"/>
            </a:endParaRPr>
          </a:p>
          <a:p>
            <a:pPr indent="-298450" lvl="0" marL="457200" rtl="0" algn="l">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Goal: classify the whole graph into one of two classes.</a:t>
            </a:r>
            <a:endParaRPr sz="1100">
              <a:solidFill>
                <a:schemeClr val="dk1"/>
              </a:solidFill>
              <a:latin typeface="Calibri"/>
              <a:ea typeface="Calibri"/>
              <a:cs typeface="Calibri"/>
              <a:sym typeface="Calibri"/>
            </a:endParaRPr>
          </a:p>
          <a:p>
            <a:pPr indent="-298450" lvl="0" marL="457200" rtl="0" algn="l">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Since prediction is for the whole graph, use global pooling.</a:t>
            </a:r>
            <a:endParaRPr sz="1100">
              <a:solidFill>
                <a:schemeClr val="dk1"/>
              </a:solidFill>
              <a:latin typeface="Calibri"/>
              <a:ea typeface="Calibri"/>
              <a:cs typeface="Calibri"/>
              <a:sym typeface="Calibri"/>
            </a:endParaRPr>
          </a:p>
          <a:p>
            <a:pPr indent="-298450" lvl="0" marL="457200" rtl="0" algn="l">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For graph-level prediction:</a:t>
            </a:r>
            <a:endParaRPr sz="1100">
              <a:solidFill>
                <a:schemeClr val="dk1"/>
              </a:solidFill>
              <a:latin typeface="Calibri"/>
              <a:ea typeface="Calibri"/>
              <a:cs typeface="Calibri"/>
              <a:sym typeface="Calibri"/>
            </a:endParaRPr>
          </a:p>
          <a:p>
            <a:pPr indent="-298450" lvl="1" marL="914400" rtl="0" algn="l">
              <a:lnSpc>
                <a:spcPct val="115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Gather: collect embeddings from all nodes in the graph.</a:t>
            </a:r>
            <a:endParaRPr sz="1100">
              <a:solidFill>
                <a:schemeClr val="dk1"/>
              </a:solidFill>
              <a:latin typeface="Calibri"/>
              <a:ea typeface="Calibri"/>
              <a:cs typeface="Calibri"/>
              <a:sym typeface="Calibri"/>
            </a:endParaRPr>
          </a:p>
          <a:p>
            <a:pPr indent="-298450" lvl="1" marL="914400" rtl="0" algn="l">
              <a:lnSpc>
                <a:spcPct val="115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Aggregate: combine them into one global context vector using sum or mean.</a:t>
            </a:r>
            <a:endParaRPr sz="1100">
              <a:solidFill>
                <a:schemeClr val="dk1"/>
              </a:solidFill>
              <a:latin typeface="Calibri"/>
              <a:ea typeface="Calibri"/>
              <a:cs typeface="Calibri"/>
              <a:sym typeface="Calibri"/>
            </a:endParaRPr>
          </a:p>
          <a:p>
            <a:pPr indent="-298450" lvl="1" marL="914400" rtl="0" algn="l">
              <a:lnSpc>
                <a:spcPct val="115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Classify: pass the global vector through an MLP to predict the graph label.</a:t>
            </a:r>
            <a:endParaRPr sz="1100">
              <a:solidFill>
                <a:schemeClr val="dk1"/>
              </a:solidFill>
              <a:latin typeface="Calibri"/>
              <a:ea typeface="Calibri"/>
              <a:cs typeface="Calibri"/>
              <a:sym typeface="Calibri"/>
            </a:endParaRPr>
          </a:p>
          <a:p>
            <a:pPr indent="-298450" lvl="0" marL="457200" rtl="0" algn="l">
              <a:lnSpc>
                <a:spcPct val="115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The same process can also be done using edge embeddings instead of node embeddings.</a:t>
            </a:r>
            <a:endParaRPr sz="1800">
              <a:solidFill>
                <a:schemeClr val="dk1"/>
              </a:solidFill>
              <a:latin typeface="Calibri"/>
              <a:ea typeface="Calibri"/>
              <a:cs typeface="Calibri"/>
              <a:sym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sp>
        <p:nvSpPr>
          <p:cNvPr id="281" name="Google Shape;281;p40"/>
          <p:cNvSpPr txBox="1"/>
          <p:nvPr/>
        </p:nvSpPr>
        <p:spPr>
          <a:xfrm>
            <a:off x="259375" y="263550"/>
            <a:ext cx="77454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800">
                <a:solidFill>
                  <a:schemeClr val="dk1"/>
                </a:solidFill>
                <a:latin typeface="Calibri"/>
                <a:ea typeface="Calibri"/>
                <a:cs typeface="Calibri"/>
                <a:sym typeface="Calibri"/>
              </a:rPr>
              <a:t>An end-to-end prediction task with a GNN model</a:t>
            </a:r>
            <a:endParaRPr b="1" sz="1800">
              <a:solidFill>
                <a:schemeClr val="dk1"/>
              </a:solidFill>
              <a:latin typeface="Calibri"/>
              <a:ea typeface="Calibri"/>
              <a:cs typeface="Calibri"/>
              <a:sym typeface="Calibri"/>
            </a:endParaRPr>
          </a:p>
        </p:txBody>
      </p:sp>
      <p:sp>
        <p:nvSpPr>
          <p:cNvPr id="282" name="Google Shape;282;p40"/>
          <p:cNvSpPr txBox="1"/>
          <p:nvPr/>
        </p:nvSpPr>
        <p:spPr>
          <a:xfrm>
            <a:off x="340000" y="792150"/>
            <a:ext cx="84396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3" name="Google Shape;283;p40"/>
          <p:cNvSpPr txBox="1"/>
          <p:nvPr/>
        </p:nvSpPr>
        <p:spPr>
          <a:xfrm>
            <a:off x="106575" y="792150"/>
            <a:ext cx="8756100" cy="354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t/>
            </a:r>
            <a:endParaRPr sz="1100">
              <a:solidFill>
                <a:schemeClr val="dk1"/>
              </a:solidFill>
            </a:endParaRPr>
          </a:p>
        </p:txBody>
      </p:sp>
      <p:sp>
        <p:nvSpPr>
          <p:cNvPr id="284" name="Google Shape;284;p40"/>
          <p:cNvSpPr txBox="1"/>
          <p:nvPr/>
        </p:nvSpPr>
        <p:spPr>
          <a:xfrm>
            <a:off x="395650" y="747350"/>
            <a:ext cx="8511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chemeClr val="dk1"/>
                </a:solidFill>
              </a:rPr>
              <a:t>In our examples, the classification model 𝑐 can easily be replaced with any differentiable model, or adapted to multi-class classification using a generalized linear model.</a:t>
            </a:r>
            <a:endParaRPr sz="1000">
              <a:solidFill>
                <a:schemeClr val="dk1"/>
              </a:solidFill>
            </a:endParaRPr>
          </a:p>
        </p:txBody>
      </p:sp>
      <p:sp>
        <p:nvSpPr>
          <p:cNvPr id="285" name="Google Shape;285;p40"/>
          <p:cNvSpPr txBox="1"/>
          <p:nvPr/>
        </p:nvSpPr>
        <p:spPr>
          <a:xfrm>
            <a:off x="483600" y="4495000"/>
            <a:ext cx="85812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000">
              <a:solidFill>
                <a:schemeClr val="dk1"/>
              </a:solidFill>
            </a:endParaRPr>
          </a:p>
        </p:txBody>
      </p:sp>
      <p:pic>
        <p:nvPicPr>
          <p:cNvPr id="286" name="Google Shape;286;p40"/>
          <p:cNvPicPr preferRelativeResize="0"/>
          <p:nvPr/>
        </p:nvPicPr>
        <p:blipFill>
          <a:blip r:embed="rId3">
            <a:alphaModFix/>
          </a:blip>
          <a:stretch>
            <a:fillRect/>
          </a:stretch>
        </p:blipFill>
        <p:spPr>
          <a:xfrm>
            <a:off x="231550" y="1213050"/>
            <a:ext cx="8839199" cy="1853776"/>
          </a:xfrm>
          <a:prstGeom prst="rect">
            <a:avLst/>
          </a:prstGeom>
          <a:noFill/>
          <a:ln>
            <a:noFill/>
          </a:ln>
        </p:spPr>
      </p:pic>
      <p:sp>
        <p:nvSpPr>
          <p:cNvPr id="287" name="Google Shape;287;p40"/>
          <p:cNvSpPr txBox="1"/>
          <p:nvPr/>
        </p:nvSpPr>
        <p:spPr>
          <a:xfrm>
            <a:off x="371325" y="3078325"/>
            <a:ext cx="8226600" cy="1908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0"/>
              </a:spcAft>
              <a:buNone/>
            </a:pPr>
            <a:r>
              <a:rPr b="1" lang="en" sz="1000">
                <a:solidFill>
                  <a:schemeClr val="dk1"/>
                </a:solidFill>
              </a:rPr>
              <a:t>Limitation of the Simplest GNN</a:t>
            </a:r>
            <a:endParaRPr b="1" sz="1000">
              <a:solidFill>
                <a:schemeClr val="dk1"/>
              </a:solidFill>
            </a:endParaRPr>
          </a:p>
          <a:p>
            <a:pPr indent="-292100" lvl="0" marL="457200" rtl="0" algn="l">
              <a:lnSpc>
                <a:spcPct val="115000"/>
              </a:lnSpc>
              <a:spcBef>
                <a:spcPts val="1200"/>
              </a:spcBef>
              <a:spcAft>
                <a:spcPts val="0"/>
              </a:spcAft>
              <a:buClr>
                <a:schemeClr val="dk1"/>
              </a:buClr>
              <a:buSzPts val="1000"/>
              <a:buChar char="●"/>
            </a:pPr>
            <a:r>
              <a:rPr lang="en" sz="1000">
                <a:solidFill>
                  <a:schemeClr val="dk1"/>
                </a:solidFill>
              </a:rPr>
              <a:t>In the simplest GNN layer, graph connectivity is </a:t>
            </a:r>
            <a:r>
              <a:rPr b="1" lang="en" sz="1000">
                <a:solidFill>
                  <a:schemeClr val="dk1"/>
                </a:solidFill>
              </a:rPr>
              <a:t>not used during embedding updates</a:t>
            </a:r>
            <a:r>
              <a:rPr lang="en" sz="1000">
                <a:solidFill>
                  <a:schemeClr val="dk1"/>
                </a:solidFill>
              </a:rPr>
              <a:t>.</a:t>
            </a:r>
            <a:endParaRPr sz="1000">
              <a:solidFill>
                <a:schemeClr val="dk1"/>
              </a:solidFill>
            </a:endParaRPr>
          </a:p>
          <a:p>
            <a:pPr indent="-292100" lvl="0" marL="457200" rtl="0" algn="l">
              <a:lnSpc>
                <a:spcPct val="115000"/>
              </a:lnSpc>
              <a:spcBef>
                <a:spcPts val="0"/>
              </a:spcBef>
              <a:spcAft>
                <a:spcPts val="0"/>
              </a:spcAft>
              <a:buClr>
                <a:schemeClr val="dk1"/>
              </a:buClr>
              <a:buSzPts val="1000"/>
              <a:buChar char="●"/>
            </a:pPr>
            <a:r>
              <a:rPr lang="en" sz="1000">
                <a:solidFill>
                  <a:schemeClr val="dk1"/>
                </a:solidFill>
              </a:rPr>
              <a:t>Each graph component is processed independently:</a:t>
            </a:r>
            <a:endParaRPr sz="1000">
              <a:solidFill>
                <a:schemeClr val="dk1"/>
              </a:solidFill>
            </a:endParaRPr>
          </a:p>
          <a:p>
            <a:pPr indent="-292100" lvl="1" marL="914400" rtl="0" algn="l">
              <a:lnSpc>
                <a:spcPct val="115000"/>
              </a:lnSpc>
              <a:spcBef>
                <a:spcPts val="0"/>
              </a:spcBef>
              <a:spcAft>
                <a:spcPts val="0"/>
              </a:spcAft>
              <a:buClr>
                <a:schemeClr val="dk1"/>
              </a:buClr>
              <a:buSzPts val="1000"/>
              <a:buChar char="○"/>
            </a:pPr>
            <a:r>
              <a:rPr lang="en" sz="1000">
                <a:solidFill>
                  <a:schemeClr val="dk1"/>
                </a:solidFill>
              </a:rPr>
              <a:t>Each node is updated separately.</a:t>
            </a:r>
            <a:endParaRPr sz="1000">
              <a:solidFill>
                <a:schemeClr val="dk1"/>
              </a:solidFill>
            </a:endParaRPr>
          </a:p>
          <a:p>
            <a:pPr indent="-292100" lvl="1" marL="914400" rtl="0" algn="l">
              <a:lnSpc>
                <a:spcPct val="115000"/>
              </a:lnSpc>
              <a:spcBef>
                <a:spcPts val="0"/>
              </a:spcBef>
              <a:spcAft>
                <a:spcPts val="0"/>
              </a:spcAft>
              <a:buClr>
                <a:schemeClr val="dk1"/>
              </a:buClr>
              <a:buSzPts val="1000"/>
              <a:buChar char="○"/>
            </a:pPr>
            <a:r>
              <a:rPr lang="en" sz="1000">
                <a:solidFill>
                  <a:schemeClr val="dk1"/>
                </a:solidFill>
              </a:rPr>
              <a:t>Each edge is updated separately.</a:t>
            </a:r>
            <a:endParaRPr sz="1000">
              <a:solidFill>
                <a:schemeClr val="dk1"/>
              </a:solidFill>
            </a:endParaRPr>
          </a:p>
          <a:p>
            <a:pPr indent="-292100" lvl="1" marL="914400" rtl="0" algn="l">
              <a:lnSpc>
                <a:spcPct val="115000"/>
              </a:lnSpc>
              <a:spcBef>
                <a:spcPts val="0"/>
              </a:spcBef>
              <a:spcAft>
                <a:spcPts val="0"/>
              </a:spcAft>
              <a:buClr>
                <a:schemeClr val="dk1"/>
              </a:buClr>
              <a:buSzPts val="1000"/>
              <a:buChar char="○"/>
            </a:pPr>
            <a:r>
              <a:rPr lang="en" sz="1000">
                <a:solidFill>
                  <a:schemeClr val="dk1"/>
                </a:solidFill>
              </a:rPr>
              <a:t>The global context is updated separately.</a:t>
            </a:r>
            <a:endParaRPr sz="1000">
              <a:solidFill>
                <a:schemeClr val="dk1"/>
              </a:solidFill>
            </a:endParaRPr>
          </a:p>
          <a:p>
            <a:pPr indent="-292100" lvl="0" marL="457200" rtl="0" algn="l">
              <a:lnSpc>
                <a:spcPct val="115000"/>
              </a:lnSpc>
              <a:spcBef>
                <a:spcPts val="0"/>
              </a:spcBef>
              <a:spcAft>
                <a:spcPts val="0"/>
              </a:spcAft>
              <a:buClr>
                <a:schemeClr val="dk1"/>
              </a:buClr>
              <a:buSzPts val="1000"/>
              <a:buChar char="●"/>
            </a:pPr>
            <a:r>
              <a:rPr lang="en" sz="1000">
                <a:solidFill>
                  <a:schemeClr val="dk1"/>
                </a:solidFill>
              </a:rPr>
              <a:t>Connectivity is only used later during pooling for prediction.</a:t>
            </a:r>
            <a:endParaRPr sz="1000">
              <a:solidFill>
                <a:schemeClr val="dk1"/>
              </a:solidFill>
            </a:endParaRPr>
          </a:p>
          <a:p>
            <a:pPr indent="-292100" lvl="0" marL="457200" rtl="0" algn="l">
              <a:lnSpc>
                <a:spcPct val="115000"/>
              </a:lnSpc>
              <a:spcBef>
                <a:spcPts val="0"/>
              </a:spcBef>
              <a:spcAft>
                <a:spcPts val="0"/>
              </a:spcAft>
              <a:buClr>
                <a:schemeClr val="dk1"/>
              </a:buClr>
              <a:buSzPts val="1000"/>
              <a:buChar char="●"/>
            </a:pPr>
            <a:r>
              <a:rPr lang="en" sz="1000">
                <a:solidFill>
                  <a:schemeClr val="dk1"/>
                </a:solidFill>
              </a:rPr>
              <a:t>This means the model does not fully exploit the graph structure inside the GNN layer.</a:t>
            </a:r>
            <a:endParaRPr sz="1000">
              <a:solidFill>
                <a:schemeClr val="dk1"/>
              </a:solidFill>
            </a:endParaRPr>
          </a:p>
          <a:p>
            <a:pPr indent="-292100" lvl="0" marL="457200" rtl="0" algn="l">
              <a:lnSpc>
                <a:spcPct val="115000"/>
              </a:lnSpc>
              <a:spcBef>
                <a:spcPts val="0"/>
              </a:spcBef>
              <a:spcAft>
                <a:spcPts val="0"/>
              </a:spcAft>
              <a:buClr>
                <a:schemeClr val="dk1"/>
              </a:buClr>
              <a:buSzPts val="1000"/>
              <a:buChar char="●"/>
            </a:pPr>
            <a:r>
              <a:rPr lang="en" sz="1000">
                <a:solidFill>
                  <a:schemeClr val="dk1"/>
                </a:solidFill>
              </a:rPr>
              <a:t>More advanced GNNs use connectivity directly during message passing.</a:t>
            </a:r>
            <a:endParaRPr sz="1000">
              <a:solidFill>
                <a:schemeClr val="dk2"/>
              </a:solidFill>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sp>
        <p:nvSpPr>
          <p:cNvPr id="292" name="Google Shape;292;p41"/>
          <p:cNvSpPr txBox="1"/>
          <p:nvPr/>
        </p:nvSpPr>
        <p:spPr>
          <a:xfrm>
            <a:off x="259375" y="263550"/>
            <a:ext cx="7745400" cy="384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400"/>
              </a:spcAft>
              <a:buClr>
                <a:schemeClr val="dk1"/>
              </a:buClr>
              <a:buSzPts val="1100"/>
              <a:buFont typeface="Arial"/>
              <a:buNone/>
            </a:pPr>
            <a:r>
              <a:rPr b="1" lang="en" sz="1300">
                <a:solidFill>
                  <a:schemeClr val="dk1"/>
                </a:solidFill>
              </a:rPr>
              <a:t>Message Passing in GNNs</a:t>
            </a:r>
            <a:endParaRPr b="1" sz="1800">
              <a:solidFill>
                <a:schemeClr val="dk1"/>
              </a:solidFill>
              <a:latin typeface="Calibri"/>
              <a:ea typeface="Calibri"/>
              <a:cs typeface="Calibri"/>
              <a:sym typeface="Calibri"/>
            </a:endParaRPr>
          </a:p>
        </p:txBody>
      </p:sp>
      <p:sp>
        <p:nvSpPr>
          <p:cNvPr id="293" name="Google Shape;293;p41"/>
          <p:cNvSpPr txBox="1"/>
          <p:nvPr/>
        </p:nvSpPr>
        <p:spPr>
          <a:xfrm>
            <a:off x="340000" y="792150"/>
            <a:ext cx="84396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4" name="Google Shape;294;p41"/>
          <p:cNvSpPr txBox="1"/>
          <p:nvPr/>
        </p:nvSpPr>
        <p:spPr>
          <a:xfrm>
            <a:off x="106575" y="792150"/>
            <a:ext cx="8756100" cy="354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t/>
            </a:r>
            <a:endParaRPr sz="1100">
              <a:solidFill>
                <a:schemeClr val="dk1"/>
              </a:solidFill>
            </a:endParaRPr>
          </a:p>
        </p:txBody>
      </p:sp>
      <p:sp>
        <p:nvSpPr>
          <p:cNvPr id="295" name="Google Shape;295;p41"/>
          <p:cNvSpPr txBox="1"/>
          <p:nvPr/>
        </p:nvSpPr>
        <p:spPr>
          <a:xfrm>
            <a:off x="142725" y="941800"/>
            <a:ext cx="3558900" cy="3218400"/>
          </a:xfrm>
          <a:prstGeom prst="rect">
            <a:avLst/>
          </a:prstGeom>
          <a:noFill/>
          <a:ln>
            <a:noFill/>
          </a:ln>
        </p:spPr>
        <p:txBody>
          <a:bodyPr anchorCtr="0" anchor="t" bIns="91425" lIns="91425" spcFirstLastPara="1" rIns="91425" wrap="square" tIns="91425">
            <a:spAutoFit/>
          </a:bodyPr>
          <a:lstStyle/>
          <a:p>
            <a:pPr indent="-298450" lvl="0" marL="457200" rtl="0" algn="l">
              <a:lnSpc>
                <a:spcPct val="115000"/>
              </a:lnSpc>
              <a:spcBef>
                <a:spcPts val="1200"/>
              </a:spcBef>
              <a:spcAft>
                <a:spcPts val="0"/>
              </a:spcAft>
              <a:buClr>
                <a:schemeClr val="dk1"/>
              </a:buClr>
              <a:buSzPts val="1100"/>
              <a:buChar char="●"/>
            </a:pPr>
            <a:r>
              <a:rPr lang="en" sz="1100">
                <a:solidFill>
                  <a:schemeClr val="dk1"/>
                </a:solidFill>
              </a:rPr>
              <a:t>Message passing brings </a:t>
            </a:r>
            <a:r>
              <a:rPr b="1" lang="en" sz="1100">
                <a:solidFill>
                  <a:schemeClr val="dk1"/>
                </a:solidFill>
              </a:rPr>
              <a:t>graph connectivity inside the GNN layer</a:t>
            </a:r>
            <a:r>
              <a:rPr lang="en" sz="1100">
                <a:solidFill>
                  <a:schemeClr val="dk1"/>
                </a:solidFill>
              </a:rPr>
              <a:t>.</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 sz="1100">
                <a:solidFill>
                  <a:schemeClr val="dk1"/>
                </a:solidFill>
              </a:rPr>
              <a:t>Instead of updating each node independently, a node receives information from its neighbors.</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 sz="1100">
                <a:solidFill>
                  <a:schemeClr val="dk1"/>
                </a:solidFill>
              </a:rPr>
              <a:t>Neighboring nodes or edges exchange information and influence each other’s updated embeddings.</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 sz="1100">
                <a:solidFill>
                  <a:schemeClr val="dk1"/>
                </a:solidFill>
              </a:rPr>
              <a:t>This makes learned embeddings aware of the graph structure.</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 sz="1100">
                <a:solidFill>
                  <a:schemeClr val="dk1"/>
                </a:solidFill>
              </a:rPr>
              <a:t>Message passing can happen between:</a:t>
            </a:r>
            <a:endParaRPr sz="1100">
              <a:solidFill>
                <a:schemeClr val="dk1"/>
              </a:solidFill>
            </a:endParaRPr>
          </a:p>
          <a:p>
            <a:pPr indent="-298450" lvl="1" marL="914400" rtl="0" algn="l">
              <a:lnSpc>
                <a:spcPct val="115000"/>
              </a:lnSpc>
              <a:spcBef>
                <a:spcPts val="0"/>
              </a:spcBef>
              <a:spcAft>
                <a:spcPts val="0"/>
              </a:spcAft>
              <a:buClr>
                <a:schemeClr val="dk1"/>
              </a:buClr>
              <a:buSzPts val="1100"/>
              <a:buChar char="○"/>
            </a:pPr>
            <a:r>
              <a:rPr lang="en" sz="1100">
                <a:solidFill>
                  <a:schemeClr val="dk1"/>
                </a:solidFill>
              </a:rPr>
              <a:t>Nodes and nodes</a:t>
            </a:r>
            <a:endParaRPr sz="1100">
              <a:solidFill>
                <a:schemeClr val="dk1"/>
              </a:solidFill>
            </a:endParaRPr>
          </a:p>
          <a:p>
            <a:pPr indent="-298450" lvl="1" marL="914400" rtl="0" algn="l">
              <a:lnSpc>
                <a:spcPct val="115000"/>
              </a:lnSpc>
              <a:spcBef>
                <a:spcPts val="0"/>
              </a:spcBef>
              <a:spcAft>
                <a:spcPts val="0"/>
              </a:spcAft>
              <a:buClr>
                <a:schemeClr val="dk1"/>
              </a:buClr>
              <a:buSzPts val="1100"/>
              <a:buChar char="○"/>
            </a:pPr>
            <a:r>
              <a:rPr lang="en" sz="1100">
                <a:solidFill>
                  <a:schemeClr val="dk1"/>
                </a:solidFill>
              </a:rPr>
              <a:t>Edges and nodes</a:t>
            </a:r>
            <a:endParaRPr sz="1100">
              <a:solidFill>
                <a:schemeClr val="dk1"/>
              </a:solidFill>
            </a:endParaRPr>
          </a:p>
          <a:p>
            <a:pPr indent="-298450" lvl="1" marL="914400" rtl="0" algn="l">
              <a:lnSpc>
                <a:spcPct val="115000"/>
              </a:lnSpc>
              <a:spcBef>
                <a:spcPts val="0"/>
              </a:spcBef>
              <a:spcAft>
                <a:spcPts val="0"/>
              </a:spcAft>
              <a:buClr>
                <a:schemeClr val="dk1"/>
              </a:buClr>
              <a:buSzPts val="1100"/>
              <a:buChar char="○"/>
            </a:pPr>
            <a:r>
              <a:rPr lang="en" sz="1100">
                <a:solidFill>
                  <a:schemeClr val="dk1"/>
                </a:solidFill>
              </a:rPr>
              <a:t>Nodes or edges and global graph features</a:t>
            </a:r>
            <a:endParaRPr sz="1100">
              <a:solidFill>
                <a:schemeClr val="dk1"/>
              </a:solidFill>
            </a:endParaRPr>
          </a:p>
          <a:p>
            <a:pPr indent="0" lvl="0" marL="0" rtl="0" algn="l">
              <a:lnSpc>
                <a:spcPct val="115000"/>
              </a:lnSpc>
              <a:spcBef>
                <a:spcPts val="1200"/>
              </a:spcBef>
              <a:spcAft>
                <a:spcPts val="1200"/>
              </a:spcAft>
              <a:buNone/>
            </a:pPr>
            <a:r>
              <a:t/>
            </a:r>
            <a:endParaRPr b="1" sz="1000">
              <a:solidFill>
                <a:schemeClr val="dk1"/>
              </a:solidFill>
            </a:endParaRPr>
          </a:p>
        </p:txBody>
      </p:sp>
      <p:pic>
        <p:nvPicPr>
          <p:cNvPr id="296" name="Google Shape;296;p41"/>
          <p:cNvPicPr preferRelativeResize="0"/>
          <p:nvPr/>
        </p:nvPicPr>
        <p:blipFill>
          <a:blip r:embed="rId3">
            <a:alphaModFix/>
          </a:blip>
          <a:stretch>
            <a:fillRect/>
          </a:stretch>
        </p:blipFill>
        <p:spPr>
          <a:xfrm>
            <a:off x="3725100" y="1289850"/>
            <a:ext cx="5137574" cy="2352559"/>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sp>
        <p:nvSpPr>
          <p:cNvPr id="301" name="Google Shape;301;p42"/>
          <p:cNvSpPr txBox="1"/>
          <p:nvPr/>
        </p:nvSpPr>
        <p:spPr>
          <a:xfrm>
            <a:off x="106575" y="140450"/>
            <a:ext cx="2114400" cy="384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400"/>
              </a:spcAft>
              <a:buNone/>
            </a:pPr>
            <a:r>
              <a:rPr b="1" lang="en" sz="1300">
                <a:solidFill>
                  <a:schemeClr val="dk1"/>
                </a:solidFill>
              </a:rPr>
              <a:t>Message Passing Steps</a:t>
            </a:r>
            <a:endParaRPr b="1" sz="1800">
              <a:solidFill>
                <a:schemeClr val="dk1"/>
              </a:solidFill>
              <a:latin typeface="Calibri"/>
              <a:ea typeface="Calibri"/>
              <a:cs typeface="Calibri"/>
              <a:sym typeface="Calibri"/>
            </a:endParaRPr>
          </a:p>
        </p:txBody>
      </p:sp>
      <p:sp>
        <p:nvSpPr>
          <p:cNvPr id="302" name="Google Shape;302;p42"/>
          <p:cNvSpPr txBox="1"/>
          <p:nvPr/>
        </p:nvSpPr>
        <p:spPr>
          <a:xfrm>
            <a:off x="340000" y="792150"/>
            <a:ext cx="84396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03" name="Google Shape;303;p42"/>
          <p:cNvSpPr txBox="1"/>
          <p:nvPr/>
        </p:nvSpPr>
        <p:spPr>
          <a:xfrm>
            <a:off x="106575" y="792150"/>
            <a:ext cx="8756100" cy="354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t/>
            </a:r>
            <a:endParaRPr sz="1100">
              <a:solidFill>
                <a:schemeClr val="dk1"/>
              </a:solidFill>
            </a:endParaRPr>
          </a:p>
        </p:txBody>
      </p:sp>
      <p:sp>
        <p:nvSpPr>
          <p:cNvPr id="304" name="Google Shape;304;p42"/>
          <p:cNvSpPr txBox="1"/>
          <p:nvPr/>
        </p:nvSpPr>
        <p:spPr>
          <a:xfrm>
            <a:off x="106575" y="572325"/>
            <a:ext cx="3558900" cy="4012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n" sz="1100">
                <a:solidFill>
                  <a:schemeClr val="dk1"/>
                </a:solidFill>
              </a:rPr>
              <a:t>Message passing usually has three steps:</a:t>
            </a:r>
            <a:endParaRPr sz="1100">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sz="1100">
                <a:solidFill>
                  <a:schemeClr val="dk1"/>
                </a:solidFill>
              </a:rPr>
              <a:t>Gather</a:t>
            </a:r>
            <a:endParaRPr b="1" sz="1100">
              <a:solidFill>
                <a:schemeClr val="dk1"/>
              </a:solidFill>
            </a:endParaRPr>
          </a:p>
          <a:p>
            <a:pPr indent="-298450" lvl="1" marL="914400" rtl="0" algn="l">
              <a:lnSpc>
                <a:spcPct val="115000"/>
              </a:lnSpc>
              <a:spcBef>
                <a:spcPts val="0"/>
              </a:spcBef>
              <a:spcAft>
                <a:spcPts val="0"/>
              </a:spcAft>
              <a:buClr>
                <a:schemeClr val="dk1"/>
              </a:buClr>
              <a:buSzPts val="1100"/>
              <a:buChar char="○"/>
            </a:pPr>
            <a:r>
              <a:rPr lang="en" sz="1100">
                <a:solidFill>
                  <a:schemeClr val="dk1"/>
                </a:solidFill>
              </a:rPr>
              <a:t>Collect embeddings/messages from neighboring nodes or edges.</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en" sz="1100">
                <a:solidFill>
                  <a:schemeClr val="dk1"/>
                </a:solidFill>
              </a:rPr>
              <a:t>Aggregate</a:t>
            </a:r>
            <a:endParaRPr b="1" sz="1100">
              <a:solidFill>
                <a:schemeClr val="dk1"/>
              </a:solidFill>
            </a:endParaRPr>
          </a:p>
          <a:p>
            <a:pPr indent="-298450" lvl="1" marL="914400" rtl="0" algn="l">
              <a:lnSpc>
                <a:spcPct val="115000"/>
              </a:lnSpc>
              <a:spcBef>
                <a:spcPts val="0"/>
              </a:spcBef>
              <a:spcAft>
                <a:spcPts val="0"/>
              </a:spcAft>
              <a:buClr>
                <a:schemeClr val="dk1"/>
              </a:buClr>
              <a:buSzPts val="1100"/>
              <a:buChar char="○"/>
            </a:pPr>
            <a:r>
              <a:rPr lang="en" sz="1100">
                <a:solidFill>
                  <a:schemeClr val="dk1"/>
                </a:solidFill>
              </a:rPr>
              <a:t>Combine the collected messages using a permutation-invariant function.</a:t>
            </a:r>
            <a:endParaRPr sz="1100">
              <a:solidFill>
                <a:schemeClr val="dk1"/>
              </a:solidFill>
            </a:endParaRPr>
          </a:p>
          <a:p>
            <a:pPr indent="-298450" lvl="1" marL="914400" rtl="0" algn="l">
              <a:lnSpc>
                <a:spcPct val="115000"/>
              </a:lnSpc>
              <a:spcBef>
                <a:spcPts val="0"/>
              </a:spcBef>
              <a:spcAft>
                <a:spcPts val="0"/>
              </a:spcAft>
              <a:buClr>
                <a:schemeClr val="dk1"/>
              </a:buClr>
              <a:buSzPts val="1100"/>
              <a:buChar char="○"/>
            </a:pPr>
            <a:r>
              <a:rPr lang="en" sz="1100">
                <a:solidFill>
                  <a:schemeClr val="dk1"/>
                </a:solidFill>
              </a:rPr>
              <a:t>Common choices: </a:t>
            </a:r>
            <a:r>
              <a:rPr b="1" lang="en" sz="1100">
                <a:solidFill>
                  <a:schemeClr val="dk1"/>
                </a:solidFill>
              </a:rPr>
              <a:t>sum</a:t>
            </a:r>
            <a:r>
              <a:rPr lang="en" sz="1100">
                <a:solidFill>
                  <a:schemeClr val="dk1"/>
                </a:solidFill>
              </a:rPr>
              <a:t>, </a:t>
            </a:r>
            <a:r>
              <a:rPr b="1" lang="en" sz="1100">
                <a:solidFill>
                  <a:schemeClr val="dk1"/>
                </a:solidFill>
              </a:rPr>
              <a:t>mean</a:t>
            </a:r>
            <a:r>
              <a:rPr lang="en" sz="1100">
                <a:solidFill>
                  <a:schemeClr val="dk1"/>
                </a:solidFill>
              </a:rPr>
              <a:t>, or </a:t>
            </a:r>
            <a:r>
              <a:rPr b="1" lang="en" sz="1100">
                <a:solidFill>
                  <a:schemeClr val="dk1"/>
                </a:solidFill>
              </a:rPr>
              <a:t>max</a:t>
            </a:r>
            <a:r>
              <a:rPr lang="en" sz="1100">
                <a:solidFill>
                  <a:schemeClr val="dk1"/>
                </a:solidFill>
              </a:rPr>
              <a:t>.</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en" sz="1100">
                <a:solidFill>
                  <a:schemeClr val="dk1"/>
                </a:solidFill>
              </a:rPr>
              <a:t>Update</a:t>
            </a:r>
            <a:endParaRPr b="1" sz="1100">
              <a:solidFill>
                <a:schemeClr val="dk1"/>
              </a:solidFill>
            </a:endParaRPr>
          </a:p>
          <a:p>
            <a:pPr indent="-298450" lvl="1" marL="914400" rtl="0" algn="l">
              <a:lnSpc>
                <a:spcPct val="115000"/>
              </a:lnSpc>
              <a:spcBef>
                <a:spcPts val="0"/>
              </a:spcBef>
              <a:spcAft>
                <a:spcPts val="0"/>
              </a:spcAft>
              <a:buClr>
                <a:schemeClr val="dk1"/>
              </a:buClr>
              <a:buSzPts val="1100"/>
              <a:buChar char="○"/>
            </a:pPr>
            <a:r>
              <a:rPr lang="en" sz="1100">
                <a:solidFill>
                  <a:schemeClr val="dk1"/>
                </a:solidFill>
              </a:rPr>
              <a:t>Pass the aggregated message through a learned update function, usually an MLP.</a:t>
            </a:r>
            <a:endParaRPr sz="1100">
              <a:solidFill>
                <a:schemeClr val="dk1"/>
              </a:solidFill>
            </a:endParaRPr>
          </a:p>
          <a:p>
            <a:pPr indent="-298450" lvl="1" marL="914400" rtl="0" algn="l">
              <a:lnSpc>
                <a:spcPct val="115000"/>
              </a:lnSpc>
              <a:spcBef>
                <a:spcPts val="0"/>
              </a:spcBef>
              <a:spcAft>
                <a:spcPts val="0"/>
              </a:spcAft>
              <a:buClr>
                <a:schemeClr val="dk1"/>
              </a:buClr>
              <a:buSzPts val="1100"/>
              <a:buChar char="○"/>
            </a:pPr>
            <a:r>
              <a:rPr lang="en" sz="1100">
                <a:solidFill>
                  <a:schemeClr val="dk1"/>
                </a:solidFill>
              </a:rPr>
              <a:t>This produces the updated node embedding.</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 sz="1100">
                <a:solidFill>
                  <a:schemeClr val="dk1"/>
                </a:solidFill>
              </a:rPr>
              <a:t>This sequence forms one basic </a:t>
            </a:r>
            <a:r>
              <a:rPr b="1" lang="en" sz="1100">
                <a:solidFill>
                  <a:schemeClr val="dk1"/>
                </a:solidFill>
              </a:rPr>
              <a:t>message-passing GNN layer</a:t>
            </a:r>
            <a:r>
              <a:rPr lang="en" sz="1100">
                <a:solidFill>
                  <a:schemeClr val="dk1"/>
                </a:solidFill>
              </a:rPr>
              <a:t>.</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 sz="1100">
                <a:solidFill>
                  <a:schemeClr val="dk1"/>
                </a:solidFill>
              </a:rPr>
              <a:t>The aggregation must be permutation-invariant so the output does not depend on node ordering.</a:t>
            </a:r>
            <a:endParaRPr sz="1100">
              <a:solidFill>
                <a:schemeClr val="dk1"/>
              </a:solidFill>
            </a:endParaRPr>
          </a:p>
        </p:txBody>
      </p:sp>
      <p:pic>
        <p:nvPicPr>
          <p:cNvPr id="305" name="Google Shape;305;p42"/>
          <p:cNvPicPr preferRelativeResize="0"/>
          <p:nvPr/>
        </p:nvPicPr>
        <p:blipFill>
          <a:blip r:embed="rId3">
            <a:alphaModFix/>
          </a:blip>
          <a:stretch>
            <a:fillRect/>
          </a:stretch>
        </p:blipFill>
        <p:spPr>
          <a:xfrm>
            <a:off x="4294226" y="456700"/>
            <a:ext cx="4538950" cy="3385550"/>
          </a:xfrm>
          <a:prstGeom prst="rect">
            <a:avLst/>
          </a:prstGeom>
          <a:noFill/>
          <a:ln>
            <a:noFill/>
          </a:ln>
        </p:spPr>
      </p:pic>
      <p:sp>
        <p:nvSpPr>
          <p:cNvPr id="306" name="Google Shape;306;p42"/>
          <p:cNvSpPr txBox="1"/>
          <p:nvPr/>
        </p:nvSpPr>
        <p:spPr>
          <a:xfrm>
            <a:off x="4114800" y="3912575"/>
            <a:ext cx="4806300" cy="33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chemeClr val="dk1"/>
                </a:solidFill>
              </a:rPr>
              <a:t>new node embedding = MLP(own embedding + aggregated neighbor messages)</a:t>
            </a:r>
            <a:endParaRPr sz="1000">
              <a:solidFill>
                <a:schemeClr val="dk1"/>
              </a:solidFill>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0" name="Shape 310"/>
        <p:cNvGrpSpPr/>
        <p:nvPr/>
      </p:nvGrpSpPr>
      <p:grpSpPr>
        <a:xfrm>
          <a:off x="0" y="0"/>
          <a:ext cx="0" cy="0"/>
          <a:chOff x="0" y="0"/>
          <a:chExt cx="0" cy="0"/>
        </a:xfrm>
      </p:grpSpPr>
      <p:sp>
        <p:nvSpPr>
          <p:cNvPr id="311" name="Google Shape;311;p43"/>
          <p:cNvSpPr txBox="1"/>
          <p:nvPr/>
        </p:nvSpPr>
        <p:spPr>
          <a:xfrm>
            <a:off x="106575" y="140450"/>
            <a:ext cx="3972900" cy="384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400"/>
              </a:spcAft>
              <a:buNone/>
            </a:pPr>
            <a:r>
              <a:rPr b="1" lang="en" sz="1300">
                <a:solidFill>
                  <a:schemeClr val="dk1"/>
                </a:solidFill>
              </a:rPr>
              <a:t>Message Passing as Graph Convolution</a:t>
            </a:r>
            <a:endParaRPr b="1" sz="1800">
              <a:solidFill>
                <a:schemeClr val="dk1"/>
              </a:solidFill>
              <a:latin typeface="Calibri"/>
              <a:ea typeface="Calibri"/>
              <a:cs typeface="Calibri"/>
              <a:sym typeface="Calibri"/>
            </a:endParaRPr>
          </a:p>
        </p:txBody>
      </p:sp>
      <p:sp>
        <p:nvSpPr>
          <p:cNvPr id="312" name="Google Shape;312;p43"/>
          <p:cNvSpPr txBox="1"/>
          <p:nvPr/>
        </p:nvSpPr>
        <p:spPr>
          <a:xfrm>
            <a:off x="106575" y="792150"/>
            <a:ext cx="8756100" cy="354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t/>
            </a:r>
            <a:endParaRPr sz="1100">
              <a:solidFill>
                <a:schemeClr val="dk1"/>
              </a:solidFill>
            </a:endParaRPr>
          </a:p>
        </p:txBody>
      </p:sp>
      <p:sp>
        <p:nvSpPr>
          <p:cNvPr id="313" name="Google Shape;313;p43"/>
          <p:cNvSpPr txBox="1"/>
          <p:nvPr/>
        </p:nvSpPr>
        <p:spPr>
          <a:xfrm>
            <a:off x="106575" y="572325"/>
            <a:ext cx="4187700" cy="3818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n" sz="1100">
                <a:solidFill>
                  <a:schemeClr val="dk1"/>
                </a:solidFill>
                <a:latin typeface="Calibri"/>
                <a:ea typeface="Calibri"/>
                <a:cs typeface="Calibri"/>
                <a:sym typeface="Calibri"/>
              </a:rPr>
              <a:t>Message passing is similar to </a:t>
            </a:r>
            <a:r>
              <a:rPr b="1" lang="en" sz="1100">
                <a:solidFill>
                  <a:schemeClr val="dk1"/>
                </a:solidFill>
                <a:latin typeface="Calibri"/>
                <a:ea typeface="Calibri"/>
                <a:cs typeface="Calibri"/>
                <a:sym typeface="Calibri"/>
              </a:rPr>
              <a:t>convolution in CNNs</a:t>
            </a:r>
            <a:r>
              <a:rPr lang="en" sz="1100">
                <a:solidFill>
                  <a:schemeClr val="dk1"/>
                </a:solidFill>
                <a:latin typeface="Calibri"/>
                <a:ea typeface="Calibri"/>
                <a:cs typeface="Calibri"/>
                <a:sym typeface="Calibri"/>
              </a:rPr>
              <a:t>.</a:t>
            </a:r>
            <a:endParaRPr sz="1100">
              <a:solidFill>
                <a:schemeClr val="dk1"/>
              </a:solidFill>
              <a:latin typeface="Calibri"/>
              <a:ea typeface="Calibri"/>
              <a:cs typeface="Calibri"/>
              <a:sym typeface="Calibri"/>
            </a:endParaRPr>
          </a:p>
          <a:p>
            <a:pPr indent="-298450" lvl="0" marL="457200" rtl="0" algn="l">
              <a:lnSpc>
                <a:spcPct val="115000"/>
              </a:lnSpc>
              <a:spcBef>
                <a:spcPts val="120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In CNNs:</a:t>
            </a:r>
            <a:endParaRPr sz="1100">
              <a:solidFill>
                <a:schemeClr val="dk1"/>
              </a:solidFill>
              <a:latin typeface="Calibri"/>
              <a:ea typeface="Calibri"/>
              <a:cs typeface="Calibri"/>
              <a:sym typeface="Calibri"/>
            </a:endParaRPr>
          </a:p>
          <a:p>
            <a:pPr indent="-298450" lvl="1" marL="914400" rtl="0" algn="l">
              <a:lnSpc>
                <a:spcPct val="115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A filter looks at a local pixel/feature window.</a:t>
            </a:r>
            <a:endParaRPr sz="1100">
              <a:solidFill>
                <a:schemeClr val="dk1"/>
              </a:solidFill>
              <a:latin typeface="Calibri"/>
              <a:ea typeface="Calibri"/>
              <a:cs typeface="Calibri"/>
              <a:sym typeface="Calibri"/>
            </a:endParaRPr>
          </a:p>
          <a:p>
            <a:pPr indent="-298450" lvl="1" marL="914400" rtl="0" algn="l">
              <a:lnSpc>
                <a:spcPct val="115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It combines nearby values using learned weights.</a:t>
            </a:r>
            <a:endParaRPr sz="1100">
              <a:solidFill>
                <a:schemeClr val="dk1"/>
              </a:solidFill>
              <a:latin typeface="Calibri"/>
              <a:ea typeface="Calibri"/>
              <a:cs typeface="Calibri"/>
              <a:sym typeface="Calibri"/>
            </a:endParaRPr>
          </a:p>
          <a:p>
            <a:pPr indent="-298450" lvl="1" marL="914400" rtl="0" algn="l">
              <a:lnSpc>
                <a:spcPct val="115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It produces a new value in the output feature map.</a:t>
            </a:r>
            <a:endParaRPr sz="1100">
              <a:solidFill>
                <a:schemeClr val="dk1"/>
              </a:solidFill>
              <a:latin typeface="Calibri"/>
              <a:ea typeface="Calibri"/>
              <a:cs typeface="Calibri"/>
              <a:sym typeface="Calibri"/>
            </a:endParaRPr>
          </a:p>
          <a:p>
            <a:pPr indent="-298450" lvl="0" marL="457200" rtl="0" algn="l">
              <a:lnSpc>
                <a:spcPct val="115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In GNNs:</a:t>
            </a:r>
            <a:endParaRPr sz="1100">
              <a:solidFill>
                <a:schemeClr val="dk1"/>
              </a:solidFill>
              <a:latin typeface="Calibri"/>
              <a:ea typeface="Calibri"/>
              <a:cs typeface="Calibri"/>
              <a:sym typeface="Calibri"/>
            </a:endParaRPr>
          </a:p>
          <a:p>
            <a:pPr indent="-298450" lvl="1" marL="914400" rtl="0" algn="l">
              <a:lnSpc>
                <a:spcPct val="115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A node gathers messages from neighboring nodes.</a:t>
            </a:r>
            <a:endParaRPr sz="1100">
              <a:solidFill>
                <a:schemeClr val="dk1"/>
              </a:solidFill>
              <a:latin typeface="Calibri"/>
              <a:ea typeface="Calibri"/>
              <a:cs typeface="Calibri"/>
              <a:sym typeface="Calibri"/>
            </a:endParaRPr>
          </a:p>
          <a:p>
            <a:pPr indent="-298450" lvl="1" marL="914400" rtl="0" algn="l">
              <a:lnSpc>
                <a:spcPct val="115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It aggregates those messages.</a:t>
            </a:r>
            <a:endParaRPr sz="1100">
              <a:solidFill>
                <a:schemeClr val="dk1"/>
              </a:solidFill>
              <a:latin typeface="Calibri"/>
              <a:ea typeface="Calibri"/>
              <a:cs typeface="Calibri"/>
              <a:sym typeface="Calibri"/>
            </a:endParaRPr>
          </a:p>
          <a:p>
            <a:pPr indent="-298450" lvl="1" marL="914400" rtl="0" algn="l">
              <a:lnSpc>
                <a:spcPct val="115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It updates its own embedding.</a:t>
            </a:r>
            <a:endParaRPr sz="1100">
              <a:solidFill>
                <a:schemeClr val="dk1"/>
              </a:solidFill>
              <a:latin typeface="Calibri"/>
              <a:ea typeface="Calibri"/>
              <a:cs typeface="Calibri"/>
              <a:sym typeface="Calibri"/>
            </a:endParaRPr>
          </a:p>
          <a:p>
            <a:pPr indent="-298450" lvl="0" marL="457200" rtl="0" algn="l">
              <a:lnSpc>
                <a:spcPct val="115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Key difference:</a:t>
            </a:r>
            <a:endParaRPr sz="1100">
              <a:solidFill>
                <a:schemeClr val="dk1"/>
              </a:solidFill>
              <a:latin typeface="Calibri"/>
              <a:ea typeface="Calibri"/>
              <a:cs typeface="Calibri"/>
              <a:sym typeface="Calibri"/>
            </a:endParaRPr>
          </a:p>
          <a:p>
            <a:pPr indent="-298450" lvl="1" marL="914400" rtl="0" algn="l">
              <a:lnSpc>
                <a:spcPct val="115000"/>
              </a:lnSpc>
              <a:spcBef>
                <a:spcPts val="0"/>
              </a:spcBef>
              <a:spcAft>
                <a:spcPts val="0"/>
              </a:spcAft>
              <a:buClr>
                <a:schemeClr val="dk1"/>
              </a:buClr>
              <a:buSzPts val="1100"/>
              <a:buChar char="○"/>
            </a:pPr>
            <a:r>
              <a:rPr lang="en" sz="1100">
                <a:solidFill>
                  <a:schemeClr val="dk1"/>
                </a:solidFill>
                <a:latin typeface="Calibri"/>
                <a:ea typeface="Calibri"/>
                <a:cs typeface="Calibri"/>
                <a:sym typeface="Calibri"/>
              </a:rPr>
              <a:t>CNN neighborhoods are usually fixed, such as 3 × 3.</a:t>
            </a:r>
            <a:endParaRPr sz="1100">
              <a:solidFill>
                <a:schemeClr val="dk1"/>
              </a:solidFill>
              <a:latin typeface="Calibri"/>
              <a:ea typeface="Calibri"/>
              <a:cs typeface="Calibri"/>
              <a:sym typeface="Calibri"/>
            </a:endParaRPr>
          </a:p>
          <a:p>
            <a:pPr indent="-298450" lvl="1" marL="914400" rtl="0" algn="l">
              <a:lnSpc>
                <a:spcPct val="115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Graph neighborhoods are irregular and can have different numbers of neighbors.</a:t>
            </a:r>
            <a:endParaRPr sz="1100">
              <a:solidFill>
                <a:schemeClr val="dk1"/>
              </a:solidFill>
              <a:latin typeface="Calibri"/>
              <a:ea typeface="Calibri"/>
              <a:cs typeface="Calibri"/>
              <a:sym typeface="Calibri"/>
            </a:endParaRPr>
          </a:p>
          <a:p>
            <a:pPr indent="-298450" lvl="0" marL="457200" rtl="0" algn="l">
              <a:lnSpc>
                <a:spcPct val="115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Therefore, GNNs need permutation-invariant aggregation functions such as:</a:t>
            </a:r>
            <a:endParaRPr sz="1100">
              <a:solidFill>
                <a:schemeClr val="dk1"/>
              </a:solidFill>
              <a:latin typeface="Calibri"/>
              <a:ea typeface="Calibri"/>
              <a:cs typeface="Calibri"/>
              <a:sym typeface="Calibri"/>
            </a:endParaRPr>
          </a:p>
          <a:p>
            <a:pPr indent="-298450" lvl="1" marL="914400" rtl="0" algn="l">
              <a:lnSpc>
                <a:spcPct val="115000"/>
              </a:lnSpc>
              <a:spcBef>
                <a:spcPts val="0"/>
              </a:spcBef>
              <a:spcAft>
                <a:spcPts val="0"/>
              </a:spcAft>
              <a:buClr>
                <a:schemeClr val="dk1"/>
              </a:buClr>
              <a:buSzPts val="1100"/>
              <a:buFont typeface="Calibri"/>
              <a:buChar char="○"/>
            </a:pPr>
            <a:r>
              <a:rPr b="1" lang="en" sz="1100">
                <a:solidFill>
                  <a:schemeClr val="dk1"/>
                </a:solidFill>
                <a:latin typeface="Calibri"/>
                <a:ea typeface="Calibri"/>
                <a:cs typeface="Calibri"/>
                <a:sym typeface="Calibri"/>
              </a:rPr>
              <a:t>sum</a:t>
            </a:r>
            <a:endParaRPr b="1" sz="1100">
              <a:solidFill>
                <a:schemeClr val="dk1"/>
              </a:solidFill>
              <a:latin typeface="Calibri"/>
              <a:ea typeface="Calibri"/>
              <a:cs typeface="Calibri"/>
              <a:sym typeface="Calibri"/>
            </a:endParaRPr>
          </a:p>
          <a:p>
            <a:pPr indent="-298450" lvl="1" marL="914400" rtl="0" algn="l">
              <a:lnSpc>
                <a:spcPct val="115000"/>
              </a:lnSpc>
              <a:spcBef>
                <a:spcPts val="0"/>
              </a:spcBef>
              <a:spcAft>
                <a:spcPts val="0"/>
              </a:spcAft>
              <a:buClr>
                <a:schemeClr val="dk1"/>
              </a:buClr>
              <a:buSzPts val="1100"/>
              <a:buFont typeface="Calibri"/>
              <a:buChar char="○"/>
            </a:pPr>
            <a:r>
              <a:rPr b="1" lang="en" sz="1100">
                <a:solidFill>
                  <a:schemeClr val="dk1"/>
                </a:solidFill>
                <a:latin typeface="Calibri"/>
                <a:ea typeface="Calibri"/>
                <a:cs typeface="Calibri"/>
                <a:sym typeface="Calibri"/>
              </a:rPr>
              <a:t>mean</a:t>
            </a:r>
            <a:endParaRPr b="1" sz="1100">
              <a:solidFill>
                <a:schemeClr val="dk1"/>
              </a:solidFill>
              <a:latin typeface="Calibri"/>
              <a:ea typeface="Calibri"/>
              <a:cs typeface="Calibri"/>
              <a:sym typeface="Calibri"/>
            </a:endParaRPr>
          </a:p>
          <a:p>
            <a:pPr indent="-298450" lvl="1" marL="914400" rtl="0" algn="l">
              <a:lnSpc>
                <a:spcPct val="115000"/>
              </a:lnSpc>
              <a:spcBef>
                <a:spcPts val="0"/>
              </a:spcBef>
              <a:spcAft>
                <a:spcPts val="0"/>
              </a:spcAft>
              <a:buClr>
                <a:schemeClr val="dk1"/>
              </a:buClr>
              <a:buSzPts val="1100"/>
              <a:buFont typeface="Calibri"/>
              <a:buChar char="○"/>
            </a:pPr>
            <a:r>
              <a:rPr b="1" lang="en" sz="1100">
                <a:solidFill>
                  <a:schemeClr val="dk1"/>
                </a:solidFill>
                <a:latin typeface="Calibri"/>
                <a:ea typeface="Calibri"/>
                <a:cs typeface="Calibri"/>
                <a:sym typeface="Calibri"/>
              </a:rPr>
              <a:t>max</a:t>
            </a:r>
            <a:endParaRPr sz="1100">
              <a:solidFill>
                <a:schemeClr val="dk1"/>
              </a:solidFill>
              <a:latin typeface="Calibri"/>
              <a:ea typeface="Calibri"/>
              <a:cs typeface="Calibri"/>
              <a:sym typeface="Calibri"/>
            </a:endParaRPr>
          </a:p>
        </p:txBody>
      </p:sp>
      <p:sp>
        <p:nvSpPr>
          <p:cNvPr id="314" name="Google Shape;314;p43"/>
          <p:cNvSpPr txBox="1"/>
          <p:nvPr/>
        </p:nvSpPr>
        <p:spPr>
          <a:xfrm>
            <a:off x="4484100" y="211000"/>
            <a:ext cx="4659900" cy="2685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0"/>
              </a:spcAft>
              <a:buClr>
                <a:schemeClr val="dk1"/>
              </a:buClr>
              <a:buSzPts val="1100"/>
              <a:buFont typeface="Arial"/>
              <a:buNone/>
            </a:pPr>
            <a:r>
              <a:rPr b="1" lang="en" sz="1300">
                <a:solidFill>
                  <a:schemeClr val="dk1"/>
                </a:solidFill>
              </a:rPr>
              <a:t>Stacking Message Passing Layers</a:t>
            </a:r>
            <a:endParaRPr b="1" sz="11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sz="1100">
                <a:solidFill>
                  <a:schemeClr val="dk1"/>
                </a:solidFill>
              </a:rPr>
              <a:t>One message-passing layer allows a node to use information from its </a:t>
            </a:r>
            <a:r>
              <a:rPr b="1" lang="en" sz="1100">
                <a:solidFill>
                  <a:schemeClr val="dk1"/>
                </a:solidFill>
              </a:rPr>
              <a:t>1-hop neighbors</a:t>
            </a:r>
            <a:r>
              <a:rPr lang="en" sz="1100">
                <a:solidFill>
                  <a:schemeClr val="dk1"/>
                </a:solidFill>
              </a:rPr>
              <a:t>.</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 sz="1100">
                <a:solidFill>
                  <a:schemeClr val="dk1"/>
                </a:solidFill>
              </a:rPr>
              <a:t>Stacking layers increases the node’s receptive field.</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 sz="1100">
                <a:solidFill>
                  <a:schemeClr val="dk1"/>
                </a:solidFill>
              </a:rPr>
              <a:t>After </a:t>
            </a:r>
            <a:r>
              <a:rPr lang="en" sz="1100">
                <a:solidFill>
                  <a:schemeClr val="dk1"/>
                </a:solidFill>
                <a:latin typeface="Roboto Mono"/>
                <a:ea typeface="Roboto Mono"/>
                <a:cs typeface="Roboto Mono"/>
                <a:sym typeface="Roboto Mono"/>
              </a:rPr>
              <a:t>k</a:t>
            </a:r>
            <a:r>
              <a:rPr lang="en" sz="1100">
                <a:solidFill>
                  <a:schemeClr val="dk1"/>
                </a:solidFill>
              </a:rPr>
              <a:t> message-passing layers, a node can use information from its </a:t>
            </a:r>
            <a:r>
              <a:rPr b="1" lang="en" sz="1100">
                <a:solidFill>
                  <a:schemeClr val="dk1"/>
                </a:solidFill>
              </a:rPr>
              <a:t>k-hop neighborhood</a:t>
            </a:r>
            <a:r>
              <a:rPr lang="en" sz="1100">
                <a:solidFill>
                  <a:schemeClr val="dk1"/>
                </a:solidFill>
              </a:rPr>
              <a:t>.</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 sz="1100">
                <a:solidFill>
                  <a:schemeClr val="dk1"/>
                </a:solidFill>
              </a:rPr>
              <a:t>Example:</a:t>
            </a:r>
            <a:endParaRPr sz="1100">
              <a:solidFill>
                <a:schemeClr val="dk1"/>
              </a:solidFill>
            </a:endParaRPr>
          </a:p>
          <a:p>
            <a:pPr indent="-298450" lvl="1" marL="914400" rtl="0" algn="l">
              <a:lnSpc>
                <a:spcPct val="115000"/>
              </a:lnSpc>
              <a:spcBef>
                <a:spcPts val="0"/>
              </a:spcBef>
              <a:spcAft>
                <a:spcPts val="0"/>
              </a:spcAft>
              <a:buClr>
                <a:schemeClr val="dk1"/>
              </a:buClr>
              <a:buSzPts val="1100"/>
              <a:buChar char="○"/>
            </a:pPr>
            <a:r>
              <a:rPr lang="en" sz="1100">
                <a:solidFill>
                  <a:schemeClr val="dk1"/>
                </a:solidFill>
              </a:rPr>
              <a:t>After 1 layer: information from immediate neighbors</a:t>
            </a:r>
            <a:endParaRPr sz="1100">
              <a:solidFill>
                <a:schemeClr val="dk1"/>
              </a:solidFill>
            </a:endParaRPr>
          </a:p>
          <a:p>
            <a:pPr indent="-298450" lvl="1" marL="914400" rtl="0" algn="l">
              <a:lnSpc>
                <a:spcPct val="115000"/>
              </a:lnSpc>
              <a:spcBef>
                <a:spcPts val="0"/>
              </a:spcBef>
              <a:spcAft>
                <a:spcPts val="0"/>
              </a:spcAft>
              <a:buClr>
                <a:schemeClr val="dk1"/>
              </a:buClr>
              <a:buSzPts val="1100"/>
              <a:buChar char="○"/>
            </a:pPr>
            <a:r>
              <a:rPr lang="en" sz="1100">
                <a:solidFill>
                  <a:schemeClr val="dk1"/>
                </a:solidFill>
              </a:rPr>
              <a:t>After 2 layers: information from neighbors of neighbors</a:t>
            </a:r>
            <a:endParaRPr sz="1100">
              <a:solidFill>
                <a:schemeClr val="dk1"/>
              </a:solidFill>
            </a:endParaRPr>
          </a:p>
          <a:p>
            <a:pPr indent="-298450" lvl="1" marL="914400" rtl="0" algn="l">
              <a:lnSpc>
                <a:spcPct val="115000"/>
              </a:lnSpc>
              <a:spcBef>
                <a:spcPts val="0"/>
              </a:spcBef>
              <a:spcAft>
                <a:spcPts val="0"/>
              </a:spcAft>
              <a:buClr>
                <a:schemeClr val="dk1"/>
              </a:buClr>
              <a:buSzPts val="1100"/>
              <a:buChar char="○"/>
            </a:pPr>
            <a:r>
              <a:rPr lang="en" sz="1100">
                <a:solidFill>
                  <a:schemeClr val="dk1"/>
                </a:solidFill>
              </a:rPr>
              <a:t>After 3 layers: information from nodes three steps away</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 sz="1100">
                <a:solidFill>
                  <a:schemeClr val="dk1"/>
                </a:solidFill>
              </a:rPr>
              <a:t>By stacking GNN layers, a node can gradually incorporate information from larger parts of the graph.</a:t>
            </a:r>
            <a:endParaRPr sz="1800">
              <a:solidFill>
                <a:schemeClr val="dk1"/>
              </a:solidFill>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8" name="Shape 318"/>
        <p:cNvGrpSpPr/>
        <p:nvPr/>
      </p:nvGrpSpPr>
      <p:grpSpPr>
        <a:xfrm>
          <a:off x="0" y="0"/>
          <a:ext cx="0" cy="0"/>
          <a:chOff x="0" y="0"/>
          <a:chExt cx="0" cy="0"/>
        </a:xfrm>
      </p:grpSpPr>
      <p:sp>
        <p:nvSpPr>
          <p:cNvPr id="319" name="Google Shape;319;p44"/>
          <p:cNvSpPr txBox="1"/>
          <p:nvPr/>
        </p:nvSpPr>
        <p:spPr>
          <a:xfrm>
            <a:off x="106575" y="140450"/>
            <a:ext cx="3234600" cy="384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400"/>
              </a:spcAft>
              <a:buNone/>
            </a:pPr>
            <a:r>
              <a:rPr b="1" lang="en" sz="1300">
                <a:solidFill>
                  <a:schemeClr val="dk1"/>
                </a:solidFill>
              </a:rPr>
              <a:t>Learning Edge Representations</a:t>
            </a:r>
            <a:endParaRPr b="1" sz="1800">
              <a:solidFill>
                <a:schemeClr val="dk1"/>
              </a:solidFill>
              <a:latin typeface="Calibri"/>
              <a:ea typeface="Calibri"/>
              <a:cs typeface="Calibri"/>
              <a:sym typeface="Calibri"/>
            </a:endParaRPr>
          </a:p>
        </p:txBody>
      </p:sp>
      <p:sp>
        <p:nvSpPr>
          <p:cNvPr id="320" name="Google Shape;320;p44"/>
          <p:cNvSpPr txBox="1"/>
          <p:nvPr/>
        </p:nvSpPr>
        <p:spPr>
          <a:xfrm>
            <a:off x="340000" y="792150"/>
            <a:ext cx="84396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1" name="Google Shape;321;p44"/>
          <p:cNvSpPr txBox="1"/>
          <p:nvPr/>
        </p:nvSpPr>
        <p:spPr>
          <a:xfrm>
            <a:off x="106575" y="792150"/>
            <a:ext cx="8756100" cy="354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t/>
            </a:r>
            <a:endParaRPr sz="1100">
              <a:solidFill>
                <a:schemeClr val="dk1"/>
              </a:solidFill>
            </a:endParaRPr>
          </a:p>
        </p:txBody>
      </p:sp>
      <p:sp>
        <p:nvSpPr>
          <p:cNvPr id="322" name="Google Shape;322;p44"/>
          <p:cNvSpPr txBox="1"/>
          <p:nvPr/>
        </p:nvSpPr>
        <p:spPr>
          <a:xfrm>
            <a:off x="106575" y="572325"/>
            <a:ext cx="3558900" cy="3818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n" sz="1100">
                <a:solidFill>
                  <a:schemeClr val="dk1"/>
                </a:solidFill>
                <a:latin typeface="Calibri"/>
                <a:ea typeface="Calibri"/>
                <a:cs typeface="Calibri"/>
                <a:sym typeface="Calibri"/>
              </a:rPr>
              <a:t>G</a:t>
            </a:r>
            <a:r>
              <a:rPr lang="en" sz="1100">
                <a:solidFill>
                  <a:schemeClr val="dk1"/>
                </a:solidFill>
                <a:latin typeface="Calibri"/>
                <a:ea typeface="Calibri"/>
                <a:cs typeface="Calibri"/>
                <a:sym typeface="Calibri"/>
              </a:rPr>
              <a:t>raph datasets may not contain all information types:</a:t>
            </a:r>
            <a:endParaRPr sz="1100">
              <a:solidFill>
                <a:schemeClr val="dk1"/>
              </a:solidFill>
              <a:latin typeface="Calibri"/>
              <a:ea typeface="Calibri"/>
              <a:cs typeface="Calibri"/>
              <a:sym typeface="Calibri"/>
            </a:endParaRPr>
          </a:p>
          <a:p>
            <a:pPr indent="-298450" lvl="1" marL="914400" rtl="0" algn="l">
              <a:lnSpc>
                <a:spcPct val="115000"/>
              </a:lnSpc>
              <a:spcBef>
                <a:spcPts val="120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Node features</a:t>
            </a:r>
            <a:endParaRPr sz="1100">
              <a:solidFill>
                <a:schemeClr val="dk1"/>
              </a:solidFill>
              <a:latin typeface="Calibri"/>
              <a:ea typeface="Calibri"/>
              <a:cs typeface="Calibri"/>
              <a:sym typeface="Calibri"/>
            </a:endParaRPr>
          </a:p>
          <a:p>
            <a:pPr indent="-298450" lvl="1" marL="914400" rtl="0" algn="l">
              <a:lnSpc>
                <a:spcPct val="115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Edge features</a:t>
            </a:r>
            <a:endParaRPr sz="1100">
              <a:solidFill>
                <a:schemeClr val="dk1"/>
              </a:solidFill>
              <a:latin typeface="Calibri"/>
              <a:ea typeface="Calibri"/>
              <a:cs typeface="Calibri"/>
              <a:sym typeface="Calibri"/>
            </a:endParaRPr>
          </a:p>
          <a:p>
            <a:pPr indent="-298450" lvl="1" marL="914400" rtl="0" algn="l">
              <a:lnSpc>
                <a:spcPct val="115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Global features</a:t>
            </a:r>
            <a:endParaRPr sz="1100">
              <a:solidFill>
                <a:schemeClr val="dk1"/>
              </a:solidFill>
              <a:latin typeface="Calibri"/>
              <a:ea typeface="Calibri"/>
              <a:cs typeface="Calibri"/>
              <a:sym typeface="Calibri"/>
            </a:endParaRPr>
          </a:p>
          <a:p>
            <a:pPr indent="-298450" lvl="0" marL="457200" rtl="0" algn="l">
              <a:lnSpc>
                <a:spcPct val="115000"/>
              </a:lnSpc>
              <a:spcBef>
                <a:spcPts val="0"/>
              </a:spcBef>
              <a:spcAft>
                <a:spcPts val="0"/>
              </a:spcAft>
              <a:buClr>
                <a:schemeClr val="dk1"/>
              </a:buClr>
              <a:buSzPts val="1100"/>
              <a:buChar char="●"/>
            </a:pPr>
            <a:r>
              <a:rPr lang="en" sz="1100">
                <a:solidFill>
                  <a:schemeClr val="dk1"/>
                </a:solidFill>
                <a:latin typeface="Calibri"/>
                <a:ea typeface="Calibri"/>
                <a:cs typeface="Calibri"/>
                <a:sym typeface="Calibri"/>
              </a:rPr>
              <a:t>Sometimes, useful information is stored in </a:t>
            </a:r>
            <a:r>
              <a:rPr b="1" lang="en" sz="1100">
                <a:solidFill>
                  <a:schemeClr val="dk1"/>
                </a:solidFill>
                <a:latin typeface="Calibri"/>
                <a:ea typeface="Calibri"/>
                <a:cs typeface="Calibri"/>
                <a:sym typeface="Calibri"/>
              </a:rPr>
              <a:t>edges</a:t>
            </a:r>
            <a:r>
              <a:rPr lang="en" sz="1100">
                <a:solidFill>
                  <a:schemeClr val="dk1"/>
                </a:solidFill>
                <a:latin typeface="Calibri"/>
                <a:ea typeface="Calibri"/>
                <a:cs typeface="Calibri"/>
                <a:sym typeface="Calibri"/>
              </a:rPr>
              <a:t>, but prediction is needed on </a:t>
            </a:r>
            <a:r>
              <a:rPr b="1" lang="en" sz="1100">
                <a:solidFill>
                  <a:schemeClr val="dk1"/>
                </a:solidFill>
                <a:latin typeface="Calibri"/>
                <a:ea typeface="Calibri"/>
                <a:cs typeface="Calibri"/>
                <a:sym typeface="Calibri"/>
              </a:rPr>
              <a:t>nodes</a:t>
            </a:r>
            <a:r>
              <a:rPr lang="en" sz="1100">
                <a:solidFill>
                  <a:schemeClr val="dk1"/>
                </a:solidFill>
                <a:latin typeface="Calibri"/>
                <a:ea typeface="Calibri"/>
                <a:cs typeface="Calibri"/>
                <a:sym typeface="Calibri"/>
              </a:rPr>
              <a:t>.</a:t>
            </a:r>
            <a:endParaRPr sz="1100">
              <a:solidFill>
                <a:schemeClr val="dk1"/>
              </a:solidFill>
              <a:latin typeface="Calibri"/>
              <a:ea typeface="Calibri"/>
              <a:cs typeface="Calibri"/>
              <a:sym typeface="Calibri"/>
            </a:endParaRPr>
          </a:p>
          <a:p>
            <a:pPr indent="-298450" lvl="0" marL="457200" rtl="0" algn="l">
              <a:lnSpc>
                <a:spcPct val="115000"/>
              </a:lnSpc>
              <a:spcBef>
                <a:spcPts val="0"/>
              </a:spcBef>
              <a:spcAft>
                <a:spcPts val="0"/>
              </a:spcAft>
              <a:buClr>
                <a:schemeClr val="dk1"/>
              </a:buClr>
              <a:buSzPts val="1100"/>
              <a:buChar char="●"/>
            </a:pPr>
            <a:r>
              <a:rPr lang="en" sz="1100">
                <a:solidFill>
                  <a:schemeClr val="dk1"/>
                </a:solidFill>
                <a:latin typeface="Calibri"/>
                <a:ea typeface="Calibri"/>
                <a:cs typeface="Calibri"/>
                <a:sym typeface="Calibri"/>
              </a:rPr>
              <a:t>Instead of using pooling only at the final prediction step, message passing can share information </a:t>
            </a:r>
            <a:r>
              <a:rPr b="1" lang="en" sz="1100">
                <a:solidFill>
                  <a:schemeClr val="dk1"/>
                </a:solidFill>
                <a:latin typeface="Calibri"/>
                <a:ea typeface="Calibri"/>
                <a:cs typeface="Calibri"/>
                <a:sym typeface="Calibri"/>
              </a:rPr>
              <a:t>inside the GNN layer</a:t>
            </a:r>
            <a:r>
              <a:rPr lang="en" sz="1100">
                <a:solidFill>
                  <a:schemeClr val="dk1"/>
                </a:solidFill>
                <a:latin typeface="Calibri"/>
                <a:ea typeface="Calibri"/>
                <a:cs typeface="Calibri"/>
                <a:sym typeface="Calibri"/>
              </a:rPr>
              <a:t>.</a:t>
            </a:r>
            <a:endParaRPr sz="1100">
              <a:solidFill>
                <a:schemeClr val="dk1"/>
              </a:solidFill>
              <a:latin typeface="Calibri"/>
              <a:ea typeface="Calibri"/>
              <a:cs typeface="Calibri"/>
              <a:sym typeface="Calibri"/>
            </a:endParaRPr>
          </a:p>
          <a:p>
            <a:pPr indent="-298450" lvl="0" marL="457200" rtl="0" algn="l">
              <a:lnSpc>
                <a:spcPct val="115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Edge information can be used to update node embeddings.</a:t>
            </a:r>
            <a:endParaRPr sz="1100">
              <a:solidFill>
                <a:schemeClr val="dk1"/>
              </a:solidFill>
              <a:latin typeface="Calibri"/>
              <a:ea typeface="Calibri"/>
              <a:cs typeface="Calibri"/>
              <a:sym typeface="Calibri"/>
            </a:endParaRPr>
          </a:p>
          <a:p>
            <a:pPr indent="-298450" lvl="0" marL="457200" rtl="0" algn="l">
              <a:lnSpc>
                <a:spcPct val="115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Basic idea:</a:t>
            </a:r>
            <a:endParaRPr sz="1100">
              <a:solidFill>
                <a:schemeClr val="dk1"/>
              </a:solidFill>
              <a:latin typeface="Calibri"/>
              <a:ea typeface="Calibri"/>
              <a:cs typeface="Calibri"/>
              <a:sym typeface="Calibri"/>
            </a:endParaRPr>
          </a:p>
          <a:p>
            <a:pPr indent="-298450" lvl="1" marL="914400" rtl="0" algn="l">
              <a:lnSpc>
                <a:spcPct val="115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Pool information from neighboring edges.</a:t>
            </a:r>
            <a:endParaRPr sz="1100">
              <a:solidFill>
                <a:schemeClr val="dk1"/>
              </a:solidFill>
              <a:latin typeface="Calibri"/>
              <a:ea typeface="Calibri"/>
              <a:cs typeface="Calibri"/>
              <a:sym typeface="Calibri"/>
            </a:endParaRPr>
          </a:p>
          <a:p>
            <a:pPr indent="-298450" lvl="1" marL="914400" rtl="0" algn="l">
              <a:lnSpc>
                <a:spcPct val="115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Transform it using an update function.</a:t>
            </a:r>
            <a:endParaRPr sz="1100">
              <a:solidFill>
                <a:schemeClr val="dk1"/>
              </a:solidFill>
              <a:latin typeface="Calibri"/>
              <a:ea typeface="Calibri"/>
              <a:cs typeface="Calibri"/>
              <a:sym typeface="Calibri"/>
            </a:endParaRPr>
          </a:p>
          <a:p>
            <a:pPr indent="-298450" lvl="1" marL="914400" rtl="0" algn="l">
              <a:lnSpc>
                <a:spcPct val="115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Store the result as updated node or edge embeddings.</a:t>
            </a:r>
            <a:endParaRPr sz="1100">
              <a:solidFill>
                <a:schemeClr val="dk1"/>
              </a:solidFill>
              <a:latin typeface="Calibri"/>
              <a:ea typeface="Calibri"/>
              <a:cs typeface="Calibri"/>
              <a:sym typeface="Calibri"/>
            </a:endParaRPr>
          </a:p>
          <a:p>
            <a:pPr indent="-298450" lvl="0" marL="457200" rtl="0" algn="l">
              <a:lnSpc>
                <a:spcPct val="115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This allows nodes and edges to influence each other during learning.</a:t>
            </a:r>
            <a:endParaRPr sz="1100">
              <a:solidFill>
                <a:schemeClr val="dk1"/>
              </a:solidFill>
              <a:latin typeface="Calibri"/>
              <a:ea typeface="Calibri"/>
              <a:cs typeface="Calibri"/>
              <a:sym typeface="Calibri"/>
            </a:endParaRPr>
          </a:p>
        </p:txBody>
      </p:sp>
      <p:pic>
        <p:nvPicPr>
          <p:cNvPr id="323" name="Google Shape;323;p44"/>
          <p:cNvPicPr preferRelativeResize="0"/>
          <p:nvPr/>
        </p:nvPicPr>
        <p:blipFill>
          <a:blip r:embed="rId3">
            <a:alphaModFix/>
          </a:blip>
          <a:stretch>
            <a:fillRect/>
          </a:stretch>
        </p:blipFill>
        <p:spPr>
          <a:xfrm>
            <a:off x="3817875" y="1406250"/>
            <a:ext cx="5173725" cy="2555480"/>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p45"/>
          <p:cNvSpPr txBox="1"/>
          <p:nvPr/>
        </p:nvSpPr>
        <p:spPr>
          <a:xfrm>
            <a:off x="106575" y="140450"/>
            <a:ext cx="4017000" cy="384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400"/>
              </a:spcAft>
              <a:buNone/>
            </a:pPr>
            <a:r>
              <a:rPr b="1" lang="en" sz="1300">
                <a:solidFill>
                  <a:schemeClr val="dk1"/>
                </a:solidFill>
              </a:rPr>
              <a:t>Adding Global Representations</a:t>
            </a:r>
            <a:endParaRPr b="1" sz="1800">
              <a:solidFill>
                <a:schemeClr val="dk1"/>
              </a:solidFill>
              <a:latin typeface="Calibri"/>
              <a:ea typeface="Calibri"/>
              <a:cs typeface="Calibri"/>
              <a:sym typeface="Calibri"/>
            </a:endParaRPr>
          </a:p>
        </p:txBody>
      </p:sp>
      <p:sp>
        <p:nvSpPr>
          <p:cNvPr id="329" name="Google Shape;329;p45"/>
          <p:cNvSpPr txBox="1"/>
          <p:nvPr/>
        </p:nvSpPr>
        <p:spPr>
          <a:xfrm>
            <a:off x="340000" y="792150"/>
            <a:ext cx="84396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30" name="Google Shape;330;p45"/>
          <p:cNvSpPr txBox="1"/>
          <p:nvPr/>
        </p:nvSpPr>
        <p:spPr>
          <a:xfrm>
            <a:off x="106575" y="792150"/>
            <a:ext cx="8756100" cy="354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t/>
            </a:r>
            <a:endParaRPr sz="1100">
              <a:solidFill>
                <a:schemeClr val="dk1"/>
              </a:solidFill>
            </a:endParaRPr>
          </a:p>
        </p:txBody>
      </p:sp>
      <p:sp>
        <p:nvSpPr>
          <p:cNvPr id="331" name="Google Shape;331;p45"/>
          <p:cNvSpPr txBox="1"/>
          <p:nvPr/>
        </p:nvSpPr>
        <p:spPr>
          <a:xfrm>
            <a:off x="106575" y="572325"/>
            <a:ext cx="3558900" cy="4053600"/>
          </a:xfrm>
          <a:prstGeom prst="rect">
            <a:avLst/>
          </a:prstGeom>
          <a:noFill/>
          <a:ln>
            <a:noFill/>
          </a:ln>
        </p:spPr>
        <p:txBody>
          <a:bodyPr anchorCtr="0" anchor="t" bIns="91425" lIns="91425" spcFirstLastPara="1" rIns="91425" wrap="square" tIns="91425">
            <a:spAutoFit/>
          </a:bodyPr>
          <a:lstStyle/>
          <a:p>
            <a:pPr indent="-298450" lvl="0" marL="457200" rtl="0" algn="l">
              <a:lnSpc>
                <a:spcPct val="115000"/>
              </a:lnSpc>
              <a:spcBef>
                <a:spcPts val="1200"/>
              </a:spcBef>
              <a:spcAft>
                <a:spcPts val="0"/>
              </a:spcAft>
              <a:buClr>
                <a:schemeClr val="dk1"/>
              </a:buClr>
              <a:buSzPts val="1100"/>
              <a:buChar char="●"/>
            </a:pPr>
            <a:r>
              <a:rPr lang="en" sz="1100">
                <a:solidFill>
                  <a:schemeClr val="dk1"/>
                </a:solidFill>
              </a:rPr>
              <a:t>Message passing has a limitation:</a:t>
            </a:r>
            <a:endParaRPr sz="1100">
              <a:solidFill>
                <a:schemeClr val="dk1"/>
              </a:solidFill>
            </a:endParaRPr>
          </a:p>
          <a:p>
            <a:pPr indent="-298450" lvl="1" marL="914400" rtl="0" algn="l">
              <a:lnSpc>
                <a:spcPct val="115000"/>
              </a:lnSpc>
              <a:spcBef>
                <a:spcPts val="0"/>
              </a:spcBef>
              <a:spcAft>
                <a:spcPts val="0"/>
              </a:spcAft>
              <a:buClr>
                <a:schemeClr val="dk1"/>
              </a:buClr>
              <a:buSzPts val="1100"/>
              <a:buChar char="○"/>
            </a:pPr>
            <a:r>
              <a:rPr lang="en" sz="1100">
                <a:solidFill>
                  <a:schemeClr val="dk1"/>
                </a:solidFill>
              </a:rPr>
              <a:t>Information only travels a limited number of hops per layer.</a:t>
            </a:r>
            <a:endParaRPr sz="1100">
              <a:solidFill>
                <a:schemeClr val="dk1"/>
              </a:solidFill>
            </a:endParaRPr>
          </a:p>
          <a:p>
            <a:pPr indent="-298450" lvl="1" marL="914400" rtl="0" algn="l">
              <a:lnSpc>
                <a:spcPct val="115000"/>
              </a:lnSpc>
              <a:spcBef>
                <a:spcPts val="0"/>
              </a:spcBef>
              <a:spcAft>
                <a:spcPts val="0"/>
              </a:spcAft>
              <a:buClr>
                <a:schemeClr val="dk1"/>
              </a:buClr>
              <a:buSzPts val="1100"/>
              <a:buChar char="○"/>
            </a:pPr>
            <a:r>
              <a:rPr lang="en" sz="1100">
                <a:solidFill>
                  <a:schemeClr val="dk1"/>
                </a:solidFill>
              </a:rPr>
              <a:t>After </a:t>
            </a:r>
            <a:r>
              <a:rPr lang="en" sz="1100">
                <a:solidFill>
                  <a:schemeClr val="dk1"/>
                </a:solidFill>
                <a:latin typeface="Roboto Mono"/>
                <a:ea typeface="Roboto Mono"/>
                <a:cs typeface="Roboto Mono"/>
                <a:sym typeface="Roboto Mono"/>
              </a:rPr>
              <a:t>k</a:t>
            </a:r>
            <a:r>
              <a:rPr lang="en" sz="1100">
                <a:solidFill>
                  <a:schemeClr val="dk1"/>
                </a:solidFill>
              </a:rPr>
              <a:t> layers, a node can receive information from at most </a:t>
            </a:r>
            <a:r>
              <a:rPr lang="en" sz="1100">
                <a:solidFill>
                  <a:schemeClr val="dk1"/>
                </a:solidFill>
                <a:latin typeface="Roboto Mono"/>
                <a:ea typeface="Roboto Mono"/>
                <a:cs typeface="Roboto Mono"/>
                <a:sym typeface="Roboto Mono"/>
              </a:rPr>
              <a:t>k</a:t>
            </a:r>
            <a:r>
              <a:rPr lang="en" sz="1100">
                <a:solidFill>
                  <a:schemeClr val="dk1"/>
                </a:solidFill>
              </a:rPr>
              <a:t> steps away.</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 sz="1100">
                <a:solidFill>
                  <a:schemeClr val="dk1"/>
                </a:solidFill>
              </a:rPr>
              <a:t>This is a problem when prediction depends on distant nodes or whole-graph context.</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 sz="1100">
                <a:solidFill>
                  <a:schemeClr val="dk1"/>
                </a:solidFill>
              </a:rPr>
              <a:t>Fully connecting all nodes could solve this, but it is computationally expensive for large graphs.</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 sz="1100">
                <a:solidFill>
                  <a:schemeClr val="dk1"/>
                </a:solidFill>
              </a:rPr>
              <a:t>A better solution is to use a </a:t>
            </a:r>
            <a:r>
              <a:rPr b="1" lang="en" sz="1100">
                <a:solidFill>
                  <a:schemeClr val="dk1"/>
                </a:solidFill>
              </a:rPr>
              <a:t>global graph representation</a:t>
            </a:r>
            <a:r>
              <a:rPr lang="en" sz="1100">
                <a:solidFill>
                  <a:schemeClr val="dk1"/>
                </a:solidFill>
              </a:rPr>
              <a:t>.</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 sz="1100">
                <a:solidFill>
                  <a:schemeClr val="dk1"/>
                </a:solidFill>
              </a:rPr>
              <a:t>The global representation is also called:</a:t>
            </a:r>
            <a:endParaRPr sz="1100">
              <a:solidFill>
                <a:schemeClr val="dk1"/>
              </a:solidFill>
            </a:endParaRPr>
          </a:p>
          <a:p>
            <a:pPr indent="-298450" lvl="1" marL="914400" rtl="0" algn="l">
              <a:lnSpc>
                <a:spcPct val="115000"/>
              </a:lnSpc>
              <a:spcBef>
                <a:spcPts val="0"/>
              </a:spcBef>
              <a:spcAft>
                <a:spcPts val="0"/>
              </a:spcAft>
              <a:buClr>
                <a:schemeClr val="dk1"/>
              </a:buClr>
              <a:buSzPts val="1100"/>
              <a:buChar char="○"/>
            </a:pPr>
            <a:r>
              <a:rPr b="1" lang="en" sz="1100">
                <a:solidFill>
                  <a:schemeClr val="dk1"/>
                </a:solidFill>
              </a:rPr>
              <a:t>Global context vector</a:t>
            </a:r>
            <a:endParaRPr b="1" sz="1100">
              <a:solidFill>
                <a:schemeClr val="dk1"/>
              </a:solidFill>
            </a:endParaRPr>
          </a:p>
          <a:p>
            <a:pPr indent="-298450" lvl="1" marL="914400" rtl="0" algn="l">
              <a:lnSpc>
                <a:spcPct val="115000"/>
              </a:lnSpc>
              <a:spcBef>
                <a:spcPts val="0"/>
              </a:spcBef>
              <a:spcAft>
                <a:spcPts val="0"/>
              </a:spcAft>
              <a:buClr>
                <a:schemeClr val="dk1"/>
              </a:buClr>
              <a:buSzPts val="1100"/>
              <a:buChar char="○"/>
            </a:pPr>
            <a:r>
              <a:rPr b="1" lang="en" sz="1100">
                <a:solidFill>
                  <a:schemeClr val="dk1"/>
                </a:solidFill>
              </a:rPr>
              <a:t>Master node</a:t>
            </a:r>
            <a:endParaRPr b="1"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 sz="1100">
                <a:solidFill>
                  <a:schemeClr val="dk1"/>
                </a:solidFill>
              </a:rPr>
              <a:t>It is connected to all nodes and edges.</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 sz="1100">
                <a:solidFill>
                  <a:schemeClr val="dk1"/>
                </a:solidFill>
              </a:rPr>
              <a:t>It acts as a bridge for passing information across distant parts of the graph.</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 sz="1100">
                <a:solidFill>
                  <a:schemeClr val="dk1"/>
                </a:solidFill>
              </a:rPr>
              <a:t>This helps the model learn a richer representation of the whole graph.</a:t>
            </a:r>
            <a:endParaRPr sz="1100">
              <a:solidFill>
                <a:schemeClr val="dk1"/>
              </a:solidFill>
            </a:endParaRPr>
          </a:p>
        </p:txBody>
      </p:sp>
      <p:pic>
        <p:nvPicPr>
          <p:cNvPr id="332" name="Google Shape;332;p45"/>
          <p:cNvPicPr preferRelativeResize="0"/>
          <p:nvPr/>
        </p:nvPicPr>
        <p:blipFill>
          <a:blip r:embed="rId3">
            <a:alphaModFix/>
          </a:blip>
          <a:stretch>
            <a:fillRect/>
          </a:stretch>
        </p:blipFill>
        <p:spPr>
          <a:xfrm>
            <a:off x="3817875" y="1406250"/>
            <a:ext cx="5173726" cy="2370540"/>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6" name="Shape 336"/>
        <p:cNvGrpSpPr/>
        <p:nvPr/>
      </p:nvGrpSpPr>
      <p:grpSpPr>
        <a:xfrm>
          <a:off x="0" y="0"/>
          <a:ext cx="0" cy="0"/>
          <a:chOff x="0" y="0"/>
          <a:chExt cx="0" cy="0"/>
        </a:xfrm>
      </p:grpSpPr>
      <p:sp>
        <p:nvSpPr>
          <p:cNvPr id="337" name="Google Shape;337;p46"/>
          <p:cNvSpPr txBox="1"/>
          <p:nvPr/>
        </p:nvSpPr>
        <p:spPr>
          <a:xfrm>
            <a:off x="106575" y="140450"/>
            <a:ext cx="4017000" cy="384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400"/>
              </a:spcAft>
              <a:buNone/>
            </a:pPr>
            <a:r>
              <a:rPr b="1" lang="en" sz="1300">
                <a:solidFill>
                  <a:schemeClr val="dk1"/>
                </a:solidFill>
              </a:rPr>
              <a:t>Conditioning with Global Information</a:t>
            </a:r>
            <a:endParaRPr b="1" sz="1800">
              <a:solidFill>
                <a:schemeClr val="dk1"/>
              </a:solidFill>
              <a:latin typeface="Calibri"/>
              <a:ea typeface="Calibri"/>
              <a:cs typeface="Calibri"/>
              <a:sym typeface="Calibri"/>
            </a:endParaRPr>
          </a:p>
        </p:txBody>
      </p:sp>
      <p:sp>
        <p:nvSpPr>
          <p:cNvPr id="338" name="Google Shape;338;p46"/>
          <p:cNvSpPr txBox="1"/>
          <p:nvPr/>
        </p:nvSpPr>
        <p:spPr>
          <a:xfrm>
            <a:off x="340000" y="792150"/>
            <a:ext cx="84396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39" name="Google Shape;339;p46"/>
          <p:cNvSpPr txBox="1"/>
          <p:nvPr/>
        </p:nvSpPr>
        <p:spPr>
          <a:xfrm>
            <a:off x="106575" y="792150"/>
            <a:ext cx="8756100" cy="354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t/>
            </a:r>
            <a:endParaRPr sz="1100">
              <a:solidFill>
                <a:schemeClr val="dk1"/>
              </a:solidFill>
            </a:endParaRPr>
          </a:p>
        </p:txBody>
      </p:sp>
      <p:sp>
        <p:nvSpPr>
          <p:cNvPr id="340" name="Google Shape;340;p46"/>
          <p:cNvSpPr txBox="1"/>
          <p:nvPr/>
        </p:nvSpPr>
        <p:spPr>
          <a:xfrm>
            <a:off x="106575" y="572325"/>
            <a:ext cx="3558900" cy="4416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Clr>
                <a:schemeClr val="dk1"/>
              </a:buClr>
              <a:buSzPts val="1100"/>
              <a:buFont typeface="Arial"/>
              <a:buNone/>
            </a:pPr>
            <a:r>
              <a:rPr lang="en" sz="900">
                <a:solidFill>
                  <a:schemeClr val="dk1"/>
                </a:solidFill>
              </a:rPr>
              <a:t>All graph attributes can have learned representations:</a:t>
            </a:r>
            <a:endParaRPr sz="900">
              <a:solidFill>
                <a:schemeClr val="dk1"/>
              </a:solidFill>
            </a:endParaRPr>
          </a:p>
          <a:p>
            <a:pPr indent="-285750" lvl="0" marL="457200" rtl="0" algn="l">
              <a:lnSpc>
                <a:spcPct val="115000"/>
              </a:lnSpc>
              <a:spcBef>
                <a:spcPts val="1200"/>
              </a:spcBef>
              <a:spcAft>
                <a:spcPts val="0"/>
              </a:spcAft>
              <a:buClr>
                <a:schemeClr val="dk1"/>
              </a:buClr>
              <a:buSzPts val="900"/>
              <a:buChar char="●"/>
            </a:pPr>
            <a:r>
              <a:rPr lang="en" sz="900">
                <a:solidFill>
                  <a:schemeClr val="dk1"/>
                </a:solidFill>
              </a:rPr>
              <a:t>Node embeddings</a:t>
            </a:r>
            <a:endParaRPr sz="900">
              <a:solidFill>
                <a:schemeClr val="dk1"/>
              </a:solidFill>
            </a:endParaRPr>
          </a:p>
          <a:p>
            <a:pPr indent="-285750" lvl="0" marL="457200" rtl="0" algn="l">
              <a:lnSpc>
                <a:spcPct val="115000"/>
              </a:lnSpc>
              <a:spcBef>
                <a:spcPts val="0"/>
              </a:spcBef>
              <a:spcAft>
                <a:spcPts val="0"/>
              </a:spcAft>
              <a:buClr>
                <a:schemeClr val="dk1"/>
              </a:buClr>
              <a:buSzPts val="900"/>
              <a:buChar char="●"/>
            </a:pPr>
            <a:r>
              <a:rPr lang="en" sz="900">
                <a:solidFill>
                  <a:schemeClr val="dk1"/>
                </a:solidFill>
              </a:rPr>
              <a:t>Edge embeddings</a:t>
            </a:r>
            <a:endParaRPr sz="900">
              <a:solidFill>
                <a:schemeClr val="dk1"/>
              </a:solidFill>
            </a:endParaRPr>
          </a:p>
          <a:p>
            <a:pPr indent="-285750" lvl="0" marL="457200" rtl="0" algn="l">
              <a:lnSpc>
                <a:spcPct val="115000"/>
              </a:lnSpc>
              <a:spcBef>
                <a:spcPts val="0"/>
              </a:spcBef>
              <a:spcAft>
                <a:spcPts val="0"/>
              </a:spcAft>
              <a:buClr>
                <a:schemeClr val="dk1"/>
              </a:buClr>
              <a:buSzPts val="900"/>
              <a:buChar char="●"/>
            </a:pPr>
            <a:r>
              <a:rPr lang="en" sz="900">
                <a:solidFill>
                  <a:schemeClr val="dk1"/>
                </a:solidFill>
              </a:rPr>
              <a:t>Global embeddings</a:t>
            </a:r>
            <a:endParaRPr sz="9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sz="900">
                <a:solidFill>
                  <a:schemeClr val="dk1"/>
                </a:solidFill>
              </a:rPr>
              <a:t>During pooling, we can condition one attribute using information from other attributes.</a:t>
            </a:r>
            <a:endParaRPr sz="9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sz="900">
                <a:solidFill>
                  <a:schemeClr val="dk1"/>
                </a:solidFill>
              </a:rPr>
              <a:t>Example: to update one node, we can use:</a:t>
            </a:r>
            <a:endParaRPr sz="900">
              <a:solidFill>
                <a:schemeClr val="dk1"/>
              </a:solidFill>
            </a:endParaRPr>
          </a:p>
          <a:p>
            <a:pPr indent="-285750" lvl="0" marL="457200" rtl="0" algn="l">
              <a:lnSpc>
                <a:spcPct val="115000"/>
              </a:lnSpc>
              <a:spcBef>
                <a:spcPts val="1200"/>
              </a:spcBef>
              <a:spcAft>
                <a:spcPts val="0"/>
              </a:spcAft>
              <a:buClr>
                <a:schemeClr val="dk1"/>
              </a:buClr>
              <a:buSzPts val="900"/>
              <a:buChar char="●"/>
            </a:pPr>
            <a:r>
              <a:rPr lang="en" sz="900">
                <a:solidFill>
                  <a:schemeClr val="dk1"/>
                </a:solidFill>
              </a:rPr>
              <a:t>Neighboring node embeddings</a:t>
            </a:r>
            <a:endParaRPr sz="900">
              <a:solidFill>
                <a:schemeClr val="dk1"/>
              </a:solidFill>
            </a:endParaRPr>
          </a:p>
          <a:p>
            <a:pPr indent="-285750" lvl="0" marL="457200" rtl="0" algn="l">
              <a:lnSpc>
                <a:spcPct val="115000"/>
              </a:lnSpc>
              <a:spcBef>
                <a:spcPts val="0"/>
              </a:spcBef>
              <a:spcAft>
                <a:spcPts val="0"/>
              </a:spcAft>
              <a:buClr>
                <a:schemeClr val="dk1"/>
              </a:buClr>
              <a:buSzPts val="900"/>
              <a:buChar char="●"/>
            </a:pPr>
            <a:r>
              <a:rPr lang="en" sz="900">
                <a:solidFill>
                  <a:schemeClr val="dk1"/>
                </a:solidFill>
              </a:rPr>
              <a:t>Connected edge embeddings</a:t>
            </a:r>
            <a:endParaRPr sz="900">
              <a:solidFill>
                <a:schemeClr val="dk1"/>
              </a:solidFill>
            </a:endParaRPr>
          </a:p>
          <a:p>
            <a:pPr indent="-285750" lvl="0" marL="457200" rtl="0" algn="l">
              <a:lnSpc>
                <a:spcPct val="115000"/>
              </a:lnSpc>
              <a:spcBef>
                <a:spcPts val="0"/>
              </a:spcBef>
              <a:spcAft>
                <a:spcPts val="0"/>
              </a:spcAft>
              <a:buClr>
                <a:schemeClr val="dk1"/>
              </a:buClr>
              <a:buSzPts val="900"/>
              <a:buChar char="●"/>
            </a:pPr>
            <a:r>
              <a:rPr lang="en" sz="900">
                <a:solidFill>
                  <a:schemeClr val="dk1"/>
                </a:solidFill>
              </a:rPr>
              <a:t>Global graph embedding</a:t>
            </a:r>
            <a:endParaRPr sz="9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sz="900">
                <a:solidFill>
                  <a:schemeClr val="dk1"/>
                </a:solidFill>
              </a:rPr>
              <a:t>These sources help the node update use both local and global information.</a:t>
            </a:r>
            <a:endParaRPr sz="9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sz="900">
                <a:solidFill>
                  <a:schemeClr val="dk1"/>
                </a:solidFill>
              </a:rPr>
              <a:t>The information can be combined by:</a:t>
            </a:r>
            <a:endParaRPr sz="900">
              <a:solidFill>
                <a:schemeClr val="dk1"/>
              </a:solidFill>
            </a:endParaRPr>
          </a:p>
          <a:p>
            <a:pPr indent="-285750" lvl="0" marL="457200" rtl="0" algn="l">
              <a:lnSpc>
                <a:spcPct val="115000"/>
              </a:lnSpc>
              <a:spcBef>
                <a:spcPts val="1200"/>
              </a:spcBef>
              <a:spcAft>
                <a:spcPts val="0"/>
              </a:spcAft>
              <a:buClr>
                <a:schemeClr val="dk1"/>
              </a:buClr>
              <a:buSzPts val="900"/>
              <a:buChar char="●"/>
            </a:pPr>
            <a:r>
              <a:rPr lang="en" sz="900">
                <a:solidFill>
                  <a:schemeClr val="dk1"/>
                </a:solidFill>
              </a:rPr>
              <a:t>Concatenating the embeddings</a:t>
            </a:r>
            <a:endParaRPr sz="900">
              <a:solidFill>
                <a:schemeClr val="dk1"/>
              </a:solidFill>
            </a:endParaRPr>
          </a:p>
          <a:p>
            <a:pPr indent="-285750" lvl="0" marL="457200" rtl="0" algn="l">
              <a:lnSpc>
                <a:spcPct val="115000"/>
              </a:lnSpc>
              <a:spcBef>
                <a:spcPts val="0"/>
              </a:spcBef>
              <a:spcAft>
                <a:spcPts val="0"/>
              </a:spcAft>
              <a:buClr>
                <a:schemeClr val="dk1"/>
              </a:buClr>
              <a:buSzPts val="900"/>
              <a:buChar char="●"/>
            </a:pPr>
            <a:r>
              <a:rPr lang="en" sz="900">
                <a:solidFill>
                  <a:schemeClr val="dk1"/>
                </a:solidFill>
              </a:rPr>
              <a:t>Mapping them to the same space and adding them</a:t>
            </a:r>
            <a:endParaRPr sz="900">
              <a:solidFill>
                <a:schemeClr val="dk1"/>
              </a:solidFill>
            </a:endParaRPr>
          </a:p>
          <a:p>
            <a:pPr indent="-285750" lvl="0" marL="457200" rtl="0" algn="l">
              <a:lnSpc>
                <a:spcPct val="115000"/>
              </a:lnSpc>
              <a:spcBef>
                <a:spcPts val="0"/>
              </a:spcBef>
              <a:spcAft>
                <a:spcPts val="0"/>
              </a:spcAft>
              <a:buClr>
                <a:schemeClr val="dk1"/>
              </a:buClr>
              <a:buSzPts val="900"/>
              <a:buChar char="●"/>
            </a:pPr>
            <a:r>
              <a:rPr lang="en" sz="900">
                <a:solidFill>
                  <a:schemeClr val="dk1"/>
                </a:solidFill>
              </a:rPr>
              <a:t>Using feature-wise modulation</a:t>
            </a:r>
            <a:endParaRPr sz="9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sz="900">
                <a:solidFill>
                  <a:schemeClr val="dk1"/>
                </a:solidFill>
              </a:rPr>
              <a:t>The combined representation is passed to an update function.</a:t>
            </a:r>
            <a:endParaRPr sz="900">
              <a:solidFill>
                <a:schemeClr val="dk1"/>
              </a:solidFill>
            </a:endParaRPr>
          </a:p>
          <a:p>
            <a:pPr indent="0" lvl="0" marL="0" rtl="0" algn="l">
              <a:lnSpc>
                <a:spcPct val="115000"/>
              </a:lnSpc>
              <a:spcBef>
                <a:spcPts val="1200"/>
              </a:spcBef>
              <a:spcAft>
                <a:spcPts val="1200"/>
              </a:spcAft>
              <a:buNone/>
            </a:pPr>
            <a:r>
              <a:rPr lang="en" sz="900">
                <a:solidFill>
                  <a:schemeClr val="dk1"/>
                </a:solidFill>
              </a:rPr>
              <a:t>This produces a new node embedding with richer graph context.</a:t>
            </a:r>
            <a:endParaRPr sz="900">
              <a:solidFill>
                <a:schemeClr val="dk1"/>
              </a:solidFill>
            </a:endParaRPr>
          </a:p>
        </p:txBody>
      </p:sp>
      <p:pic>
        <p:nvPicPr>
          <p:cNvPr id="341" name="Google Shape;341;p46"/>
          <p:cNvPicPr preferRelativeResize="0"/>
          <p:nvPr/>
        </p:nvPicPr>
        <p:blipFill>
          <a:blip r:embed="rId3">
            <a:alphaModFix/>
          </a:blip>
          <a:stretch>
            <a:fillRect/>
          </a:stretch>
        </p:blipFill>
        <p:spPr>
          <a:xfrm>
            <a:off x="3817875" y="1406250"/>
            <a:ext cx="5173724" cy="2172786"/>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5" name="Shape 345"/>
        <p:cNvGrpSpPr/>
        <p:nvPr/>
      </p:nvGrpSpPr>
      <p:grpSpPr>
        <a:xfrm>
          <a:off x="0" y="0"/>
          <a:ext cx="0" cy="0"/>
          <a:chOff x="0" y="0"/>
          <a:chExt cx="0" cy="0"/>
        </a:xfrm>
      </p:grpSpPr>
      <p:pic>
        <p:nvPicPr>
          <p:cNvPr id="346" name="Google Shape;346;p47"/>
          <p:cNvPicPr preferRelativeResize="0"/>
          <p:nvPr/>
        </p:nvPicPr>
        <p:blipFill>
          <a:blip r:embed="rId3">
            <a:alphaModFix/>
          </a:blip>
          <a:stretch>
            <a:fillRect/>
          </a:stretch>
        </p:blipFill>
        <p:spPr>
          <a:xfrm>
            <a:off x="977000" y="495275"/>
            <a:ext cx="7472424" cy="4322900"/>
          </a:xfrm>
          <a:prstGeom prst="rect">
            <a:avLst/>
          </a:prstGeom>
          <a:noFill/>
          <a:ln>
            <a:noFill/>
          </a:ln>
        </p:spPr>
      </p:pic>
      <p:sp>
        <p:nvSpPr>
          <p:cNvPr id="347" name="Google Shape;347;p47"/>
          <p:cNvSpPr txBox="1"/>
          <p:nvPr/>
        </p:nvSpPr>
        <p:spPr>
          <a:xfrm>
            <a:off x="175850" y="123100"/>
            <a:ext cx="50643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1"/>
                </a:solidFill>
              </a:rPr>
              <a:t>How GNN become GCN and GAT</a:t>
            </a:r>
            <a:endParaRPr sz="1800">
              <a:solidFill>
                <a:schemeClr val="dk1"/>
              </a:solidFill>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1" name="Shape 351"/>
        <p:cNvGrpSpPr/>
        <p:nvPr/>
      </p:nvGrpSpPr>
      <p:grpSpPr>
        <a:xfrm>
          <a:off x="0" y="0"/>
          <a:ext cx="0" cy="0"/>
          <a:chOff x="0" y="0"/>
          <a:chExt cx="0" cy="0"/>
        </a:xfrm>
      </p:grpSpPr>
      <p:sp>
        <p:nvSpPr>
          <p:cNvPr id="352" name="Google Shape;352;p48"/>
          <p:cNvSpPr txBox="1"/>
          <p:nvPr/>
        </p:nvSpPr>
        <p:spPr>
          <a:xfrm>
            <a:off x="175850" y="123100"/>
            <a:ext cx="86691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1"/>
                </a:solidFill>
              </a:rPr>
              <a:t>How GNN become GCN and GAT : Only the aggregation weight differs</a:t>
            </a:r>
            <a:endParaRPr sz="1800">
              <a:solidFill>
                <a:schemeClr val="dk1"/>
              </a:solidFill>
            </a:endParaRPr>
          </a:p>
        </p:txBody>
      </p:sp>
      <p:sp>
        <p:nvSpPr>
          <p:cNvPr id="353" name="Google Shape;353;p48"/>
          <p:cNvSpPr txBox="1"/>
          <p:nvPr/>
        </p:nvSpPr>
        <p:spPr>
          <a:xfrm>
            <a:off x="307725" y="606675"/>
            <a:ext cx="50643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800">
              <a:solidFill>
                <a:schemeClr val="dk2"/>
              </a:solidFill>
            </a:endParaRPr>
          </a:p>
        </p:txBody>
      </p:sp>
      <p:sp>
        <p:nvSpPr>
          <p:cNvPr id="354" name="Google Shape;354;p48"/>
          <p:cNvSpPr txBox="1"/>
          <p:nvPr/>
        </p:nvSpPr>
        <p:spPr>
          <a:xfrm>
            <a:off x="272550" y="650625"/>
            <a:ext cx="50643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800">
              <a:solidFill>
                <a:schemeClr val="dk2"/>
              </a:solidFill>
            </a:endParaRPr>
          </a:p>
        </p:txBody>
      </p:sp>
      <p:graphicFrame>
        <p:nvGraphicFramePr>
          <p:cNvPr id="355" name="Google Shape;355;p48"/>
          <p:cNvGraphicFramePr/>
          <p:nvPr/>
        </p:nvGraphicFramePr>
        <p:xfrm>
          <a:off x="5136550" y="1068375"/>
          <a:ext cx="3000000" cy="3000000"/>
        </p:xfrm>
        <a:graphic>
          <a:graphicData uri="http://schemas.openxmlformats.org/drawingml/2006/table">
            <a:tbl>
              <a:tblPr>
                <a:noFill/>
                <a:tableStyleId>{C0C555C6-4410-434D-95D9-05A88E91E4BD}</a:tableStyleId>
              </a:tblPr>
              <a:tblGrid>
                <a:gridCol w="1164125"/>
                <a:gridCol w="456050"/>
                <a:gridCol w="996100"/>
                <a:gridCol w="1092125"/>
              </a:tblGrid>
              <a:tr h="190500">
                <a:tc>
                  <a:txBody>
                    <a:bodyPr/>
                    <a:lstStyle/>
                    <a:p>
                      <a:pPr indent="0" lvl="0" marL="0" rtl="0" algn="l">
                        <a:spcBef>
                          <a:spcPts val="0"/>
                        </a:spcBef>
                        <a:spcAft>
                          <a:spcPts val="0"/>
                        </a:spcAft>
                        <a:buNone/>
                      </a:pPr>
                      <a:r>
                        <a:t/>
                      </a:r>
                      <a:endParaRPr>
                        <a:solidFill>
                          <a:schemeClr val="dk1"/>
                        </a:solidFill>
                        <a:latin typeface="Calibri"/>
                        <a:ea typeface="Calibri"/>
                        <a:cs typeface="Calibri"/>
                        <a:sym typeface="Calibri"/>
                      </a:endParaRPr>
                    </a:p>
                  </a:txBody>
                  <a:tcPr marT="91425" marB="91425" marR="91425" marL="91425"/>
                </a:tc>
                <a:tc>
                  <a:txBody>
                    <a:bodyPr/>
                    <a:lstStyle/>
                    <a:p>
                      <a:pPr indent="0" lvl="0" marL="0" rtl="0" algn="ctr">
                        <a:lnSpc>
                          <a:spcPct val="115000"/>
                        </a:lnSpc>
                        <a:spcBef>
                          <a:spcPts val="0"/>
                        </a:spcBef>
                        <a:spcAft>
                          <a:spcPts val="0"/>
                        </a:spcAft>
                        <a:buNone/>
                      </a:pPr>
                      <a:r>
                        <a:rPr b="1" lang="en" sz="1100">
                          <a:solidFill>
                            <a:schemeClr val="dk1"/>
                          </a:solidFill>
                          <a:latin typeface="Calibri"/>
                          <a:ea typeface="Calibri"/>
                          <a:cs typeface="Calibri"/>
                          <a:sym typeface="Calibri"/>
                        </a:rPr>
                        <a:t>GNN</a:t>
                      </a:r>
                      <a:endParaRPr b="1" sz="1100">
                        <a:solidFill>
                          <a:schemeClr val="dk1"/>
                        </a:solidFill>
                        <a:latin typeface="Calibri"/>
                        <a:ea typeface="Calibri"/>
                        <a:cs typeface="Calibri"/>
                        <a:sym typeface="Calibri"/>
                      </a:endParaRPr>
                    </a:p>
                  </a:txBody>
                  <a:tcPr marT="91425" marB="91425" marR="91425" marL="91425"/>
                </a:tc>
                <a:tc>
                  <a:txBody>
                    <a:bodyPr/>
                    <a:lstStyle/>
                    <a:p>
                      <a:pPr indent="0" lvl="0" marL="0" rtl="0" algn="ctr">
                        <a:lnSpc>
                          <a:spcPct val="115000"/>
                        </a:lnSpc>
                        <a:spcBef>
                          <a:spcPts val="0"/>
                        </a:spcBef>
                        <a:spcAft>
                          <a:spcPts val="0"/>
                        </a:spcAft>
                        <a:buNone/>
                      </a:pPr>
                      <a:r>
                        <a:rPr b="1" lang="en" sz="1100">
                          <a:solidFill>
                            <a:schemeClr val="dk1"/>
                          </a:solidFill>
                          <a:latin typeface="Calibri"/>
                          <a:ea typeface="Calibri"/>
                          <a:cs typeface="Calibri"/>
                          <a:sym typeface="Calibri"/>
                        </a:rPr>
                        <a:t>GCN</a:t>
                      </a:r>
                      <a:endParaRPr b="1" sz="1100">
                        <a:solidFill>
                          <a:schemeClr val="dk1"/>
                        </a:solidFill>
                        <a:latin typeface="Calibri"/>
                        <a:ea typeface="Calibri"/>
                        <a:cs typeface="Calibri"/>
                        <a:sym typeface="Calibri"/>
                      </a:endParaRPr>
                    </a:p>
                  </a:txBody>
                  <a:tcPr marT="91425" marB="91425" marR="91425" marL="91425"/>
                </a:tc>
                <a:tc>
                  <a:txBody>
                    <a:bodyPr/>
                    <a:lstStyle/>
                    <a:p>
                      <a:pPr indent="0" lvl="0" marL="0" rtl="0" algn="ctr">
                        <a:lnSpc>
                          <a:spcPct val="115000"/>
                        </a:lnSpc>
                        <a:spcBef>
                          <a:spcPts val="0"/>
                        </a:spcBef>
                        <a:spcAft>
                          <a:spcPts val="0"/>
                        </a:spcAft>
                        <a:buNone/>
                      </a:pPr>
                      <a:r>
                        <a:rPr b="1" lang="en" sz="1100">
                          <a:solidFill>
                            <a:schemeClr val="dk1"/>
                          </a:solidFill>
                          <a:latin typeface="Calibri"/>
                          <a:ea typeface="Calibri"/>
                          <a:cs typeface="Calibri"/>
                          <a:sym typeface="Calibri"/>
                        </a:rPr>
                        <a:t>GAT</a:t>
                      </a:r>
                      <a:endParaRPr b="1" sz="1100">
                        <a:solidFill>
                          <a:schemeClr val="dk1"/>
                        </a:solidFill>
                        <a:latin typeface="Calibri"/>
                        <a:ea typeface="Calibri"/>
                        <a:cs typeface="Calibri"/>
                        <a:sym typeface="Calibri"/>
                      </a:endParaRPr>
                    </a:p>
                  </a:txBody>
                  <a:tcPr marT="91425" marB="91425" marR="91425" marL="91425"/>
                </a:tc>
              </a:tr>
              <a:tr h="190500">
                <a:tc>
                  <a:txBody>
                    <a:bodyPr/>
                    <a:lstStyle/>
                    <a:p>
                      <a:pPr indent="0" lvl="0" marL="0" rtl="0" algn="l">
                        <a:spcBef>
                          <a:spcPts val="0"/>
                        </a:spcBef>
                        <a:spcAft>
                          <a:spcPts val="0"/>
                        </a:spcAft>
                        <a:buNone/>
                      </a:pPr>
                      <a:r>
                        <a:rPr lang="en">
                          <a:solidFill>
                            <a:schemeClr val="dk1"/>
                          </a:solidFill>
                          <a:latin typeface="Calibri"/>
                          <a:ea typeface="Calibri"/>
                          <a:cs typeface="Calibri"/>
                          <a:sym typeface="Calibri"/>
                        </a:rPr>
                        <a:t>Weight</a:t>
                      </a:r>
                      <a:endParaRPr>
                        <a:solidFill>
                          <a:schemeClr val="dk1"/>
                        </a:solidFill>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n">
                          <a:solidFill>
                            <a:schemeClr val="dk1"/>
                          </a:solidFill>
                          <a:latin typeface="Calibri"/>
                          <a:ea typeface="Calibri"/>
                          <a:cs typeface="Calibri"/>
                          <a:sym typeface="Calibri"/>
                        </a:rPr>
                        <a:t>1</a:t>
                      </a:r>
                      <a:endParaRPr>
                        <a:solidFill>
                          <a:schemeClr val="dk1"/>
                        </a:solidFill>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n">
                          <a:solidFill>
                            <a:schemeClr val="dk1"/>
                          </a:solidFill>
                          <a:latin typeface="Calibri"/>
                          <a:ea typeface="Calibri"/>
                          <a:cs typeface="Calibri"/>
                          <a:sym typeface="Calibri"/>
                        </a:rPr>
                        <a:t>1/√(N(v))</a:t>
                      </a:r>
                      <a:endParaRPr>
                        <a:solidFill>
                          <a:schemeClr val="dk1"/>
                        </a:solidFill>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n">
                          <a:solidFill>
                            <a:schemeClr val="dk1"/>
                          </a:solidFill>
                          <a:latin typeface="Calibri"/>
                          <a:ea typeface="Calibri"/>
                          <a:cs typeface="Calibri"/>
                          <a:sym typeface="Calibri"/>
                        </a:rPr>
                        <a:t>learned α</a:t>
                      </a:r>
                      <a:endParaRPr>
                        <a:solidFill>
                          <a:schemeClr val="dk1"/>
                        </a:solidFill>
                        <a:latin typeface="Calibri"/>
                        <a:ea typeface="Calibri"/>
                        <a:cs typeface="Calibri"/>
                        <a:sym typeface="Calibri"/>
                      </a:endParaRPr>
                    </a:p>
                  </a:txBody>
                  <a:tcPr marT="91425" marB="91425" marR="91425" marL="91425"/>
                </a:tc>
              </a:tr>
              <a:tr h="190500">
                <a:tc>
                  <a:txBody>
                    <a:bodyPr/>
                    <a:lstStyle/>
                    <a:p>
                      <a:pPr indent="0" lvl="0" marL="0" rtl="0" algn="l">
                        <a:spcBef>
                          <a:spcPts val="0"/>
                        </a:spcBef>
                        <a:spcAft>
                          <a:spcPts val="0"/>
                        </a:spcAft>
                        <a:buNone/>
                      </a:pPr>
                      <a:r>
                        <a:rPr lang="en">
                          <a:solidFill>
                            <a:schemeClr val="dk1"/>
                          </a:solidFill>
                          <a:latin typeface="Calibri"/>
                          <a:ea typeface="Calibri"/>
                          <a:cs typeface="Calibri"/>
                          <a:sym typeface="Calibri"/>
                        </a:rPr>
                        <a:t>Uses structure</a:t>
                      </a:r>
                      <a:endParaRPr>
                        <a:solidFill>
                          <a:schemeClr val="dk1"/>
                        </a:solidFill>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n">
                          <a:solidFill>
                            <a:schemeClr val="dk1"/>
                          </a:solidFill>
                          <a:latin typeface="Calibri"/>
                          <a:ea typeface="Calibri"/>
                          <a:cs typeface="Calibri"/>
                          <a:sym typeface="Calibri"/>
                        </a:rPr>
                        <a:t>No</a:t>
                      </a:r>
                      <a:endParaRPr>
                        <a:solidFill>
                          <a:schemeClr val="dk1"/>
                        </a:solidFill>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n">
                          <a:solidFill>
                            <a:schemeClr val="dk1"/>
                          </a:solidFill>
                          <a:latin typeface="Calibri"/>
                          <a:ea typeface="Calibri"/>
                          <a:cs typeface="Calibri"/>
                          <a:sym typeface="Calibri"/>
                        </a:rPr>
                        <a:t>Yes (degree)</a:t>
                      </a:r>
                      <a:endParaRPr>
                        <a:solidFill>
                          <a:schemeClr val="dk1"/>
                        </a:solidFill>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n">
                          <a:solidFill>
                            <a:schemeClr val="dk1"/>
                          </a:solidFill>
                          <a:latin typeface="Calibri"/>
                          <a:ea typeface="Calibri"/>
                          <a:cs typeface="Calibri"/>
                          <a:sym typeface="Calibri"/>
                        </a:rPr>
                        <a:t>Yes (features)</a:t>
                      </a:r>
                      <a:endParaRPr>
                        <a:solidFill>
                          <a:schemeClr val="dk1"/>
                        </a:solidFill>
                        <a:latin typeface="Calibri"/>
                        <a:ea typeface="Calibri"/>
                        <a:cs typeface="Calibri"/>
                        <a:sym typeface="Calibri"/>
                      </a:endParaRPr>
                    </a:p>
                  </a:txBody>
                  <a:tcPr marT="91425" marB="91425" marR="91425" marL="91425"/>
                </a:tc>
              </a:tr>
              <a:tr h="190500">
                <a:tc>
                  <a:txBody>
                    <a:bodyPr/>
                    <a:lstStyle/>
                    <a:p>
                      <a:pPr indent="0" lvl="0" marL="0" rtl="0" algn="l">
                        <a:spcBef>
                          <a:spcPts val="0"/>
                        </a:spcBef>
                        <a:spcAft>
                          <a:spcPts val="0"/>
                        </a:spcAft>
                        <a:buNone/>
                      </a:pPr>
                      <a:r>
                        <a:rPr lang="en">
                          <a:solidFill>
                            <a:schemeClr val="dk1"/>
                          </a:solidFill>
                          <a:latin typeface="Calibri"/>
                          <a:ea typeface="Calibri"/>
                          <a:cs typeface="Calibri"/>
                          <a:sym typeface="Calibri"/>
                        </a:rPr>
                        <a:t>Learnable agg.</a:t>
                      </a:r>
                      <a:endParaRPr>
                        <a:solidFill>
                          <a:schemeClr val="dk1"/>
                        </a:solidFill>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n">
                          <a:solidFill>
                            <a:schemeClr val="dk1"/>
                          </a:solidFill>
                          <a:latin typeface="Calibri"/>
                          <a:ea typeface="Calibri"/>
                          <a:cs typeface="Calibri"/>
                          <a:sym typeface="Calibri"/>
                        </a:rPr>
                        <a:t>No</a:t>
                      </a:r>
                      <a:endParaRPr>
                        <a:solidFill>
                          <a:schemeClr val="dk1"/>
                        </a:solidFill>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n">
                          <a:solidFill>
                            <a:schemeClr val="dk1"/>
                          </a:solidFill>
                          <a:latin typeface="Calibri"/>
                          <a:ea typeface="Calibri"/>
                          <a:cs typeface="Calibri"/>
                          <a:sym typeface="Calibri"/>
                        </a:rPr>
                        <a:t>No</a:t>
                      </a:r>
                      <a:endParaRPr>
                        <a:solidFill>
                          <a:schemeClr val="dk1"/>
                        </a:solidFill>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n">
                          <a:solidFill>
                            <a:schemeClr val="dk1"/>
                          </a:solidFill>
                          <a:latin typeface="Calibri"/>
                          <a:ea typeface="Calibri"/>
                          <a:cs typeface="Calibri"/>
                          <a:sym typeface="Calibri"/>
                        </a:rPr>
                        <a:t>Yes</a:t>
                      </a:r>
                      <a:endParaRPr>
                        <a:solidFill>
                          <a:schemeClr val="dk1"/>
                        </a:solidFill>
                        <a:latin typeface="Calibri"/>
                        <a:ea typeface="Calibri"/>
                        <a:cs typeface="Calibri"/>
                        <a:sym typeface="Calibri"/>
                      </a:endParaRPr>
                    </a:p>
                  </a:txBody>
                  <a:tcPr marT="91425" marB="91425" marR="91425" marL="91425"/>
                </a:tc>
              </a:tr>
            </a:tbl>
          </a:graphicData>
        </a:graphic>
      </p:graphicFrame>
      <p:sp>
        <p:nvSpPr>
          <p:cNvPr id="356" name="Google Shape;356;p48"/>
          <p:cNvSpPr txBox="1"/>
          <p:nvPr/>
        </p:nvSpPr>
        <p:spPr>
          <a:xfrm>
            <a:off x="72250" y="650625"/>
            <a:ext cx="4429500" cy="30000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1200"/>
              </a:spcBef>
              <a:spcAft>
                <a:spcPts val="0"/>
              </a:spcAft>
              <a:buNone/>
            </a:pPr>
            <a:r>
              <a:rPr lang="en" sz="1100"/>
              <a:t>All three use: gather neighbors → aggregate → update via MLP. The only difference is the weight each neighbor gets.</a:t>
            </a:r>
            <a:endParaRPr sz="1100"/>
          </a:p>
          <a:p>
            <a:pPr indent="0" lvl="0" marL="0" rtl="0" algn="l">
              <a:lnSpc>
                <a:spcPct val="115000"/>
              </a:lnSpc>
              <a:spcBef>
                <a:spcPts val="1200"/>
              </a:spcBef>
              <a:spcAft>
                <a:spcPts val="0"/>
              </a:spcAft>
              <a:buNone/>
            </a:pPr>
            <a:r>
              <a:rPr b="1" lang="en" sz="1100"/>
              <a:t>GNN</a:t>
            </a:r>
            <a:r>
              <a:rPr lang="en" sz="1100"/>
              <a:t> — weight = 1 (uniform, all neighbors equal)</a:t>
            </a:r>
            <a:endParaRPr sz="1100"/>
          </a:p>
          <a:p>
            <a:pPr indent="0" lvl="0" marL="0" rtl="0" algn="l">
              <a:lnSpc>
                <a:spcPct val="115000"/>
              </a:lnSpc>
              <a:spcBef>
                <a:spcPts val="1200"/>
              </a:spcBef>
              <a:spcAft>
                <a:spcPts val="0"/>
              </a:spcAft>
              <a:buNone/>
            </a:pPr>
            <a:r>
              <a:rPr b="1" lang="en" sz="1100"/>
              <a:t>GCN</a:t>
            </a:r>
            <a:r>
              <a:rPr lang="en" sz="1100"/>
              <a:t> — weight = 1/√(N(v), fixed, derived from node degrees. High-degree nodes get down-weighted. Like CNN average pooling but on a graph.</a:t>
            </a:r>
            <a:endParaRPr sz="1100"/>
          </a:p>
          <a:p>
            <a:pPr indent="0" lvl="0" marL="0" rtl="0" algn="l">
              <a:lnSpc>
                <a:spcPct val="115000"/>
              </a:lnSpc>
              <a:spcBef>
                <a:spcPts val="1200"/>
              </a:spcBef>
              <a:spcAft>
                <a:spcPts val="1200"/>
              </a:spcAft>
              <a:buNone/>
            </a:pPr>
            <a:r>
              <a:rPr b="1" lang="en" sz="1100"/>
              <a:t>GAT</a:t>
            </a:r>
            <a:r>
              <a:rPr lang="en" sz="1100"/>
              <a:t> — weight = α_vu, learned via a small attention network over concatenated neighbor features. The model decides which neighbors matter more.</a:t>
            </a:r>
            <a:endParaRPr sz="1100"/>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0" name="Shape 360"/>
        <p:cNvGrpSpPr/>
        <p:nvPr/>
      </p:nvGrpSpPr>
      <p:grpSpPr>
        <a:xfrm>
          <a:off x="0" y="0"/>
          <a:ext cx="0" cy="0"/>
          <a:chOff x="0" y="0"/>
          <a:chExt cx="0" cy="0"/>
        </a:xfrm>
      </p:grpSpPr>
      <p:pic>
        <p:nvPicPr>
          <p:cNvPr id="361" name="Google Shape;361;p49"/>
          <p:cNvPicPr preferRelativeResize="0"/>
          <p:nvPr/>
        </p:nvPicPr>
        <p:blipFill>
          <a:blip r:embed="rId3">
            <a:alphaModFix/>
          </a:blip>
          <a:stretch>
            <a:fillRect/>
          </a:stretch>
        </p:blipFill>
        <p:spPr>
          <a:xfrm>
            <a:off x="1278638" y="152400"/>
            <a:ext cx="6586713" cy="4838700"/>
          </a:xfrm>
          <a:prstGeom prst="rect">
            <a:avLst/>
          </a:prstGeom>
          <a:noFill/>
          <a:ln>
            <a:noFill/>
          </a:ln>
        </p:spPr>
      </p:pic>
      <p:sp>
        <p:nvSpPr>
          <p:cNvPr id="362" name="Google Shape;362;p49"/>
          <p:cNvSpPr txBox="1"/>
          <p:nvPr/>
        </p:nvSpPr>
        <p:spPr>
          <a:xfrm>
            <a:off x="158275" y="152400"/>
            <a:ext cx="7563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800">
                <a:solidFill>
                  <a:schemeClr val="dk1"/>
                </a:solidFill>
              </a:rPr>
              <a:t>GCN</a:t>
            </a:r>
            <a:endParaRPr b="1" sz="1800">
              <a:solidFill>
                <a:schemeClr val="dk1"/>
              </a:solidFill>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6" name="Shape 366"/>
        <p:cNvGrpSpPr/>
        <p:nvPr/>
      </p:nvGrpSpPr>
      <p:grpSpPr>
        <a:xfrm>
          <a:off x="0" y="0"/>
          <a:ext cx="0" cy="0"/>
          <a:chOff x="0" y="0"/>
          <a:chExt cx="0" cy="0"/>
        </a:xfrm>
      </p:grpSpPr>
      <p:pic>
        <p:nvPicPr>
          <p:cNvPr id="367" name="Google Shape;367;p50"/>
          <p:cNvPicPr preferRelativeResize="0"/>
          <p:nvPr/>
        </p:nvPicPr>
        <p:blipFill>
          <a:blip r:embed="rId3">
            <a:alphaModFix/>
          </a:blip>
          <a:stretch>
            <a:fillRect/>
          </a:stretch>
        </p:blipFill>
        <p:spPr>
          <a:xfrm>
            <a:off x="914563" y="152400"/>
            <a:ext cx="5363832" cy="4838702"/>
          </a:xfrm>
          <a:prstGeom prst="rect">
            <a:avLst/>
          </a:prstGeom>
          <a:noFill/>
          <a:ln>
            <a:noFill/>
          </a:ln>
        </p:spPr>
      </p:pic>
      <p:sp>
        <p:nvSpPr>
          <p:cNvPr id="368" name="Google Shape;368;p50"/>
          <p:cNvSpPr txBox="1"/>
          <p:nvPr/>
        </p:nvSpPr>
        <p:spPr>
          <a:xfrm>
            <a:off x="158275" y="152400"/>
            <a:ext cx="7563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800">
                <a:solidFill>
                  <a:schemeClr val="dk1"/>
                </a:solidFill>
              </a:rPr>
              <a:t>GCN</a:t>
            </a:r>
            <a:endParaRPr b="1" sz="1800">
              <a:solidFill>
                <a:schemeClr val="dk1"/>
              </a:solidFill>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 name="Shape 372"/>
        <p:cNvGrpSpPr/>
        <p:nvPr/>
      </p:nvGrpSpPr>
      <p:grpSpPr>
        <a:xfrm>
          <a:off x="0" y="0"/>
          <a:ext cx="0" cy="0"/>
          <a:chOff x="0" y="0"/>
          <a:chExt cx="0" cy="0"/>
        </a:xfrm>
      </p:grpSpPr>
      <p:sp>
        <p:nvSpPr>
          <p:cNvPr id="373" name="Google Shape;373;p51"/>
          <p:cNvSpPr txBox="1"/>
          <p:nvPr/>
        </p:nvSpPr>
        <p:spPr>
          <a:xfrm>
            <a:off x="8141700" y="117225"/>
            <a:ext cx="7563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800">
                <a:solidFill>
                  <a:schemeClr val="dk1"/>
                </a:solidFill>
              </a:rPr>
              <a:t>GAT</a:t>
            </a:r>
            <a:endParaRPr b="1" sz="1800">
              <a:solidFill>
                <a:schemeClr val="dk1"/>
              </a:solidFill>
            </a:endParaRPr>
          </a:p>
        </p:txBody>
      </p:sp>
      <p:pic>
        <p:nvPicPr>
          <p:cNvPr id="374" name="Google Shape;374;p51"/>
          <p:cNvPicPr preferRelativeResize="0"/>
          <p:nvPr/>
        </p:nvPicPr>
        <p:blipFill>
          <a:blip r:embed="rId3">
            <a:alphaModFix/>
          </a:blip>
          <a:stretch>
            <a:fillRect/>
          </a:stretch>
        </p:blipFill>
        <p:spPr>
          <a:xfrm>
            <a:off x="91025" y="117225"/>
            <a:ext cx="6025114" cy="4838702"/>
          </a:xfrm>
          <a:prstGeom prst="rect">
            <a:avLst/>
          </a:prstGeom>
          <a:noFill/>
          <a:ln>
            <a:noFill/>
          </a:ln>
        </p:spPr>
      </p:pic>
      <p:pic>
        <p:nvPicPr>
          <p:cNvPr id="375" name="Google Shape;375;p51"/>
          <p:cNvPicPr preferRelativeResize="0"/>
          <p:nvPr/>
        </p:nvPicPr>
        <p:blipFill>
          <a:blip r:embed="rId4">
            <a:alphaModFix/>
          </a:blip>
          <a:stretch>
            <a:fillRect/>
          </a:stretch>
        </p:blipFill>
        <p:spPr>
          <a:xfrm>
            <a:off x="4010750" y="3901653"/>
            <a:ext cx="5133251" cy="1140722"/>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9" name="Shape 379"/>
        <p:cNvGrpSpPr/>
        <p:nvPr/>
      </p:nvGrpSpPr>
      <p:grpSpPr>
        <a:xfrm>
          <a:off x="0" y="0"/>
          <a:ext cx="0" cy="0"/>
          <a:chOff x="0" y="0"/>
          <a:chExt cx="0" cy="0"/>
        </a:xfrm>
      </p:grpSpPr>
      <p:sp>
        <p:nvSpPr>
          <p:cNvPr id="380" name="Google Shape;380;p52"/>
          <p:cNvSpPr txBox="1"/>
          <p:nvPr/>
        </p:nvSpPr>
        <p:spPr>
          <a:xfrm>
            <a:off x="158275" y="152400"/>
            <a:ext cx="7563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800">
                <a:solidFill>
                  <a:schemeClr val="dk1"/>
                </a:solidFill>
              </a:rPr>
              <a:t>GAT</a:t>
            </a:r>
            <a:endParaRPr b="1" sz="1800">
              <a:solidFill>
                <a:schemeClr val="dk1"/>
              </a:solidFill>
            </a:endParaRPr>
          </a:p>
        </p:txBody>
      </p:sp>
      <p:pic>
        <p:nvPicPr>
          <p:cNvPr id="381" name="Google Shape;381;p52"/>
          <p:cNvPicPr preferRelativeResize="0"/>
          <p:nvPr/>
        </p:nvPicPr>
        <p:blipFill>
          <a:blip r:embed="rId3">
            <a:alphaModFix/>
          </a:blip>
          <a:stretch>
            <a:fillRect/>
          </a:stretch>
        </p:blipFill>
        <p:spPr>
          <a:xfrm>
            <a:off x="1066975" y="152400"/>
            <a:ext cx="4624290" cy="4838700"/>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5" name="Shape 385"/>
        <p:cNvGrpSpPr/>
        <p:nvPr/>
      </p:nvGrpSpPr>
      <p:grpSpPr>
        <a:xfrm>
          <a:off x="0" y="0"/>
          <a:ext cx="0" cy="0"/>
          <a:chOff x="0" y="0"/>
          <a:chExt cx="0" cy="0"/>
        </a:xfrm>
      </p:grpSpPr>
      <p:sp>
        <p:nvSpPr>
          <p:cNvPr id="386" name="Google Shape;386;p53"/>
          <p:cNvSpPr txBox="1"/>
          <p:nvPr/>
        </p:nvSpPr>
        <p:spPr>
          <a:xfrm>
            <a:off x="8317525" y="99650"/>
            <a:ext cx="7563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800">
                <a:solidFill>
                  <a:schemeClr val="dk1"/>
                </a:solidFill>
              </a:rPr>
              <a:t>GAT</a:t>
            </a:r>
            <a:endParaRPr b="1" sz="1800">
              <a:solidFill>
                <a:schemeClr val="dk1"/>
              </a:solidFill>
            </a:endParaRPr>
          </a:p>
        </p:txBody>
      </p:sp>
      <p:pic>
        <p:nvPicPr>
          <p:cNvPr id="387" name="Google Shape;387;p53"/>
          <p:cNvPicPr preferRelativeResize="0"/>
          <p:nvPr/>
        </p:nvPicPr>
        <p:blipFill>
          <a:blip r:embed="rId3">
            <a:alphaModFix/>
          </a:blip>
          <a:stretch>
            <a:fillRect/>
          </a:stretch>
        </p:blipFill>
        <p:spPr>
          <a:xfrm>
            <a:off x="52775" y="38125"/>
            <a:ext cx="4624290" cy="4838700"/>
          </a:xfrm>
          <a:prstGeom prst="rect">
            <a:avLst/>
          </a:prstGeom>
          <a:noFill/>
          <a:ln>
            <a:noFill/>
          </a:ln>
        </p:spPr>
      </p:pic>
      <p:pic>
        <p:nvPicPr>
          <p:cNvPr id="388" name="Google Shape;388;p53"/>
          <p:cNvPicPr preferRelativeResize="0"/>
          <p:nvPr/>
        </p:nvPicPr>
        <p:blipFill>
          <a:blip r:embed="rId4">
            <a:alphaModFix/>
          </a:blip>
          <a:stretch>
            <a:fillRect/>
          </a:stretch>
        </p:blipFill>
        <p:spPr>
          <a:xfrm>
            <a:off x="4143425" y="3437800"/>
            <a:ext cx="4930400" cy="1565025"/>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2" name="Shape 392"/>
        <p:cNvGrpSpPr/>
        <p:nvPr/>
      </p:nvGrpSpPr>
      <p:grpSpPr>
        <a:xfrm>
          <a:off x="0" y="0"/>
          <a:ext cx="0" cy="0"/>
          <a:chOff x="0" y="0"/>
          <a:chExt cx="0" cy="0"/>
        </a:xfrm>
      </p:grpSpPr>
      <p:sp>
        <p:nvSpPr>
          <p:cNvPr id="393" name="Google Shape;393;p54"/>
          <p:cNvSpPr txBox="1"/>
          <p:nvPr>
            <p:ph idx="1" type="subTitle"/>
          </p:nvPr>
        </p:nvSpPr>
        <p:spPr>
          <a:xfrm>
            <a:off x="311700" y="161375"/>
            <a:ext cx="8520600" cy="1182900"/>
          </a:xfrm>
          <a:prstGeom prst="rect">
            <a:avLst/>
          </a:prstGeom>
        </p:spPr>
        <p:txBody>
          <a:bodyPr anchorCtr="0" anchor="t" bIns="91425" lIns="91425" spcFirstLastPara="1" rIns="91425" wrap="square" tIns="91425">
            <a:normAutofit fontScale="55000" lnSpcReduction="20000"/>
          </a:bodyPr>
          <a:lstStyle/>
          <a:p>
            <a:pPr indent="0" lvl="0" marL="0" rtl="0" algn="l">
              <a:spcBef>
                <a:spcPts val="0"/>
              </a:spcBef>
              <a:spcAft>
                <a:spcPts val="0"/>
              </a:spcAft>
              <a:buNone/>
            </a:pPr>
            <a:r>
              <a:rPr lang="en"/>
              <a:t>Reference</a:t>
            </a:r>
            <a:endParaRPr/>
          </a:p>
          <a:p>
            <a:pPr indent="0" lvl="0" marL="0" rtl="0" algn="l">
              <a:spcBef>
                <a:spcPts val="0"/>
              </a:spcBef>
              <a:spcAft>
                <a:spcPts val="0"/>
              </a:spcAft>
              <a:buNone/>
            </a:pPr>
            <a:r>
              <a:t/>
            </a:r>
            <a:endParaRPr/>
          </a:p>
          <a:p>
            <a:pPr indent="0" lvl="0" marL="0" rtl="0" algn="l">
              <a:spcBef>
                <a:spcPts val="0"/>
              </a:spcBef>
              <a:spcAft>
                <a:spcPts val="0"/>
              </a:spcAft>
              <a:buNone/>
            </a:pPr>
            <a:r>
              <a:rPr lang="en" u="sng">
                <a:solidFill>
                  <a:schemeClr val="hlink"/>
                </a:solidFill>
                <a:hlinkClick r:id="rId3"/>
              </a:rPr>
              <a:t>https://distill.pub/2021/gnn-intro/</a:t>
            </a:r>
            <a:endParaRPr/>
          </a:p>
          <a:p>
            <a:pPr indent="0" lvl="0" marL="0" rtl="0" algn="l">
              <a:spcBef>
                <a:spcPts val="0"/>
              </a:spcBef>
              <a:spcAft>
                <a:spcPts val="0"/>
              </a:spcAft>
              <a:buNone/>
            </a:pPr>
            <a:r>
              <a:rPr lang="en" u="sng">
                <a:solidFill>
                  <a:schemeClr val="hlink"/>
                </a:solidFill>
                <a:hlinkClick r:id="rId4"/>
              </a:rPr>
              <a:t>https://distill.pub/2021/understanding-gnns/</a:t>
            </a:r>
            <a:endParaRPr/>
          </a:p>
          <a:p>
            <a:pPr indent="0" lvl="0" marL="0" rtl="0" algn="l">
              <a:spcBef>
                <a:spcPts val="0"/>
              </a:spcBef>
              <a:spcAft>
                <a:spcPts val="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