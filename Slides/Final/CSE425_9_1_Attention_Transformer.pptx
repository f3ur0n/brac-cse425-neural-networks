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D55702A-EFF0-4A72-AC39-8FE983E2ACF1}">
  <a:tblStyle styleId="{AD55702A-EFF0-4A72-AC39-8FE983E2ACF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43" Type="http://schemas.openxmlformats.org/officeDocument/2006/relationships/slide" Target="slides/slide37.xml"/><Relationship Id="rId87" Type="http://schemas.openxmlformats.org/officeDocument/2006/relationships/slide" Target="slides/slide81.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4038189f5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4038189f5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4038189f5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4038189f5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b4038189f5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b4038189f5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b4038189f5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b4038189f5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b4038189f5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b4038189f5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b4038189f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b4038189f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4038189f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4038189f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99872ca5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99872ca5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99872ca5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99872ca5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99872ca5d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99872ca5d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46923de08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46923de08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b46923de08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b46923de08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99872ca5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99872ca5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46923de08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46923de08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46923de08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46923de08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46923de08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46923de08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46923de08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46923de08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46923de08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b46923de08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66045fc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66045fc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46923de08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b46923de08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4038189f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b4038189f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99872ca5d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d99872ca5d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b4038189f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b4038189f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b4038189f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b4038189f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4038189f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b4038189f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b4038189f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b4038189f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b4038189f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b4038189f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b46923de08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b46923de08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b46923de08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b46923de08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46923de08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b46923de08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b46923de08_1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b46923de08_1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b46923de08_1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b46923de08_1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b46923de08_1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b46923de08_1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46923de08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b46923de08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b46923de08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b46923de08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b46923de08_1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b46923de08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b46923de08_1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b46923de08_1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b46923de08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b46923de08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b46923de08_1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b46923de08_1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b46923de08_1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b46923de08_1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b46923de08_1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b46923de08_1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b4038189f5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b4038189f5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b4038189f5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b4038189f5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4038189f5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b4038189f5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b4038189f5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b4038189f5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b4038189f5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b4038189f5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e6944f2c76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e6944f2c76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e6944f2c76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e6944f2c76_3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b46923de08_1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b46923de08_1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e6944f2c76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e6944f2c76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b46923de08_1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b46923de08_1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b4038189f5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b4038189f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b4038189f5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b4038189f5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b46923de08_1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b46923de08_1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e6944f2c7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e6944f2c7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e6944f2c76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e6944f2c7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6944f2c76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e6944f2c76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b46923de08_1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b46923de08_1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b4038189f5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b4038189f5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b46923de08_1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b46923de08_1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b46923de08_1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b46923de08_1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d99872ca5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d99872ca5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d99872ca5d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d99872ca5d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e6944f2c7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e6944f2c7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e6944f2c76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e6944f2c76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e6944f2c76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e6944f2c76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e6944f2c76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e6944f2c76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6944f2c76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e6944f2c76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d99872ca5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d99872ca5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d99872ca5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d99872ca5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d99872ca5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d99872ca5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d99872ca5d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d99872ca5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d99872ca5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d99872ca5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d99872ca5d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d99872ca5d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b4038189f5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b4038189f5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b4038189f5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b4038189f5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b4038189f5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b4038189f5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b4038189f5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b4038189f5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b4038189f5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b4038189f5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b4038189f5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b4038189f5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x.com/viplismism/status/2003807608571076782" TargetMode="Externa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x.com/viplismism/status/2003807608571076782"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3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3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3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3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hyperlink" Target="https://jalammar.github.io/illustrated-transformer/" TargetMode="External"/><Relationship Id="rId4" Type="http://schemas.openxmlformats.org/officeDocument/2006/relationships/hyperlink" Target="https://goyalpramod.github.io/blogs/Transformers_laid_out/" TargetMode="External"/><Relationship Id="rId5" Type="http://schemas.openxmlformats.org/officeDocument/2006/relationships/hyperlink" Target="https://x.com/viplismism/status/200380760857107678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126650" y="2140500"/>
            <a:ext cx="6890700" cy="862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a:latin typeface="Calibri"/>
                <a:ea typeface="Calibri"/>
                <a:cs typeface="Calibri"/>
                <a:sym typeface="Calibri"/>
              </a:rPr>
              <a:t>Attention &amp; Transformers</a:t>
            </a:r>
            <a:endParaRPr b="1">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259375" y="263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What is a Transformer?</a:t>
            </a:r>
            <a:endParaRPr b="1" sz="1800">
              <a:solidFill>
                <a:schemeClr val="dk1"/>
              </a:solidFill>
              <a:latin typeface="Calibri"/>
              <a:ea typeface="Calibri"/>
              <a:cs typeface="Calibri"/>
              <a:sym typeface="Calibri"/>
            </a:endParaRPr>
          </a:p>
        </p:txBody>
      </p:sp>
      <p:sp>
        <p:nvSpPr>
          <p:cNvPr id="60" name="Google Shape;60;p14"/>
          <p:cNvSpPr txBox="1"/>
          <p:nvPr/>
        </p:nvSpPr>
        <p:spPr>
          <a:xfrm>
            <a:off x="340000" y="792150"/>
            <a:ext cx="84396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A Transformer is a neural network architecture designed for sequence modeling that relies entirely on attention, without using recurrence (RNNs) or convolution (CNNs).</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Its key innovation is self-attention, which allows the model to look at all tokens simultaneously and decide which tokens matter most for each token.</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nvSpPr>
        <p:spPr>
          <a:xfrm>
            <a:off x="212725" y="193625"/>
            <a:ext cx="8516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What is Attention?</a:t>
            </a:r>
            <a:endParaRPr b="1" sz="1800">
              <a:solidFill>
                <a:schemeClr val="dk1"/>
              </a:solidFill>
              <a:latin typeface="Calibri"/>
              <a:ea typeface="Calibri"/>
              <a:cs typeface="Calibri"/>
              <a:sym typeface="Calibri"/>
            </a:endParaRPr>
          </a:p>
        </p:txBody>
      </p:sp>
      <p:sp>
        <p:nvSpPr>
          <p:cNvPr id="66" name="Google Shape;66;p15"/>
          <p:cNvSpPr txBox="1"/>
          <p:nvPr/>
        </p:nvSpPr>
        <p:spPr>
          <a:xfrm>
            <a:off x="309979" y="698950"/>
            <a:ext cx="85164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Attention is a mechanism that assigns importance weights to different tokens when computing a representation for a given token.</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In simple terms:</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Each token asks: “Which other tokens should I pay attention to, and how much?”</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nvSpPr>
        <p:spPr>
          <a:xfrm>
            <a:off x="181650" y="16255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When was attention first introduced?</a:t>
            </a:r>
            <a:endParaRPr b="1" sz="1800">
              <a:solidFill>
                <a:schemeClr val="dk1"/>
              </a:solidFill>
              <a:latin typeface="Calibri"/>
              <a:ea typeface="Calibri"/>
              <a:cs typeface="Calibri"/>
              <a:sym typeface="Calibri"/>
            </a:endParaRPr>
          </a:p>
        </p:txBody>
      </p:sp>
      <p:sp>
        <p:nvSpPr>
          <p:cNvPr id="72" name="Google Shape;72;p16"/>
          <p:cNvSpPr txBox="1"/>
          <p:nvPr/>
        </p:nvSpPr>
        <p:spPr>
          <a:xfrm>
            <a:off x="262325" y="660100"/>
            <a:ext cx="86028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Attention was first introduced in 2014 in the context of neural machine translation.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Paper: “Neural Machine Translation by Jointly Learning to Align and Translate”</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Context : </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Used with RNN-based encoder-decoder models</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Solved the fixed-length bottleneck problem of seq2seq models</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Allowed the decoder to focus on different parts of the input sequence dynamically</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nvSpPr>
        <p:spPr>
          <a:xfrm>
            <a:off x="779925" y="40340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Attention existed before Transformers!</a:t>
            </a:r>
            <a:endParaRPr b="1" sz="1800">
              <a:solidFill>
                <a:schemeClr val="dk1"/>
              </a:solidFill>
              <a:latin typeface="Calibri"/>
              <a:ea typeface="Calibri"/>
              <a:cs typeface="Calibri"/>
              <a:sym typeface="Calibri"/>
            </a:endParaRPr>
          </a:p>
        </p:txBody>
      </p:sp>
      <p:graphicFrame>
        <p:nvGraphicFramePr>
          <p:cNvPr id="78" name="Google Shape;78;p17"/>
          <p:cNvGraphicFramePr/>
          <p:nvPr/>
        </p:nvGraphicFramePr>
        <p:xfrm>
          <a:off x="779925" y="999575"/>
          <a:ext cx="3000000" cy="3000000"/>
        </p:xfrm>
        <a:graphic>
          <a:graphicData uri="http://schemas.openxmlformats.org/drawingml/2006/table">
            <a:tbl>
              <a:tblPr>
                <a:noFill/>
                <a:tableStyleId>{AD55702A-EFF0-4A72-AC39-8FE983E2ACF1}</a:tableStyleId>
              </a:tblPr>
              <a:tblGrid>
                <a:gridCol w="1907725"/>
                <a:gridCol w="2861600"/>
                <a:gridCol w="2976050"/>
              </a:tblGrid>
              <a:tr h="700375">
                <a:tc>
                  <a:txBody>
                    <a:bodyPr/>
                    <a:lstStyle/>
                    <a:p>
                      <a:pPr indent="0" lvl="0" marL="0" rtl="0" algn="ctr">
                        <a:lnSpc>
                          <a:spcPct val="115000"/>
                        </a:lnSpc>
                        <a:spcBef>
                          <a:spcPts val="0"/>
                        </a:spcBef>
                        <a:spcAft>
                          <a:spcPts val="0"/>
                        </a:spcAft>
                        <a:buNone/>
                      </a:pPr>
                      <a:r>
                        <a:rPr b="1" lang="en">
                          <a:solidFill>
                            <a:schemeClr val="dk1"/>
                          </a:solidFill>
                          <a:latin typeface="Calibri"/>
                          <a:ea typeface="Calibri"/>
                          <a:cs typeface="Calibri"/>
                          <a:sym typeface="Calibri"/>
                        </a:rPr>
                        <a:t>Year</a:t>
                      </a:r>
                      <a:endParaRPr b="1">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solidFill>
                            <a:schemeClr val="dk1"/>
                          </a:solidFill>
                          <a:latin typeface="Calibri"/>
                          <a:ea typeface="Calibri"/>
                          <a:cs typeface="Calibri"/>
                          <a:sym typeface="Calibri"/>
                        </a:rPr>
                        <a:t>Architecture</a:t>
                      </a:r>
                      <a:endParaRPr b="1">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solidFill>
                            <a:schemeClr val="dk1"/>
                          </a:solidFill>
                          <a:latin typeface="Calibri"/>
                          <a:ea typeface="Calibri"/>
                          <a:cs typeface="Calibri"/>
                          <a:sym typeface="Calibri"/>
                        </a:rPr>
                        <a:t>Role of Attention</a:t>
                      </a:r>
                      <a:endParaRPr b="1">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00375">
                <a:tc>
                  <a:txBody>
                    <a:bodyPr/>
                    <a:lstStyle/>
                    <a:p>
                      <a:pPr indent="0" lvl="0" marL="0" rtl="0" algn="ctr">
                        <a:lnSpc>
                          <a:spcPct val="115000"/>
                        </a:lnSpc>
                        <a:spcBef>
                          <a:spcPts val="0"/>
                        </a:spcBef>
                        <a:spcAft>
                          <a:spcPts val="0"/>
                        </a:spcAft>
                        <a:buNone/>
                      </a:pPr>
                      <a:r>
                        <a:rPr lang="en">
                          <a:solidFill>
                            <a:schemeClr val="dk1"/>
                          </a:solidFill>
                          <a:latin typeface="Calibri"/>
                          <a:ea typeface="Calibri"/>
                          <a:cs typeface="Calibri"/>
                          <a:sym typeface="Calibri"/>
                        </a:rPr>
                        <a:t>2014</a:t>
                      </a:r>
                      <a:endParaRPr>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dk1"/>
                          </a:solidFill>
                          <a:latin typeface="Calibri"/>
                          <a:ea typeface="Calibri"/>
                          <a:cs typeface="Calibri"/>
                          <a:sym typeface="Calibri"/>
                        </a:rPr>
                        <a:t>RNN Encoder-Decoder</a:t>
                      </a:r>
                      <a:endParaRPr>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dk1"/>
                          </a:solidFill>
                          <a:latin typeface="Calibri"/>
                          <a:ea typeface="Calibri"/>
                          <a:cs typeface="Calibri"/>
                          <a:sym typeface="Calibri"/>
                        </a:rPr>
                        <a:t>Soft alignment</a:t>
                      </a:r>
                      <a:endParaRPr>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00375">
                <a:tc>
                  <a:txBody>
                    <a:bodyPr/>
                    <a:lstStyle/>
                    <a:p>
                      <a:pPr indent="0" lvl="0" marL="0" rtl="0" algn="ctr">
                        <a:lnSpc>
                          <a:spcPct val="115000"/>
                        </a:lnSpc>
                        <a:spcBef>
                          <a:spcPts val="0"/>
                        </a:spcBef>
                        <a:spcAft>
                          <a:spcPts val="0"/>
                        </a:spcAft>
                        <a:buNone/>
                      </a:pPr>
                      <a:r>
                        <a:rPr lang="en">
                          <a:solidFill>
                            <a:schemeClr val="dk1"/>
                          </a:solidFill>
                          <a:latin typeface="Calibri"/>
                          <a:ea typeface="Calibri"/>
                          <a:cs typeface="Calibri"/>
                          <a:sym typeface="Calibri"/>
                        </a:rPr>
                        <a:t>2015</a:t>
                      </a:r>
                      <a:endParaRPr>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dk1"/>
                          </a:solidFill>
                          <a:latin typeface="Calibri"/>
                          <a:ea typeface="Calibri"/>
                          <a:cs typeface="Calibri"/>
                          <a:sym typeface="Calibri"/>
                        </a:rPr>
                        <a:t>RNN + Attention</a:t>
                      </a:r>
                      <a:endParaRPr>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dk1"/>
                          </a:solidFill>
                          <a:latin typeface="Calibri"/>
                          <a:ea typeface="Calibri"/>
                          <a:cs typeface="Calibri"/>
                          <a:sym typeface="Calibri"/>
                        </a:rPr>
                        <a:t>Improved translation</a:t>
                      </a:r>
                      <a:endParaRPr>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00375">
                <a:tc>
                  <a:txBody>
                    <a:bodyPr/>
                    <a:lstStyle/>
                    <a:p>
                      <a:pPr indent="0" lvl="0" marL="0" rtl="0" algn="ctr">
                        <a:lnSpc>
                          <a:spcPct val="115000"/>
                        </a:lnSpc>
                        <a:spcBef>
                          <a:spcPts val="0"/>
                        </a:spcBef>
                        <a:spcAft>
                          <a:spcPts val="0"/>
                        </a:spcAft>
                        <a:buNone/>
                      </a:pPr>
                      <a:r>
                        <a:rPr lang="en">
                          <a:solidFill>
                            <a:schemeClr val="dk1"/>
                          </a:solidFill>
                          <a:latin typeface="Calibri"/>
                          <a:ea typeface="Calibri"/>
                          <a:cs typeface="Calibri"/>
                          <a:sym typeface="Calibri"/>
                        </a:rPr>
                        <a:t>2017</a:t>
                      </a:r>
                      <a:endParaRPr>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dk1"/>
                          </a:solidFill>
                          <a:latin typeface="Calibri"/>
                          <a:ea typeface="Calibri"/>
                          <a:cs typeface="Calibri"/>
                          <a:sym typeface="Calibri"/>
                        </a:rPr>
                        <a:t>Transformer</a:t>
                      </a:r>
                      <a:endParaRPr>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dk1"/>
                          </a:solidFill>
                          <a:latin typeface="Calibri"/>
                          <a:ea typeface="Calibri"/>
                          <a:cs typeface="Calibri"/>
                          <a:sym typeface="Calibri"/>
                        </a:rPr>
                        <a:t>Attention-only model</a:t>
                      </a:r>
                      <a:endParaRPr>
                        <a:solidFill>
                          <a:schemeClr val="dk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79" name="Google Shape;79;p17"/>
          <p:cNvSpPr txBox="1"/>
          <p:nvPr/>
        </p:nvSpPr>
        <p:spPr>
          <a:xfrm>
            <a:off x="779925" y="4066075"/>
            <a:ext cx="7745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The Transformer (2017) by Ashish Vaswani et al. was revolutionary because it removed recurrence entirely and relied only on attention.</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nvSpPr>
        <p:spPr>
          <a:xfrm>
            <a:off x="228275" y="19360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Understanding the Transformer</a:t>
            </a:r>
            <a:endParaRPr b="1" sz="1800">
              <a:solidFill>
                <a:schemeClr val="dk1"/>
              </a:solidFill>
              <a:latin typeface="Calibri"/>
              <a:ea typeface="Calibri"/>
              <a:cs typeface="Calibri"/>
              <a:sym typeface="Calibri"/>
            </a:endParaRPr>
          </a:p>
        </p:txBody>
      </p:sp>
      <p:sp>
        <p:nvSpPr>
          <p:cNvPr id="85" name="Google Shape;85;p18"/>
          <p:cNvSpPr txBox="1"/>
          <p:nvPr/>
        </p:nvSpPr>
        <p:spPr>
          <a:xfrm>
            <a:off x="308950" y="691150"/>
            <a:ext cx="8455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The original transformers was made for machine translation task and that is what we shall do as well. In a machine translation application, it would take a sentence in one language, and output its translation in another.</a:t>
            </a:r>
            <a:endParaRPr sz="1800">
              <a:solidFill>
                <a:schemeClr val="dk1"/>
              </a:solidFill>
              <a:latin typeface="Calibri"/>
              <a:ea typeface="Calibri"/>
              <a:cs typeface="Calibri"/>
              <a:sym typeface="Calibri"/>
            </a:endParaRPr>
          </a:p>
        </p:txBody>
      </p:sp>
      <p:pic>
        <p:nvPicPr>
          <p:cNvPr id="86" name="Google Shape;86;p18"/>
          <p:cNvPicPr preferRelativeResize="0"/>
          <p:nvPr/>
        </p:nvPicPr>
        <p:blipFill>
          <a:blip r:embed="rId3">
            <a:alphaModFix/>
          </a:blip>
          <a:stretch>
            <a:fillRect/>
          </a:stretch>
        </p:blipFill>
        <p:spPr>
          <a:xfrm>
            <a:off x="0" y="2023954"/>
            <a:ext cx="9143999" cy="238539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nvSpPr>
        <p:spPr>
          <a:xfrm>
            <a:off x="322725" y="201700"/>
            <a:ext cx="7745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But before that, Let’s have a brief look into the black box that is our Transformer. We can see that it consists of Encoders and Decoders.</a:t>
            </a:r>
            <a:endParaRPr sz="1800">
              <a:solidFill>
                <a:schemeClr val="dk1"/>
              </a:solidFill>
              <a:latin typeface="Calibri"/>
              <a:ea typeface="Calibri"/>
              <a:cs typeface="Calibri"/>
              <a:sym typeface="Calibri"/>
            </a:endParaRPr>
          </a:p>
        </p:txBody>
      </p:sp>
      <p:pic>
        <p:nvPicPr>
          <p:cNvPr id="92" name="Google Shape;92;p19"/>
          <p:cNvPicPr preferRelativeResize="0"/>
          <p:nvPr/>
        </p:nvPicPr>
        <p:blipFill>
          <a:blip r:embed="rId3">
            <a:alphaModFix/>
          </a:blip>
          <a:stretch>
            <a:fillRect/>
          </a:stretch>
        </p:blipFill>
        <p:spPr>
          <a:xfrm>
            <a:off x="1463388" y="1030850"/>
            <a:ext cx="6217223" cy="3898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nvSpPr>
        <p:spPr>
          <a:xfrm>
            <a:off x="322725" y="147925"/>
            <a:ext cx="8534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Before being passed to the Encoder, The sentence “</a:t>
            </a:r>
            <a:r>
              <a:rPr lang="en" sz="1800">
                <a:solidFill>
                  <a:schemeClr val="dk1"/>
                </a:solidFill>
                <a:latin typeface="Calibri"/>
                <a:ea typeface="Calibri"/>
                <a:cs typeface="Calibri"/>
                <a:sym typeface="Calibri"/>
              </a:rPr>
              <a:t>je suis étudiant</a:t>
            </a:r>
            <a:r>
              <a:rPr lang="en" sz="1800">
                <a:solidFill>
                  <a:schemeClr val="dk1"/>
                </a:solidFill>
                <a:latin typeface="Calibri"/>
                <a:ea typeface="Calibri"/>
                <a:cs typeface="Calibri"/>
                <a:sym typeface="Calibri"/>
              </a:rPr>
              <a:t>” is broken down into </a:t>
            </a:r>
            <a:r>
              <a:rPr lang="en" sz="1800">
                <a:solidFill>
                  <a:schemeClr val="dk1"/>
                </a:solidFill>
                <a:latin typeface="Calibri"/>
                <a:ea typeface="Calibri"/>
                <a:cs typeface="Calibri"/>
                <a:sym typeface="Calibri"/>
              </a:rPr>
              <a:t>its</a:t>
            </a:r>
            <a:r>
              <a:rPr lang="en" sz="1800">
                <a:solidFill>
                  <a:schemeClr val="dk1"/>
                </a:solidFill>
                <a:latin typeface="Calibri"/>
                <a:ea typeface="Calibri"/>
                <a:cs typeface="Calibri"/>
                <a:sym typeface="Calibri"/>
              </a:rPr>
              <a:t> respective words* and each word is embedded using an embeddings matrix. (which is trained along with the transformer)</a:t>
            </a:r>
            <a:endParaRPr sz="1800">
              <a:solidFill>
                <a:schemeClr val="dk1"/>
              </a:solidFill>
              <a:latin typeface="Calibri"/>
              <a:ea typeface="Calibri"/>
              <a:cs typeface="Calibri"/>
              <a:sym typeface="Calibri"/>
            </a:endParaRPr>
          </a:p>
        </p:txBody>
      </p:sp>
      <p:pic>
        <p:nvPicPr>
          <p:cNvPr id="98" name="Google Shape;98;p20"/>
          <p:cNvPicPr preferRelativeResize="0"/>
          <p:nvPr/>
        </p:nvPicPr>
        <p:blipFill>
          <a:blip r:embed="rId3">
            <a:alphaModFix/>
          </a:blip>
          <a:stretch>
            <a:fillRect/>
          </a:stretch>
        </p:blipFill>
        <p:spPr>
          <a:xfrm>
            <a:off x="423863" y="1285050"/>
            <a:ext cx="8296275" cy="895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latin typeface="Calibri"/>
                <a:ea typeface="Calibri"/>
                <a:cs typeface="Calibri"/>
                <a:sym typeface="Calibri"/>
              </a:rPr>
              <a:t>Tokenization</a:t>
            </a:r>
            <a:endParaRPr>
              <a:latin typeface="Calibri"/>
              <a:ea typeface="Calibri"/>
              <a:cs typeface="Calibri"/>
              <a:sym typeface="Calibri"/>
            </a:endParaRPr>
          </a:p>
        </p:txBody>
      </p:sp>
      <p:sp>
        <p:nvSpPr>
          <p:cNvPr id="104" name="Google Shape;104;p21"/>
          <p:cNvSpPr txBox="1"/>
          <p:nvPr>
            <p:ph idx="1" type="body"/>
          </p:nvPr>
        </p:nvSpPr>
        <p:spPr>
          <a:xfrm>
            <a:off x="311700" y="1152475"/>
            <a:ext cx="8520600" cy="3909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dk1"/>
                </a:solidFill>
                <a:latin typeface="Calibri"/>
                <a:ea typeface="Calibri"/>
                <a:cs typeface="Calibri"/>
                <a:sym typeface="Calibri"/>
              </a:rPr>
              <a:t>Before embedding, text must be broken into tokens. A token is not always a full word. It can be:</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A full word:        "pizza"   -&gt; 1 token</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A subword:          "unbelievable" -&gt; "un", "believ", "able"  (3 tokens)</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A punctuation mark: "."  -&gt; 1 token</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In practice, modern transformers use subword tokenization.</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Common methods include BPE (used in GPT) and WordPiece (used in BERT).</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Why subword tokenization?</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Handles rare or unseen words gracefully. Keeps vocabulary size manageable (typically 30,000 to 50,000 tokens). Common words stay whole, rare words get split.</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1200"/>
              </a:spcAft>
              <a:buNone/>
            </a:pPr>
            <a:r>
              <a:rPr lang="en" sz="1200">
                <a:solidFill>
                  <a:schemeClr val="dk1"/>
                </a:solidFill>
                <a:latin typeface="Calibri"/>
                <a:ea typeface="Calibri"/>
                <a:cs typeface="Calibri"/>
                <a:sym typeface="Calibri"/>
              </a:rPr>
              <a:t>However, tokenization is a preprocessing step independent of the transformer architecture itself.</a:t>
            </a:r>
            <a:endParaRPr sz="1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2089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latin typeface="Calibri"/>
                <a:ea typeface="Calibri"/>
                <a:cs typeface="Calibri"/>
                <a:sym typeface="Calibri"/>
              </a:rPr>
              <a:t>Tokenization</a:t>
            </a:r>
            <a:endParaRPr b="1" sz="1800">
              <a:latin typeface="Calibri"/>
              <a:ea typeface="Calibri"/>
              <a:cs typeface="Calibri"/>
              <a:sym typeface="Calibri"/>
            </a:endParaRPr>
          </a:p>
        </p:txBody>
      </p:sp>
      <p:sp>
        <p:nvSpPr>
          <p:cNvPr id="110" name="Google Shape;110;p22"/>
          <p:cNvSpPr txBox="1"/>
          <p:nvPr>
            <p:ph idx="1" type="body"/>
          </p:nvPr>
        </p:nvSpPr>
        <p:spPr>
          <a:xfrm>
            <a:off x="311700" y="880650"/>
            <a:ext cx="8520600" cy="403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latin typeface="Calibri"/>
                <a:ea typeface="Calibri"/>
                <a:cs typeface="Calibri"/>
                <a:sym typeface="Calibri"/>
              </a:rPr>
              <a:t>Input:  "Je suis étudiant"</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rPr lang="en" sz="1400">
                <a:solidFill>
                  <a:schemeClr val="dk1"/>
                </a:solidFill>
                <a:latin typeface="Calibri"/>
                <a:ea typeface="Calibri"/>
                <a:cs typeface="Calibri"/>
                <a:sym typeface="Calibri"/>
              </a:rPr>
              <a:t>Tokens:  ["Je", "suis", "étudiant"]   &lt;- treated as whole words</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rPr lang="en" sz="1400">
                <a:solidFill>
                  <a:schemeClr val="dk1"/>
                </a:solidFill>
                <a:latin typeface="Calibri"/>
                <a:ea typeface="Calibri"/>
                <a:cs typeface="Calibri"/>
                <a:sym typeface="Calibri"/>
              </a:rPr>
              <a:t>Each token is then looked up in a vocabulary table and assigned an integer ID, which is then passed through the embedding matrix.</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rPr lang="en" sz="1400">
                <a:solidFill>
                  <a:schemeClr val="dk1"/>
                </a:solidFill>
                <a:latin typeface="Calibri"/>
                <a:ea typeface="Calibri"/>
                <a:cs typeface="Calibri"/>
                <a:sym typeface="Calibri"/>
              </a:rPr>
              <a:t>"Je"       -&gt; ID 2345 -&gt; embedding vector x1</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rPr lang="en" sz="1400">
                <a:solidFill>
                  <a:schemeClr val="dk1"/>
                </a:solidFill>
                <a:latin typeface="Calibri"/>
                <a:ea typeface="Calibri"/>
                <a:cs typeface="Calibri"/>
                <a:sym typeface="Calibri"/>
              </a:rPr>
              <a:t>"suis"     -&gt; ID 8712 -&gt; embedding vector x2</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rPr lang="en" sz="1400">
                <a:solidFill>
                  <a:schemeClr val="dk1"/>
                </a:solidFill>
                <a:latin typeface="Calibri"/>
                <a:ea typeface="Calibri"/>
                <a:cs typeface="Calibri"/>
                <a:sym typeface="Calibri"/>
              </a:rPr>
              <a:t>"étudiant" -&gt; ID 1923 -&gt; embedding vector x3</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rPr lang="en" sz="1400">
                <a:solidFill>
                  <a:schemeClr val="dk1"/>
                </a:solidFill>
                <a:latin typeface="Calibri"/>
                <a:ea typeface="Calibri"/>
                <a:cs typeface="Calibri"/>
                <a:sym typeface="Calibri"/>
              </a:rPr>
              <a:t>So the full pipeline before the encoder is:</a:t>
            </a:r>
            <a:endParaRPr sz="1400">
              <a:solidFill>
                <a:schemeClr val="dk1"/>
              </a:solidFill>
              <a:latin typeface="Calibri"/>
              <a:ea typeface="Calibri"/>
              <a:cs typeface="Calibri"/>
              <a:sym typeface="Calibri"/>
            </a:endParaRPr>
          </a:p>
          <a:p>
            <a:pPr indent="0" lvl="0" marL="0" rtl="0" algn="l">
              <a:spcBef>
                <a:spcPts val="1200"/>
              </a:spcBef>
              <a:spcAft>
                <a:spcPts val="1200"/>
              </a:spcAft>
              <a:buNone/>
            </a:pPr>
            <a:r>
              <a:rPr b="1" lang="en" sz="1400">
                <a:solidFill>
                  <a:schemeClr val="dk1"/>
                </a:solidFill>
                <a:latin typeface="Calibri"/>
                <a:ea typeface="Calibri"/>
                <a:cs typeface="Calibri"/>
                <a:sym typeface="Calibri"/>
              </a:rPr>
              <a:t>Raw text -&gt; Tokenizer -&gt; Token IDs -&gt; Embedding matrix -&gt; Vectors + PE</a:t>
            </a:r>
            <a:endParaRPr b="1" sz="1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nvSpPr>
        <p:spPr>
          <a:xfrm>
            <a:off x="85050" y="159950"/>
            <a:ext cx="3707100" cy="464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alibri"/>
                <a:ea typeface="Calibri"/>
                <a:cs typeface="Calibri"/>
                <a:sym typeface="Calibri"/>
              </a:rPr>
              <a:t>Step 1: Raw Text</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You start with a plain sentence.</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"Je suis étudiant"</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b="1" lang="en" sz="1000">
                <a:solidFill>
                  <a:schemeClr val="dk1"/>
                </a:solidFill>
                <a:latin typeface="Calibri"/>
                <a:ea typeface="Calibri"/>
                <a:cs typeface="Calibri"/>
                <a:sym typeface="Calibri"/>
              </a:rPr>
              <a:t>Step 2: Tokenizer</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The tokenizer splits the raw text into tokens.</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Each token is a unit the model can work with.</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"Je suis étudiant"  -&gt;  ["Je", "suis", "étudiant"]</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b="1" lang="en" sz="1000">
                <a:solidFill>
                  <a:schemeClr val="dk1"/>
                </a:solidFill>
                <a:latin typeface="Calibri"/>
                <a:ea typeface="Calibri"/>
                <a:cs typeface="Calibri"/>
                <a:sym typeface="Calibri"/>
              </a:rPr>
              <a:t>Step 3: Token Ids</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The model cannot work with words directly.</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It only understands numbers.</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So there is a fixed vocabulary table that was built before training.</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It is simply a dictionary that maps every known token to a unique integer.</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Vocabulary table (example):</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"Je"        -&gt; 2345</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"suis"      -&gt; 8712</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"étudiant"  -&gt; 1923</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"pizza"     -&gt; 4471</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"bonjour"   -&gt; 0891</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The tokenizer looks up each token in this table and returns its ID.</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["Je", "suis", "étudiant"]  -&gt;  [2345, 8712, 1923]</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These integers are the only thing passed into the model.</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The model never sees the actual text.</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p:txBody>
      </p:sp>
      <p:sp>
        <p:nvSpPr>
          <p:cNvPr id="116" name="Google Shape;116;p23"/>
          <p:cNvSpPr txBox="1"/>
          <p:nvPr/>
        </p:nvSpPr>
        <p:spPr>
          <a:xfrm>
            <a:off x="3964767" y="159950"/>
            <a:ext cx="4611600" cy="480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alibri"/>
                <a:ea typeface="Calibri"/>
                <a:cs typeface="Calibri"/>
                <a:sym typeface="Calibri"/>
              </a:rPr>
              <a:t>Step 4: Embedding Matrix</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Now the model needs to convert each integer ID into a meaningful vector.</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The embedding matrix is a big table of shape:</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[vocabulary size  x  embedding dimension]</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e.g.  [30,000  x  512]</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Each row corresponds to one token in the vocabulary.</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To get the embedding for a token, you simply retrieve the row</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at the index equal to the token ID.</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ID 2345  -&gt;  retrieve row 2345  -&gt;  [0.21, -0.43, 0.87, ..., 0.11]  (512 numbers)</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ID 8712  -&gt;  retrieve row 8712  -&gt;  [0.54,  0.12, -0.33, ..., 0.67] (512 numbers)</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ID 1923  -&gt;  retrieve row 1923  -&gt;  [-0.09, 0.77, 0.41, ..., -0.22] (512 numbers)</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These vectors are called embeddings. They are the model's internal</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representation of each token. They are learned during training and</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encode semantic meaning.</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"Je"       -&gt;  x1  (512-dimensional vector)</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"suis"     -&gt;  x2  (512-dimensional vector)</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"étudiant" -&gt;  x3  (512-dimensional vector)</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b="1" lang="en" sz="1000">
                <a:solidFill>
                  <a:schemeClr val="dk1"/>
                </a:solidFill>
                <a:latin typeface="Calibri"/>
                <a:ea typeface="Calibri"/>
                <a:cs typeface="Calibri"/>
                <a:sym typeface="Calibri"/>
              </a:rPr>
              <a:t>Step 5: Vectors + Pe</a:t>
            </a:r>
            <a:endParaRPr b="1"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The embedding vectors alone carry meaning but no position information.</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The transformer processes all tokens in parallel so it has no natural</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sense of order.</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Positional encoding (PE) vectors are added to the embedding vectors</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to inject position information.</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Final input to encoder = embedding + positional encoding</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x1 + t1  -&gt;  "Je" with position 0 information</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x2 + t2  -&gt;  "suis" with position 1 information</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x3 + t3  -&gt;  "étudiant" with position 2 information</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 sz="1000">
                <a:solidFill>
                  <a:schemeClr val="dk1"/>
                </a:solidFill>
                <a:latin typeface="Calibri"/>
                <a:ea typeface="Calibri"/>
                <a:cs typeface="Calibri"/>
                <a:sym typeface="Calibri"/>
              </a:rPr>
              <a:t>These combined vectors are what actually enter the first encoder layer.</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nvSpPr>
        <p:spPr>
          <a:xfrm>
            <a:off x="112950" y="109450"/>
            <a:ext cx="8752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To these embeddings positional information is added as </a:t>
            </a:r>
            <a:r>
              <a:rPr lang="en" sz="1200">
                <a:solidFill>
                  <a:schemeClr val="dk1"/>
                </a:solidFill>
                <a:latin typeface="Calibri"/>
                <a:ea typeface="Calibri"/>
                <a:cs typeface="Calibri"/>
                <a:sym typeface="Calibri"/>
              </a:rPr>
              <a:t>model </a:t>
            </a:r>
            <a:r>
              <a:rPr lang="en" sz="1200">
                <a:solidFill>
                  <a:schemeClr val="dk1"/>
                </a:solidFill>
                <a:latin typeface="Calibri"/>
                <a:ea typeface="Calibri"/>
                <a:cs typeface="Calibri"/>
                <a:sym typeface="Calibri"/>
              </a:rPr>
              <a:t>contains no recurrence and no convolution.</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In order for the model to make use of the order of the sequence, we must inject some information about the relative or absolute position of the tokens in the sequence.</a:t>
            </a:r>
            <a:endParaRPr sz="1200">
              <a:solidFill>
                <a:schemeClr val="dk1"/>
              </a:solidFill>
              <a:latin typeface="Calibri"/>
              <a:ea typeface="Calibri"/>
              <a:cs typeface="Calibri"/>
              <a:sym typeface="Calibri"/>
            </a:endParaRPr>
          </a:p>
        </p:txBody>
      </p:sp>
      <p:pic>
        <p:nvPicPr>
          <p:cNvPr id="122" name="Google Shape;122;p24"/>
          <p:cNvPicPr preferRelativeResize="0"/>
          <p:nvPr/>
        </p:nvPicPr>
        <p:blipFill>
          <a:blip r:embed="rId3">
            <a:alphaModFix/>
          </a:blip>
          <a:stretch>
            <a:fillRect/>
          </a:stretch>
        </p:blipFill>
        <p:spPr>
          <a:xfrm>
            <a:off x="2544229" y="997925"/>
            <a:ext cx="5456047" cy="1938925"/>
          </a:xfrm>
          <a:prstGeom prst="rect">
            <a:avLst/>
          </a:prstGeom>
          <a:noFill/>
          <a:ln>
            <a:noFill/>
          </a:ln>
        </p:spPr>
      </p:pic>
      <p:pic>
        <p:nvPicPr>
          <p:cNvPr id="123" name="Google Shape;123;p24"/>
          <p:cNvPicPr preferRelativeResize="0"/>
          <p:nvPr/>
        </p:nvPicPr>
        <p:blipFill>
          <a:blip r:embed="rId4">
            <a:alphaModFix/>
          </a:blip>
          <a:stretch>
            <a:fillRect/>
          </a:stretch>
        </p:blipFill>
        <p:spPr>
          <a:xfrm>
            <a:off x="1947175" y="3114852"/>
            <a:ext cx="6980124" cy="1938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Understanding Positional Encoding</a:t>
            </a:r>
            <a:endParaRPr b="1"/>
          </a:p>
        </p:txBody>
      </p:sp>
      <p:sp>
        <p:nvSpPr>
          <p:cNvPr id="129" name="Google Shape;129;p25"/>
          <p:cNvSpPr txBox="1"/>
          <p:nvPr/>
        </p:nvSpPr>
        <p:spPr>
          <a:xfrm>
            <a:off x="311700" y="1062325"/>
            <a:ext cx="86037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Calibri"/>
                <a:ea typeface="Calibri"/>
                <a:cs typeface="Calibri"/>
                <a:sym typeface="Calibri"/>
              </a:rPr>
              <a:t>To understand What is Positional Encoding and why we need it, let’s imagine the scenario in which we do not have it.</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Char char="●"/>
            </a:pPr>
            <a:r>
              <a:rPr lang="en" sz="1600">
                <a:solidFill>
                  <a:schemeClr val="dk1"/>
                </a:solidFill>
                <a:latin typeface="Calibri"/>
                <a:ea typeface="Calibri"/>
                <a:cs typeface="Calibri"/>
                <a:sym typeface="Calibri"/>
              </a:rPr>
              <a:t>First an input sentence, for E.g “</a:t>
            </a:r>
            <a:r>
              <a:rPr b="1" lang="en" sz="1600">
                <a:solidFill>
                  <a:schemeClr val="dk1"/>
                </a:solidFill>
                <a:latin typeface="Calibri"/>
                <a:ea typeface="Calibri"/>
                <a:cs typeface="Calibri"/>
                <a:sym typeface="Calibri"/>
              </a:rPr>
              <a:t>Pramod likes to eat pizza with his friends</a:t>
            </a:r>
            <a:r>
              <a:rPr lang="en" sz="1600">
                <a:solidFill>
                  <a:schemeClr val="dk1"/>
                </a:solidFill>
                <a:latin typeface="Calibri"/>
                <a:ea typeface="Calibri"/>
                <a:cs typeface="Calibri"/>
                <a:sym typeface="Calibri"/>
              </a:rPr>
              <a:t>”. Will be broken down into the respective words: </a:t>
            </a:r>
            <a:r>
              <a:rPr b="1" lang="en" sz="1600">
                <a:solidFill>
                  <a:schemeClr val="dk1"/>
                </a:solidFill>
                <a:latin typeface="Calibri"/>
                <a:ea typeface="Calibri"/>
                <a:cs typeface="Calibri"/>
                <a:sym typeface="Calibri"/>
              </a:rPr>
              <a:t>Pramod</a:t>
            </a:r>
            <a:r>
              <a:rPr lang="en" sz="1600">
                <a:solidFill>
                  <a:schemeClr val="dk1"/>
                </a:solidFill>
                <a:latin typeface="Calibri"/>
                <a:ea typeface="Calibri"/>
                <a:cs typeface="Calibri"/>
                <a:sym typeface="Calibri"/>
              </a:rPr>
              <a:t>, </a:t>
            </a:r>
            <a:r>
              <a:rPr b="1" lang="en" sz="1600">
                <a:solidFill>
                  <a:schemeClr val="dk1"/>
                </a:solidFill>
                <a:latin typeface="Calibri"/>
                <a:ea typeface="Calibri"/>
                <a:cs typeface="Calibri"/>
                <a:sym typeface="Calibri"/>
              </a:rPr>
              <a:t>likes</a:t>
            </a:r>
            <a:r>
              <a:rPr lang="en" sz="1600">
                <a:solidFill>
                  <a:schemeClr val="dk1"/>
                </a:solidFill>
                <a:latin typeface="Calibri"/>
                <a:ea typeface="Calibri"/>
                <a:cs typeface="Calibri"/>
                <a:sym typeface="Calibri"/>
              </a:rPr>
              <a:t>, </a:t>
            </a:r>
            <a:r>
              <a:rPr b="1" lang="en" sz="1600">
                <a:solidFill>
                  <a:schemeClr val="dk1"/>
                </a:solidFill>
                <a:latin typeface="Calibri"/>
                <a:ea typeface="Calibri"/>
                <a:cs typeface="Calibri"/>
                <a:sym typeface="Calibri"/>
              </a:rPr>
              <a:t>to</a:t>
            </a:r>
            <a:r>
              <a:rPr lang="en" sz="1600">
                <a:solidFill>
                  <a:schemeClr val="dk1"/>
                </a:solidFill>
                <a:latin typeface="Calibri"/>
                <a:ea typeface="Calibri"/>
                <a:cs typeface="Calibri"/>
                <a:sym typeface="Calibri"/>
              </a:rPr>
              <a:t>, </a:t>
            </a:r>
            <a:r>
              <a:rPr b="1" lang="en" sz="1600">
                <a:solidFill>
                  <a:schemeClr val="dk1"/>
                </a:solidFill>
                <a:latin typeface="Calibri"/>
                <a:ea typeface="Calibri"/>
                <a:cs typeface="Calibri"/>
                <a:sym typeface="Calibri"/>
              </a:rPr>
              <a:t>eat</a:t>
            </a:r>
            <a:r>
              <a:rPr lang="en" sz="1600">
                <a:solidFill>
                  <a:schemeClr val="dk1"/>
                </a:solidFill>
                <a:latin typeface="Calibri"/>
                <a:ea typeface="Calibri"/>
                <a:cs typeface="Calibri"/>
                <a:sym typeface="Calibri"/>
              </a:rPr>
              <a:t>, </a:t>
            </a:r>
            <a:r>
              <a:rPr b="1" lang="en" sz="1600">
                <a:solidFill>
                  <a:schemeClr val="dk1"/>
                </a:solidFill>
                <a:latin typeface="Calibri"/>
                <a:ea typeface="Calibri"/>
                <a:cs typeface="Calibri"/>
                <a:sym typeface="Calibri"/>
              </a:rPr>
              <a:t>pizza</a:t>
            </a:r>
            <a:r>
              <a:rPr lang="en" sz="1600">
                <a:solidFill>
                  <a:schemeClr val="dk1"/>
                </a:solidFill>
                <a:latin typeface="Calibri"/>
                <a:ea typeface="Calibri"/>
                <a:cs typeface="Calibri"/>
                <a:sym typeface="Calibri"/>
              </a:rPr>
              <a:t>,</a:t>
            </a:r>
            <a:r>
              <a:rPr b="1" lang="en" sz="1600">
                <a:solidFill>
                  <a:schemeClr val="dk1"/>
                </a:solidFill>
                <a:latin typeface="Calibri"/>
                <a:ea typeface="Calibri"/>
                <a:cs typeface="Calibri"/>
                <a:sym typeface="Calibri"/>
              </a:rPr>
              <a:t>with</a:t>
            </a:r>
            <a:r>
              <a:rPr lang="en" sz="1600">
                <a:solidFill>
                  <a:schemeClr val="dk1"/>
                </a:solidFill>
                <a:latin typeface="Calibri"/>
                <a:ea typeface="Calibri"/>
                <a:cs typeface="Calibri"/>
                <a:sym typeface="Calibri"/>
              </a:rPr>
              <a:t>, </a:t>
            </a:r>
            <a:r>
              <a:rPr b="1" lang="en" sz="1600">
                <a:solidFill>
                  <a:schemeClr val="dk1"/>
                </a:solidFill>
                <a:latin typeface="Calibri"/>
                <a:ea typeface="Calibri"/>
                <a:cs typeface="Calibri"/>
                <a:sym typeface="Calibri"/>
              </a:rPr>
              <a:t>his</a:t>
            </a:r>
            <a:r>
              <a:rPr lang="en" sz="1600">
                <a:solidFill>
                  <a:schemeClr val="dk1"/>
                </a:solidFill>
                <a:latin typeface="Calibri"/>
                <a:ea typeface="Calibri"/>
                <a:cs typeface="Calibri"/>
                <a:sym typeface="Calibri"/>
              </a:rPr>
              <a:t>, </a:t>
            </a:r>
            <a:r>
              <a:rPr b="1" lang="en" sz="1600">
                <a:solidFill>
                  <a:schemeClr val="dk1"/>
                </a:solidFill>
                <a:latin typeface="Calibri"/>
                <a:ea typeface="Calibri"/>
                <a:cs typeface="Calibri"/>
                <a:sym typeface="Calibri"/>
              </a:rPr>
              <a:t>friends</a:t>
            </a:r>
            <a:r>
              <a:rPr lang="en" sz="1600">
                <a:solidFill>
                  <a:schemeClr val="dk1"/>
                </a:solidFill>
                <a:latin typeface="Calibri"/>
                <a:ea typeface="Calibri"/>
                <a:cs typeface="Calibri"/>
                <a:sym typeface="Calibri"/>
              </a:rPr>
              <a:t>. </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Char char="●"/>
            </a:pPr>
            <a:r>
              <a:rPr lang="en" sz="1600">
                <a:solidFill>
                  <a:schemeClr val="dk1"/>
                </a:solidFill>
                <a:latin typeface="Calibri"/>
                <a:ea typeface="Calibri"/>
                <a:cs typeface="Calibri"/>
                <a:sym typeface="Calibri"/>
              </a:rPr>
              <a:t>Second, Each word will be converted into </a:t>
            </a:r>
            <a:r>
              <a:rPr b="1" lang="en" sz="1600">
                <a:solidFill>
                  <a:schemeClr val="dk1"/>
                </a:solidFill>
                <a:latin typeface="Calibri"/>
                <a:ea typeface="Calibri"/>
                <a:cs typeface="Calibri"/>
                <a:sym typeface="Calibri"/>
              </a:rPr>
              <a:t>an embedding of a given dimension</a:t>
            </a:r>
            <a:r>
              <a:rPr lang="en" sz="1600">
                <a:solidFill>
                  <a:schemeClr val="dk1"/>
                </a:solidFill>
                <a:latin typeface="Calibri"/>
                <a:ea typeface="Calibri"/>
                <a:cs typeface="Calibri"/>
                <a:sym typeface="Calibri"/>
              </a:rPr>
              <a:t>.</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Char char="●"/>
            </a:pPr>
            <a:r>
              <a:rPr lang="en" sz="1600">
                <a:solidFill>
                  <a:schemeClr val="dk1"/>
                </a:solidFill>
                <a:latin typeface="Calibri"/>
                <a:ea typeface="Calibri"/>
                <a:cs typeface="Calibri"/>
                <a:sym typeface="Calibri"/>
              </a:rPr>
              <a:t>Now, without Positional Encoding. The model has </a:t>
            </a:r>
            <a:r>
              <a:rPr b="1" lang="en" sz="1600">
                <a:solidFill>
                  <a:schemeClr val="dk1"/>
                </a:solidFill>
                <a:latin typeface="Calibri"/>
                <a:ea typeface="Calibri"/>
                <a:cs typeface="Calibri"/>
                <a:sym typeface="Calibri"/>
              </a:rPr>
              <a:t>no information about the relative positioning</a:t>
            </a:r>
            <a:r>
              <a:rPr lang="en" sz="1600">
                <a:solidFill>
                  <a:schemeClr val="dk1"/>
                </a:solidFill>
                <a:latin typeface="Calibri"/>
                <a:ea typeface="Calibri"/>
                <a:cs typeface="Calibri"/>
                <a:sym typeface="Calibri"/>
              </a:rPr>
              <a:t> of the words. (As everything is taken at once in parallel)</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Char char="●"/>
            </a:pPr>
            <a:r>
              <a:rPr lang="en" sz="1600">
                <a:solidFill>
                  <a:schemeClr val="dk1"/>
                </a:solidFill>
                <a:latin typeface="Calibri"/>
                <a:ea typeface="Calibri"/>
                <a:cs typeface="Calibri"/>
                <a:sym typeface="Calibri"/>
              </a:rPr>
              <a:t>So the sentence is no different from “</a:t>
            </a:r>
            <a:r>
              <a:rPr b="1" lang="en" sz="1600">
                <a:solidFill>
                  <a:schemeClr val="dk1"/>
                </a:solidFill>
                <a:latin typeface="Calibri"/>
                <a:ea typeface="Calibri"/>
                <a:cs typeface="Calibri"/>
                <a:sym typeface="Calibri"/>
              </a:rPr>
              <a:t>Pramod likes to eat friends with his pizza</a:t>
            </a:r>
            <a:r>
              <a:rPr lang="en" sz="1600">
                <a:solidFill>
                  <a:schemeClr val="dk1"/>
                </a:solidFill>
                <a:latin typeface="Calibri"/>
                <a:ea typeface="Calibri"/>
                <a:cs typeface="Calibri"/>
                <a:sym typeface="Calibri"/>
              </a:rPr>
              <a:t>” or any other permutation of the word.</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Char char="●"/>
            </a:pPr>
            <a:r>
              <a:rPr lang="en" sz="1600">
                <a:solidFill>
                  <a:schemeClr val="dk1"/>
                </a:solidFill>
                <a:latin typeface="Calibri"/>
                <a:ea typeface="Calibri"/>
                <a:cs typeface="Calibri"/>
                <a:sym typeface="Calibri"/>
              </a:rPr>
              <a:t>Hence, the reason we need PE (Positional Encoding) is </a:t>
            </a:r>
            <a:r>
              <a:rPr b="1" lang="en" sz="1600">
                <a:solidFill>
                  <a:schemeClr val="dk1"/>
                </a:solidFill>
                <a:latin typeface="Calibri"/>
                <a:ea typeface="Calibri"/>
                <a:cs typeface="Calibri"/>
                <a:sym typeface="Calibri"/>
              </a:rPr>
              <a:t>to tell the model about the positions of different words relative to each other</a:t>
            </a:r>
            <a:r>
              <a:rPr lang="en" sz="1600">
                <a:solidFill>
                  <a:schemeClr val="dk1"/>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211550" y="151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Understanding Positional Encoding</a:t>
            </a:r>
            <a:endParaRPr b="1"/>
          </a:p>
          <a:p>
            <a:pPr indent="0" lvl="0" marL="0" rtl="0" algn="l">
              <a:spcBef>
                <a:spcPts val="0"/>
              </a:spcBef>
              <a:spcAft>
                <a:spcPts val="0"/>
              </a:spcAft>
              <a:buNone/>
            </a:pPr>
            <a:r>
              <a:t/>
            </a:r>
            <a:endParaRPr b="1">
              <a:latin typeface="Calibri"/>
              <a:ea typeface="Calibri"/>
              <a:cs typeface="Calibri"/>
              <a:sym typeface="Calibri"/>
            </a:endParaRPr>
          </a:p>
        </p:txBody>
      </p:sp>
      <p:sp>
        <p:nvSpPr>
          <p:cNvPr id="135" name="Google Shape;135;p26"/>
          <p:cNvSpPr txBox="1"/>
          <p:nvPr/>
        </p:nvSpPr>
        <p:spPr>
          <a:xfrm>
            <a:off x="4932950" y="782475"/>
            <a:ext cx="39510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We cannot just use 0, 1, 2, 3... as a single number because that does not scale well and the model does not handle raw integers easily.</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Instead we represent each position as a LIST OF SINE AND COSINE VALUES at different frequencies.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This list is the positional encoding vector.</a:t>
            </a:r>
            <a:endParaRPr>
              <a:solidFill>
                <a:schemeClr val="dk1"/>
              </a:solidFill>
              <a:latin typeface="Calibri"/>
              <a:ea typeface="Calibri"/>
              <a:cs typeface="Calibri"/>
              <a:sym typeface="Calibri"/>
            </a:endParaRPr>
          </a:p>
        </p:txBody>
      </p:sp>
      <p:sp>
        <p:nvSpPr>
          <p:cNvPr id="136" name="Google Shape;136;p26"/>
          <p:cNvSpPr txBox="1"/>
          <p:nvPr/>
        </p:nvSpPr>
        <p:spPr>
          <a:xfrm>
            <a:off x="311700" y="724425"/>
            <a:ext cx="41586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Analogy : </a:t>
            </a:r>
            <a:endParaRPr>
              <a:solidFill>
                <a:schemeClr val="dk1"/>
              </a:solidFill>
            </a:endParaRPr>
          </a:p>
          <a:p>
            <a:pPr indent="0" lvl="0" marL="0" rtl="0" algn="l">
              <a:spcBef>
                <a:spcPts val="0"/>
              </a:spcBef>
              <a:spcAft>
                <a:spcPts val="0"/>
              </a:spcAft>
              <a:buNone/>
            </a:pPr>
            <a:r>
              <a:rPr lang="en">
                <a:solidFill>
                  <a:schemeClr val="dk1"/>
                </a:solidFill>
              </a:rPr>
              <a:t>Imagine you want to describe a time uniquely. </a:t>
            </a:r>
            <a:endParaRPr>
              <a:solidFill>
                <a:schemeClr val="dk1"/>
              </a:solidFill>
            </a:endParaRPr>
          </a:p>
          <a:p>
            <a:pPr indent="0" lvl="0" marL="0" rtl="0" algn="l">
              <a:spcBef>
                <a:spcPts val="0"/>
              </a:spcBef>
              <a:spcAft>
                <a:spcPts val="0"/>
              </a:spcAft>
              <a:buNone/>
            </a:pPr>
            <a:r>
              <a:rPr lang="en">
                <a:solidFill>
                  <a:schemeClr val="dk1"/>
                </a:solidFill>
              </a:rPr>
              <a:t>You use:</a:t>
            </a:r>
            <a:endParaRPr>
              <a:solidFill>
                <a:schemeClr val="dk1"/>
              </a:solidFill>
            </a:endParaRPr>
          </a:p>
          <a:p>
            <a:pPr indent="0" lvl="0" marL="457200" rtl="0" algn="l">
              <a:spcBef>
                <a:spcPts val="0"/>
              </a:spcBef>
              <a:spcAft>
                <a:spcPts val="0"/>
              </a:spcAft>
              <a:buNone/>
            </a:pPr>
            <a:r>
              <a:rPr lang="en">
                <a:solidFill>
                  <a:schemeClr val="dk1"/>
                </a:solidFill>
              </a:rPr>
              <a:t>seconds hand  (changes fast)</a:t>
            </a:r>
            <a:endParaRPr>
              <a:solidFill>
                <a:schemeClr val="dk1"/>
              </a:solidFill>
            </a:endParaRPr>
          </a:p>
          <a:p>
            <a:pPr indent="0" lvl="0" marL="457200" rtl="0" algn="l">
              <a:spcBef>
                <a:spcPts val="0"/>
              </a:spcBef>
              <a:spcAft>
                <a:spcPts val="0"/>
              </a:spcAft>
              <a:buNone/>
            </a:pPr>
            <a:r>
              <a:rPr lang="en">
                <a:solidFill>
                  <a:schemeClr val="dk1"/>
                </a:solidFill>
              </a:rPr>
              <a:t>minutes hand  (changes slower)</a:t>
            </a:r>
            <a:endParaRPr>
              <a:solidFill>
                <a:schemeClr val="dk1"/>
              </a:solidFill>
            </a:endParaRPr>
          </a:p>
          <a:p>
            <a:pPr indent="0" lvl="0" marL="457200" rtl="0" algn="l">
              <a:spcBef>
                <a:spcPts val="0"/>
              </a:spcBef>
              <a:spcAft>
                <a:spcPts val="0"/>
              </a:spcAft>
              <a:buNone/>
            </a:pPr>
            <a:r>
              <a:rPr lang="en">
                <a:solidFill>
                  <a:schemeClr val="dk1"/>
                </a:solidFill>
              </a:rPr>
              <a:t>hours hand    (changes very slowly)</a:t>
            </a:r>
            <a:endParaRPr>
              <a:solidFill>
                <a:schemeClr val="dk1"/>
              </a:solidFill>
            </a:endParaRPr>
          </a:p>
          <a:p>
            <a:pPr indent="0" lvl="0" marL="45720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Together they uniquely identify any moment.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Positional encoding does the same:</a:t>
            </a:r>
            <a:endParaRPr>
              <a:solidFill>
                <a:schemeClr val="dk1"/>
              </a:solidFill>
            </a:endParaRPr>
          </a:p>
          <a:p>
            <a:pPr indent="0" lvl="0" marL="457200" rtl="0" algn="l">
              <a:spcBef>
                <a:spcPts val="0"/>
              </a:spcBef>
              <a:spcAft>
                <a:spcPts val="0"/>
              </a:spcAft>
              <a:buNone/>
            </a:pPr>
            <a:r>
              <a:rPr lang="en">
                <a:solidFill>
                  <a:schemeClr val="dk1"/>
                </a:solidFill>
              </a:rPr>
              <a:t>some dimensions change fast across positions</a:t>
            </a:r>
            <a:endParaRPr>
              <a:solidFill>
                <a:schemeClr val="dk1"/>
              </a:solidFill>
            </a:endParaRPr>
          </a:p>
          <a:p>
            <a:pPr indent="0" lvl="0" marL="457200" rtl="0" algn="l">
              <a:spcBef>
                <a:spcPts val="0"/>
              </a:spcBef>
              <a:spcAft>
                <a:spcPts val="0"/>
              </a:spcAft>
              <a:buNone/>
            </a:pPr>
            <a:r>
              <a:rPr lang="en">
                <a:solidFill>
                  <a:schemeClr val="dk1"/>
                </a:solidFill>
              </a:rPr>
              <a:t>some dimensions change slowly across positions</a:t>
            </a:r>
            <a:endParaRPr>
              <a:solidFill>
                <a:schemeClr val="dk1"/>
              </a:solidFill>
            </a:endParaRPr>
          </a:p>
          <a:p>
            <a:pPr indent="0" lvl="0" marL="45720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Together they uniquely identify any position.</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nvSpPr>
        <p:spPr>
          <a:xfrm>
            <a:off x="322725" y="28240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Now, what will be the preferred characteristics of such a PE:</a:t>
            </a:r>
            <a:endParaRPr b="1" sz="1800">
              <a:solidFill>
                <a:schemeClr val="dk1"/>
              </a:solidFill>
              <a:latin typeface="Calibri"/>
              <a:ea typeface="Calibri"/>
              <a:cs typeface="Calibri"/>
              <a:sym typeface="Calibri"/>
            </a:endParaRPr>
          </a:p>
        </p:txBody>
      </p:sp>
      <p:sp>
        <p:nvSpPr>
          <p:cNvPr id="142" name="Google Shape;142;p27"/>
          <p:cNvSpPr txBox="1"/>
          <p:nvPr/>
        </p:nvSpPr>
        <p:spPr>
          <a:xfrm>
            <a:off x="404025" y="806825"/>
            <a:ext cx="8422200" cy="38481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Char char="●"/>
            </a:pPr>
            <a:r>
              <a:rPr b="1" lang="en" sz="1700">
                <a:solidFill>
                  <a:schemeClr val="dk1"/>
                </a:solidFill>
                <a:latin typeface="Calibri"/>
                <a:ea typeface="Calibri"/>
                <a:cs typeface="Calibri"/>
                <a:sym typeface="Calibri"/>
              </a:rPr>
              <a:t>Unique encoding for each position</a:t>
            </a:r>
            <a:r>
              <a:rPr lang="en" sz="1700">
                <a:solidFill>
                  <a:schemeClr val="dk1"/>
                </a:solidFill>
                <a:latin typeface="Calibri"/>
                <a:ea typeface="Calibri"/>
                <a:cs typeface="Calibri"/>
                <a:sym typeface="Calibri"/>
              </a:rPr>
              <a:t>: </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Each position must have a </a:t>
            </a:r>
            <a:r>
              <a:rPr b="1" lang="en" sz="1700">
                <a:solidFill>
                  <a:schemeClr val="dk1"/>
                </a:solidFill>
                <a:latin typeface="Calibri"/>
                <a:ea typeface="Calibri"/>
                <a:cs typeface="Calibri"/>
                <a:sym typeface="Calibri"/>
              </a:rPr>
              <a:t>distinct</a:t>
            </a:r>
            <a:r>
              <a:rPr lang="en" sz="1700">
                <a:solidFill>
                  <a:schemeClr val="dk1"/>
                </a:solidFill>
                <a:latin typeface="Calibri"/>
                <a:ea typeface="Calibri"/>
                <a:cs typeface="Calibri"/>
                <a:sym typeface="Calibri"/>
              </a:rPr>
              <a:t> representation.</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Encoding should </a:t>
            </a:r>
            <a:r>
              <a:rPr b="1" lang="en" sz="1700">
                <a:solidFill>
                  <a:schemeClr val="dk1"/>
                </a:solidFill>
                <a:latin typeface="Calibri"/>
                <a:ea typeface="Calibri"/>
                <a:cs typeface="Calibri"/>
                <a:sym typeface="Calibri"/>
              </a:rPr>
              <a:t>not change with sentence length</a:t>
            </a:r>
            <a:r>
              <a:rPr lang="en" sz="1700">
                <a:solidFill>
                  <a:schemeClr val="dk1"/>
                </a:solidFill>
                <a:latin typeface="Calibri"/>
                <a:ea typeface="Calibri"/>
                <a:cs typeface="Calibri"/>
                <a:sym typeface="Calibri"/>
              </a:rPr>
              <a:t>.</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Example:</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Position 2 in a 10-word sentence and </a:t>
            </a:r>
            <a:r>
              <a:rPr lang="en" sz="1700">
                <a:solidFill>
                  <a:schemeClr val="dk1"/>
                </a:solidFill>
                <a:latin typeface="Calibri"/>
                <a:ea typeface="Calibri"/>
                <a:cs typeface="Calibri"/>
                <a:sym typeface="Calibri"/>
              </a:rPr>
              <a:t>Position 2 in a 100-word sentence should be encoded identically.</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Otherwise:</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No consistent positional pattern exists, making training unstable.</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Char char="●"/>
            </a:pPr>
            <a:r>
              <a:rPr b="1" lang="en" sz="1700">
                <a:solidFill>
                  <a:schemeClr val="dk1"/>
                </a:solidFill>
                <a:latin typeface="Calibri"/>
                <a:ea typeface="Calibri"/>
                <a:cs typeface="Calibri"/>
                <a:sym typeface="Calibri"/>
              </a:rPr>
              <a:t>Linear relation between two encoded positions:</a:t>
            </a:r>
            <a:r>
              <a:rPr lang="en" sz="1700">
                <a:solidFill>
                  <a:schemeClr val="dk1"/>
                </a:solidFill>
                <a:latin typeface="Calibri"/>
                <a:ea typeface="Calibri"/>
                <a:cs typeface="Calibri"/>
                <a:sym typeface="Calibri"/>
              </a:rPr>
              <a:t> </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If I know the position p of one word, it should be easy to calculate the position p+k of another word. </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Helps the model:</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Learn relative position patterns</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Capture sequence structure efficiently</a:t>
            </a:r>
            <a:endParaRPr sz="17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nvSpPr>
        <p:spPr>
          <a:xfrm>
            <a:off x="322725" y="28240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Now, what will be the preferred characteristics of such a PE:</a:t>
            </a:r>
            <a:endParaRPr b="1" sz="1800">
              <a:solidFill>
                <a:schemeClr val="dk1"/>
              </a:solidFill>
              <a:latin typeface="Calibri"/>
              <a:ea typeface="Calibri"/>
              <a:cs typeface="Calibri"/>
              <a:sym typeface="Calibri"/>
            </a:endParaRPr>
          </a:p>
        </p:txBody>
      </p:sp>
      <p:sp>
        <p:nvSpPr>
          <p:cNvPr id="148" name="Google Shape;148;p28"/>
          <p:cNvSpPr txBox="1"/>
          <p:nvPr/>
        </p:nvSpPr>
        <p:spPr>
          <a:xfrm>
            <a:off x="404025" y="806825"/>
            <a:ext cx="8422200" cy="38481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Font typeface="Calibri"/>
              <a:buChar char="●"/>
            </a:pPr>
            <a:r>
              <a:rPr b="1" lang="en" sz="1700">
                <a:solidFill>
                  <a:schemeClr val="dk1"/>
                </a:solidFill>
                <a:latin typeface="Calibri"/>
                <a:ea typeface="Calibri"/>
                <a:cs typeface="Calibri"/>
                <a:sym typeface="Calibri"/>
              </a:rPr>
              <a:t>Generalizes to longer sequences than those encountered in training: </a:t>
            </a:r>
            <a:endParaRPr b="1"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Positional encoding should work for:</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Sequences longer than those seen during training</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Otherwise:</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Model becomes length-limited</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Fails in real-world applications</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b="1" lang="en" sz="1700">
                <a:solidFill>
                  <a:schemeClr val="dk1"/>
                </a:solidFill>
                <a:latin typeface="Calibri"/>
                <a:ea typeface="Calibri"/>
                <a:cs typeface="Calibri"/>
                <a:sym typeface="Calibri"/>
              </a:rPr>
              <a:t>Generated by a deterministic process:</a:t>
            </a:r>
            <a:endParaRPr b="1"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Should be produced using: </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A fixed mathematical formula</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An easily computable algorithm</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Benefits: </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Stable training. </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Better generalization</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No dependency on training data</a:t>
            </a:r>
            <a:endParaRPr sz="17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nvSpPr>
        <p:spPr>
          <a:xfrm>
            <a:off x="322725" y="28240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Now, what will be the preferred characteristics of such a PE:</a:t>
            </a:r>
            <a:endParaRPr b="1" sz="1800">
              <a:solidFill>
                <a:schemeClr val="dk1"/>
              </a:solidFill>
              <a:latin typeface="Calibri"/>
              <a:ea typeface="Calibri"/>
              <a:cs typeface="Calibri"/>
              <a:sym typeface="Calibri"/>
            </a:endParaRPr>
          </a:p>
        </p:txBody>
      </p:sp>
      <p:sp>
        <p:nvSpPr>
          <p:cNvPr id="154" name="Google Shape;154;p29"/>
          <p:cNvSpPr txBox="1"/>
          <p:nvPr/>
        </p:nvSpPr>
        <p:spPr>
          <a:xfrm>
            <a:off x="404025" y="806825"/>
            <a:ext cx="8422200" cy="14931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Font typeface="Calibri"/>
              <a:buChar char="●"/>
            </a:pPr>
            <a:r>
              <a:rPr b="1" lang="en" sz="1700">
                <a:solidFill>
                  <a:schemeClr val="dk1"/>
                </a:solidFill>
                <a:latin typeface="Calibri"/>
                <a:ea typeface="Calibri"/>
                <a:cs typeface="Calibri"/>
                <a:sym typeface="Calibri"/>
              </a:rPr>
              <a:t>Extensible to multiple dimensions:</a:t>
            </a:r>
            <a:endParaRPr b="1"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Should naturally scale to:</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Different embedding sizes</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Different model configurations</a:t>
            </a:r>
            <a:endParaRPr sz="1700">
              <a:solidFill>
                <a:schemeClr val="dk1"/>
              </a:solidFill>
              <a:latin typeface="Calibri"/>
              <a:ea typeface="Calibri"/>
              <a:cs typeface="Calibri"/>
              <a:sym typeface="Calibri"/>
            </a:endParaRPr>
          </a:p>
          <a:p>
            <a:pPr indent="-336550" lvl="2" marL="13716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Ensures flexibility across tasks and architectures</a:t>
            </a:r>
            <a:endParaRPr sz="1700">
              <a:solidFill>
                <a:schemeClr val="dk1"/>
              </a:solidFill>
              <a:latin typeface="Calibri"/>
              <a:ea typeface="Calibri"/>
              <a:cs typeface="Calibri"/>
              <a:sym typeface="Calibri"/>
            </a:endParaRPr>
          </a:p>
        </p:txBody>
      </p:sp>
      <p:sp>
        <p:nvSpPr>
          <p:cNvPr id="155" name="Google Shape;155;p29"/>
          <p:cNvSpPr txBox="1"/>
          <p:nvPr/>
        </p:nvSpPr>
        <p:spPr>
          <a:xfrm>
            <a:off x="450650" y="2750450"/>
            <a:ext cx="8375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These requirements motivate the use of </a:t>
            </a:r>
            <a:r>
              <a:rPr b="1" lang="en" sz="1800">
                <a:solidFill>
                  <a:schemeClr val="dk1"/>
                </a:solidFill>
                <a:latin typeface="Calibri"/>
                <a:ea typeface="Calibri"/>
                <a:cs typeface="Calibri"/>
                <a:sym typeface="Calibri"/>
              </a:rPr>
              <a:t>sinusoidal positional encoding</a:t>
            </a:r>
            <a:r>
              <a:rPr lang="en" sz="1800">
                <a:solidFill>
                  <a:schemeClr val="dk1"/>
                </a:solidFill>
                <a:latin typeface="Calibri"/>
                <a:ea typeface="Calibri"/>
                <a:cs typeface="Calibri"/>
                <a:sym typeface="Calibri"/>
              </a:rPr>
              <a:t> in the original Transformer.</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Sinusoidal Encoding</a:t>
            </a:r>
            <a:endParaRPr b="1">
              <a:latin typeface="Calibri"/>
              <a:ea typeface="Calibri"/>
              <a:cs typeface="Calibri"/>
              <a:sym typeface="Calibri"/>
            </a:endParaRPr>
          </a:p>
        </p:txBody>
      </p:sp>
      <p:pic>
        <p:nvPicPr>
          <p:cNvPr id="161" name="Google Shape;161;p30"/>
          <p:cNvPicPr preferRelativeResize="0"/>
          <p:nvPr/>
        </p:nvPicPr>
        <p:blipFill>
          <a:blip r:embed="rId3">
            <a:alphaModFix/>
          </a:blip>
          <a:stretch>
            <a:fillRect/>
          </a:stretch>
        </p:blipFill>
        <p:spPr>
          <a:xfrm>
            <a:off x="152400" y="1689875"/>
            <a:ext cx="8839200" cy="897867"/>
          </a:xfrm>
          <a:prstGeom prst="rect">
            <a:avLst/>
          </a:prstGeom>
          <a:noFill/>
          <a:ln>
            <a:noFill/>
          </a:ln>
        </p:spPr>
      </p:pic>
      <p:sp>
        <p:nvSpPr>
          <p:cNvPr id="162" name="Google Shape;162;p30"/>
          <p:cNvSpPr txBox="1"/>
          <p:nvPr/>
        </p:nvSpPr>
        <p:spPr>
          <a:xfrm>
            <a:off x="658900" y="2595275"/>
            <a:ext cx="7745400" cy="2124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pos = position of the word in the sentence (“Pramod likes pizza” Pramod is at position 0, likes in 1 and so on)</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i = value for ith and (i+)th index of the embedding, sine for even column number cosine for odd column number (“Pramod” is converted into a vector of embedding. Which has different indexes)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d_model = dimension of the model (in our case it is 512)</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10,000 (n) = this is a constant determined experimentally</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nvSpPr>
        <p:spPr>
          <a:xfrm>
            <a:off x="349625" y="268950"/>
            <a:ext cx="8520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As you can see, using this we can calculate the PE value for each position and all the indexes for that position. Here is a simple illustration showing how its done.</a:t>
            </a:r>
            <a:endParaRPr sz="1800">
              <a:solidFill>
                <a:schemeClr val="dk1"/>
              </a:solidFill>
              <a:latin typeface="Calibri"/>
              <a:ea typeface="Calibri"/>
              <a:cs typeface="Calibri"/>
              <a:sym typeface="Calibri"/>
            </a:endParaRPr>
          </a:p>
        </p:txBody>
      </p:sp>
      <p:pic>
        <p:nvPicPr>
          <p:cNvPr id="168" name="Google Shape;168;p31"/>
          <p:cNvPicPr preferRelativeResize="0"/>
          <p:nvPr/>
        </p:nvPicPr>
        <p:blipFill>
          <a:blip r:embed="rId3">
            <a:alphaModFix/>
          </a:blip>
          <a:stretch>
            <a:fillRect/>
          </a:stretch>
        </p:blipFill>
        <p:spPr>
          <a:xfrm>
            <a:off x="152400" y="1160250"/>
            <a:ext cx="8839204" cy="370314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32"/>
          <p:cNvPicPr preferRelativeResize="0"/>
          <p:nvPr/>
        </p:nvPicPr>
        <p:blipFill>
          <a:blip r:embed="rId3">
            <a:alphaModFix/>
          </a:blip>
          <a:stretch>
            <a:fillRect/>
          </a:stretch>
        </p:blipFill>
        <p:spPr>
          <a:xfrm>
            <a:off x="73700" y="72875"/>
            <a:ext cx="5455299" cy="2721351"/>
          </a:xfrm>
          <a:prstGeom prst="rect">
            <a:avLst/>
          </a:prstGeom>
          <a:noFill/>
          <a:ln>
            <a:noFill/>
          </a:ln>
        </p:spPr>
      </p:pic>
      <p:sp>
        <p:nvSpPr>
          <p:cNvPr id="174" name="Google Shape;174;p32"/>
          <p:cNvSpPr txBox="1"/>
          <p:nvPr/>
        </p:nvSpPr>
        <p:spPr>
          <a:xfrm>
            <a:off x="5761475" y="106425"/>
            <a:ext cx="31011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222222"/>
                </a:solidFill>
                <a:latin typeface="Calibri"/>
                <a:ea typeface="Calibri"/>
                <a:cs typeface="Calibri"/>
                <a:sym typeface="Calibri"/>
              </a:rPr>
              <a:t>Positional Encoding Matrix (d = 4, n = 100)</a:t>
            </a:r>
            <a:endParaRPr>
              <a:solidFill>
                <a:srgbClr val="222222"/>
              </a:solidFill>
              <a:latin typeface="Calibri"/>
              <a:ea typeface="Calibri"/>
              <a:cs typeface="Calibri"/>
              <a:sym typeface="Calibri"/>
            </a:endParaRPr>
          </a:p>
          <a:p>
            <a:pPr indent="0" lvl="0" marL="0" rtl="0" algn="l">
              <a:spcBef>
                <a:spcPts val="0"/>
              </a:spcBef>
              <a:spcAft>
                <a:spcPts val="0"/>
              </a:spcAft>
              <a:buNone/>
            </a:pPr>
            <a:r>
              <a:rPr lang="en">
                <a:solidFill>
                  <a:srgbClr val="222222"/>
                </a:solidFill>
                <a:latin typeface="Calibri"/>
                <a:ea typeface="Calibri"/>
                <a:cs typeface="Calibri"/>
                <a:sym typeface="Calibri"/>
              </a:rPr>
              <a:t>Each token gets a 4-dimensional PE vector. The formula is:</a:t>
            </a:r>
            <a:endParaRPr>
              <a:solidFill>
                <a:srgbClr val="222222"/>
              </a:solidFill>
              <a:latin typeface="Calibri"/>
              <a:ea typeface="Calibri"/>
              <a:cs typeface="Calibri"/>
              <a:sym typeface="Calibri"/>
            </a:endParaRPr>
          </a:p>
          <a:p>
            <a:pPr indent="0" lvl="0" marL="0" rtl="0" algn="l">
              <a:spcBef>
                <a:spcPts val="0"/>
              </a:spcBef>
              <a:spcAft>
                <a:spcPts val="0"/>
              </a:spcAft>
              <a:buNone/>
            </a:pPr>
            <a:r>
              <a:rPr lang="en">
                <a:solidFill>
                  <a:srgbClr val="222222"/>
                </a:solidFill>
                <a:latin typeface="Calibri"/>
                <a:ea typeface="Calibri"/>
                <a:cs typeface="Calibri"/>
                <a:sym typeface="Calibri"/>
              </a:rPr>
              <a:t>P(pos, 2i)   = sin( pos / n^(2i/d) )</a:t>
            </a:r>
            <a:endParaRPr>
              <a:solidFill>
                <a:srgbClr val="222222"/>
              </a:solidFill>
              <a:latin typeface="Calibri"/>
              <a:ea typeface="Calibri"/>
              <a:cs typeface="Calibri"/>
              <a:sym typeface="Calibri"/>
            </a:endParaRPr>
          </a:p>
          <a:p>
            <a:pPr indent="0" lvl="0" marL="0" rtl="0" algn="l">
              <a:spcBef>
                <a:spcPts val="0"/>
              </a:spcBef>
              <a:spcAft>
                <a:spcPts val="0"/>
              </a:spcAft>
              <a:buNone/>
            </a:pPr>
            <a:r>
              <a:rPr lang="en">
                <a:solidFill>
                  <a:srgbClr val="222222"/>
                </a:solidFill>
                <a:latin typeface="Calibri"/>
                <a:ea typeface="Calibri"/>
                <a:cs typeface="Calibri"/>
                <a:sym typeface="Calibri"/>
              </a:rPr>
              <a:t>P(pos, 2i+1) = cos( pos / n^(2i/d) )</a:t>
            </a:r>
            <a:endParaRPr>
              <a:solidFill>
                <a:srgbClr val="222222"/>
              </a:solidFill>
              <a:latin typeface="Calibri"/>
              <a:ea typeface="Calibri"/>
              <a:cs typeface="Calibri"/>
              <a:sym typeface="Calibri"/>
            </a:endParaRPr>
          </a:p>
          <a:p>
            <a:pPr indent="0" lvl="0" marL="0" rtl="0" algn="l">
              <a:spcBef>
                <a:spcPts val="0"/>
              </a:spcBef>
              <a:spcAft>
                <a:spcPts val="0"/>
              </a:spcAft>
              <a:buNone/>
            </a:pPr>
            <a:r>
              <a:rPr lang="en">
                <a:solidFill>
                  <a:srgbClr val="222222"/>
                </a:solidFill>
                <a:latin typeface="Calibri"/>
                <a:ea typeface="Calibri"/>
                <a:cs typeface="Calibri"/>
                <a:sym typeface="Calibri"/>
              </a:rPr>
              <a:t>where pos is the token position and i is the pair index (0 or 1 here).</a:t>
            </a:r>
            <a:endParaRPr>
              <a:solidFill>
                <a:srgbClr val="222222"/>
              </a:solidFill>
              <a:latin typeface="Calibri"/>
              <a:ea typeface="Calibri"/>
              <a:cs typeface="Calibri"/>
              <a:sym typeface="Calibri"/>
            </a:endParaRPr>
          </a:p>
        </p:txBody>
      </p:sp>
      <p:sp>
        <p:nvSpPr>
          <p:cNvPr id="175" name="Google Shape;175;p32"/>
          <p:cNvSpPr txBox="1"/>
          <p:nvPr/>
        </p:nvSpPr>
        <p:spPr>
          <a:xfrm>
            <a:off x="163750" y="2944450"/>
            <a:ext cx="3920100" cy="1877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lang="en">
                <a:solidFill>
                  <a:srgbClr val="222222"/>
                </a:solidFill>
                <a:latin typeface="Calibri"/>
                <a:ea typeface="Calibri"/>
                <a:cs typeface="Calibri"/>
                <a:sym typeface="Calibri"/>
              </a:rPr>
              <a:t>Column breakdown (d = 4, so two pairs):</a:t>
            </a:r>
            <a:endParaRPr>
              <a:solidFill>
                <a:srgbClr val="222222"/>
              </a:solidFill>
              <a:latin typeface="Calibri"/>
              <a:ea typeface="Calibri"/>
              <a:cs typeface="Calibri"/>
              <a:sym typeface="Calibri"/>
            </a:endParaRPr>
          </a:p>
          <a:p>
            <a:pPr indent="0" lvl="0" marL="0" rtl="0" algn="l">
              <a:lnSpc>
                <a:spcPct val="100000"/>
              </a:lnSpc>
              <a:spcBef>
                <a:spcPts val="1200"/>
              </a:spcBef>
              <a:spcAft>
                <a:spcPts val="0"/>
              </a:spcAft>
              <a:buNone/>
            </a:pPr>
            <a:r>
              <a:rPr lang="en">
                <a:solidFill>
                  <a:srgbClr val="222222"/>
                </a:solidFill>
                <a:latin typeface="Calibri"/>
                <a:ea typeface="Calibri"/>
                <a:cs typeface="Calibri"/>
                <a:sym typeface="Calibri"/>
              </a:rPr>
              <a:t>Col 0 -&gt; sin, i=0, denominator = 100^(0/4) = 1 </a:t>
            </a:r>
            <a:endParaRPr>
              <a:solidFill>
                <a:srgbClr val="222222"/>
              </a:solidFill>
              <a:latin typeface="Calibri"/>
              <a:ea typeface="Calibri"/>
              <a:cs typeface="Calibri"/>
              <a:sym typeface="Calibri"/>
            </a:endParaRPr>
          </a:p>
          <a:p>
            <a:pPr indent="0" lvl="0" marL="0" rtl="0" algn="l">
              <a:lnSpc>
                <a:spcPct val="100000"/>
              </a:lnSpc>
              <a:spcBef>
                <a:spcPts val="1200"/>
              </a:spcBef>
              <a:spcAft>
                <a:spcPts val="0"/>
              </a:spcAft>
              <a:buNone/>
            </a:pPr>
            <a:r>
              <a:rPr lang="en">
                <a:solidFill>
                  <a:srgbClr val="222222"/>
                </a:solidFill>
                <a:latin typeface="Calibri"/>
                <a:ea typeface="Calibri"/>
                <a:cs typeface="Calibri"/>
                <a:sym typeface="Calibri"/>
              </a:rPr>
              <a:t>Col 1 -&gt; cos, i=0, denominator = 100^(0/4) = 1 </a:t>
            </a:r>
            <a:endParaRPr>
              <a:solidFill>
                <a:srgbClr val="222222"/>
              </a:solidFill>
              <a:latin typeface="Calibri"/>
              <a:ea typeface="Calibri"/>
              <a:cs typeface="Calibri"/>
              <a:sym typeface="Calibri"/>
            </a:endParaRPr>
          </a:p>
          <a:p>
            <a:pPr indent="0" lvl="0" marL="0" rtl="0" algn="l">
              <a:lnSpc>
                <a:spcPct val="100000"/>
              </a:lnSpc>
              <a:spcBef>
                <a:spcPts val="1200"/>
              </a:spcBef>
              <a:spcAft>
                <a:spcPts val="0"/>
              </a:spcAft>
              <a:buNone/>
            </a:pPr>
            <a:r>
              <a:rPr lang="en">
                <a:solidFill>
                  <a:srgbClr val="222222"/>
                </a:solidFill>
                <a:latin typeface="Calibri"/>
                <a:ea typeface="Calibri"/>
                <a:cs typeface="Calibri"/>
                <a:sym typeface="Calibri"/>
              </a:rPr>
              <a:t>Col 2 -&gt; sin, i=1, denominator = 100^(2/4) = 10 </a:t>
            </a:r>
            <a:endParaRPr>
              <a:solidFill>
                <a:srgbClr val="222222"/>
              </a:solidFill>
              <a:latin typeface="Calibri"/>
              <a:ea typeface="Calibri"/>
              <a:cs typeface="Calibri"/>
              <a:sym typeface="Calibri"/>
            </a:endParaRPr>
          </a:p>
          <a:p>
            <a:pPr indent="0" lvl="0" marL="0" rtl="0" algn="l">
              <a:lnSpc>
                <a:spcPct val="100000"/>
              </a:lnSpc>
              <a:spcBef>
                <a:spcPts val="1200"/>
              </a:spcBef>
              <a:spcAft>
                <a:spcPts val="1200"/>
              </a:spcAft>
              <a:buNone/>
            </a:pPr>
            <a:r>
              <a:rPr lang="en">
                <a:solidFill>
                  <a:srgbClr val="222222"/>
                </a:solidFill>
                <a:latin typeface="Calibri"/>
                <a:ea typeface="Calibri"/>
                <a:cs typeface="Calibri"/>
                <a:sym typeface="Calibri"/>
              </a:rPr>
              <a:t>Col 3 -&gt; cos, i=1, denominator = 100^(2/4) = 10</a:t>
            </a:r>
            <a:endParaRPr>
              <a:solidFill>
                <a:srgbClr val="222222"/>
              </a:solidFill>
              <a:latin typeface="Calibri"/>
              <a:ea typeface="Calibri"/>
              <a:cs typeface="Calibri"/>
              <a:sym typeface="Calibri"/>
            </a:endParaRPr>
          </a:p>
        </p:txBody>
      </p:sp>
      <p:sp>
        <p:nvSpPr>
          <p:cNvPr id="176" name="Google Shape;176;p32"/>
          <p:cNvSpPr txBox="1"/>
          <p:nvPr/>
        </p:nvSpPr>
        <p:spPr>
          <a:xfrm>
            <a:off x="4119900" y="2944450"/>
            <a:ext cx="50241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222222"/>
                </a:solidFill>
                <a:latin typeface="Calibri"/>
                <a:ea typeface="Calibri"/>
                <a:cs typeface="Calibri"/>
                <a:sym typeface="Calibri"/>
              </a:rPr>
              <a:t>Row-by-row:</a:t>
            </a:r>
            <a:endParaRPr>
              <a:solidFill>
                <a:srgbClr val="222222"/>
              </a:solidFill>
              <a:latin typeface="Calibri"/>
              <a:ea typeface="Calibri"/>
              <a:cs typeface="Calibri"/>
              <a:sym typeface="Calibri"/>
            </a:endParaRPr>
          </a:p>
          <a:p>
            <a:pPr indent="0" lvl="0" marL="0" rtl="0" algn="l">
              <a:spcBef>
                <a:spcPts val="0"/>
              </a:spcBef>
              <a:spcAft>
                <a:spcPts val="0"/>
              </a:spcAft>
              <a:buNone/>
            </a:pPr>
            <a:r>
              <a:rPr lang="en">
                <a:solidFill>
                  <a:srgbClr val="222222"/>
                </a:solidFill>
                <a:latin typeface="Calibri"/>
                <a:ea typeface="Calibri"/>
                <a:cs typeface="Calibri"/>
                <a:sym typeface="Calibri"/>
              </a:rPr>
              <a:t>"I"     (pos=0): </a:t>
            </a:r>
            <a:endParaRPr>
              <a:solidFill>
                <a:srgbClr val="222222"/>
              </a:solidFill>
              <a:latin typeface="Calibri"/>
              <a:ea typeface="Calibri"/>
              <a:cs typeface="Calibri"/>
              <a:sym typeface="Calibri"/>
            </a:endParaRPr>
          </a:p>
          <a:p>
            <a:pPr indent="0" lvl="0" marL="0" rtl="0" algn="l">
              <a:spcBef>
                <a:spcPts val="0"/>
              </a:spcBef>
              <a:spcAft>
                <a:spcPts val="0"/>
              </a:spcAft>
              <a:buNone/>
            </a:pPr>
            <a:r>
              <a:rPr lang="en">
                <a:solidFill>
                  <a:srgbClr val="222222"/>
                </a:solidFill>
                <a:latin typeface="Calibri"/>
                <a:ea typeface="Calibri"/>
                <a:cs typeface="Calibri"/>
                <a:sym typeface="Calibri"/>
              </a:rPr>
              <a:t>[ sin(0/1), cos(0/1), sin(0/10), cos(0/10) ] </a:t>
            </a:r>
            <a:endParaRPr>
              <a:solidFill>
                <a:srgbClr val="222222"/>
              </a:solidFill>
              <a:latin typeface="Calibri"/>
              <a:ea typeface="Calibri"/>
              <a:cs typeface="Calibri"/>
              <a:sym typeface="Calibri"/>
            </a:endParaRPr>
          </a:p>
          <a:p>
            <a:pPr indent="0" lvl="0" marL="0" rtl="0" algn="l">
              <a:spcBef>
                <a:spcPts val="0"/>
              </a:spcBef>
              <a:spcAft>
                <a:spcPts val="0"/>
              </a:spcAft>
              <a:buNone/>
            </a:pPr>
            <a:r>
              <a:rPr lang="en">
                <a:solidFill>
                  <a:srgbClr val="222222"/>
                </a:solidFill>
                <a:latin typeface="Calibri"/>
                <a:ea typeface="Calibri"/>
                <a:cs typeface="Calibri"/>
                <a:sym typeface="Calibri"/>
              </a:rPr>
              <a:t>= [ 0,     1,    0,    1   ]</a:t>
            </a:r>
            <a:endParaRPr>
              <a:solidFill>
                <a:srgbClr val="222222"/>
              </a:solidFill>
              <a:latin typeface="Calibri"/>
              <a:ea typeface="Calibri"/>
              <a:cs typeface="Calibri"/>
              <a:sym typeface="Calibri"/>
            </a:endParaRPr>
          </a:p>
          <a:p>
            <a:pPr indent="0" lvl="0" marL="0" rtl="0" algn="l">
              <a:spcBef>
                <a:spcPts val="0"/>
              </a:spcBef>
              <a:spcAft>
                <a:spcPts val="0"/>
              </a:spcAft>
              <a:buNone/>
            </a:pPr>
            <a:r>
              <a:rPr lang="en">
                <a:solidFill>
                  <a:srgbClr val="222222"/>
                </a:solidFill>
                <a:latin typeface="Calibri"/>
                <a:ea typeface="Calibri"/>
                <a:cs typeface="Calibri"/>
                <a:sym typeface="Calibri"/>
              </a:rPr>
              <a:t>"like"  (pos=1): [ sin(1/1), cos(1/1), sin(1/10), cos(1/10) ] </a:t>
            </a:r>
            <a:endParaRPr>
              <a:solidFill>
                <a:srgbClr val="222222"/>
              </a:solidFill>
              <a:latin typeface="Calibri"/>
              <a:ea typeface="Calibri"/>
              <a:cs typeface="Calibri"/>
              <a:sym typeface="Calibri"/>
            </a:endParaRPr>
          </a:p>
          <a:p>
            <a:pPr indent="0" lvl="0" marL="0" rtl="0" algn="l">
              <a:spcBef>
                <a:spcPts val="0"/>
              </a:spcBef>
              <a:spcAft>
                <a:spcPts val="0"/>
              </a:spcAft>
              <a:buNone/>
            </a:pPr>
            <a:r>
              <a:rPr lang="en">
                <a:solidFill>
                  <a:srgbClr val="222222"/>
                </a:solidFill>
                <a:latin typeface="Calibri"/>
                <a:ea typeface="Calibri"/>
                <a:cs typeface="Calibri"/>
                <a:sym typeface="Calibri"/>
              </a:rPr>
              <a:t>= [ 0.84,  0.54, 0.10, 1.0 ]</a:t>
            </a:r>
            <a:endParaRPr>
              <a:solidFill>
                <a:srgbClr val="222222"/>
              </a:solidFill>
              <a:latin typeface="Calibri"/>
              <a:ea typeface="Calibri"/>
              <a:cs typeface="Calibri"/>
              <a:sym typeface="Calibri"/>
            </a:endParaRPr>
          </a:p>
          <a:p>
            <a:pPr indent="0" lvl="0" marL="0" rtl="0" algn="l">
              <a:spcBef>
                <a:spcPts val="0"/>
              </a:spcBef>
              <a:spcAft>
                <a:spcPts val="0"/>
              </a:spcAft>
              <a:buNone/>
            </a:pPr>
            <a:r>
              <a:rPr lang="en">
                <a:solidFill>
                  <a:srgbClr val="222222"/>
                </a:solidFill>
                <a:latin typeface="Calibri"/>
                <a:ea typeface="Calibri"/>
                <a:cs typeface="Calibri"/>
                <a:sym typeface="Calibri"/>
              </a:rPr>
              <a:t>"Pizza" (pos=2): [ sin(2/1), cos(2/1), sin(2/10), cos(2/10) ] </a:t>
            </a:r>
            <a:endParaRPr>
              <a:solidFill>
                <a:srgbClr val="222222"/>
              </a:solidFill>
              <a:latin typeface="Calibri"/>
              <a:ea typeface="Calibri"/>
              <a:cs typeface="Calibri"/>
              <a:sym typeface="Calibri"/>
            </a:endParaRPr>
          </a:p>
          <a:p>
            <a:pPr indent="0" lvl="0" marL="0" rtl="0" algn="l">
              <a:spcBef>
                <a:spcPts val="0"/>
              </a:spcBef>
              <a:spcAft>
                <a:spcPts val="0"/>
              </a:spcAft>
              <a:buNone/>
            </a:pPr>
            <a:r>
              <a:rPr lang="en">
                <a:solidFill>
                  <a:srgbClr val="222222"/>
                </a:solidFill>
                <a:latin typeface="Calibri"/>
                <a:ea typeface="Calibri"/>
                <a:cs typeface="Calibri"/>
                <a:sym typeface="Calibri"/>
              </a:rPr>
              <a:t>= [ 0.91, -0.42, 0.20, 0.98]</a:t>
            </a:r>
            <a:endParaRPr>
              <a:solidFill>
                <a:srgbClr val="222222"/>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3"/>
          <p:cNvSpPr txBox="1"/>
          <p:nvPr/>
        </p:nvSpPr>
        <p:spPr>
          <a:xfrm>
            <a:off x="0" y="0"/>
            <a:ext cx="9067200" cy="8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50">
                <a:solidFill>
                  <a:srgbClr val="222222"/>
                </a:solidFill>
                <a:highlight>
                  <a:srgbClr val="FFFFFF"/>
                </a:highlight>
                <a:latin typeface="Calibri"/>
                <a:ea typeface="Calibri"/>
                <a:cs typeface="Calibri"/>
                <a:sym typeface="Calibri"/>
              </a:rPr>
              <a:t>The encoding component is a stack of encoders</a:t>
            </a:r>
            <a:r>
              <a:rPr lang="en" sz="1350">
                <a:solidFill>
                  <a:srgbClr val="222222"/>
                </a:solidFill>
                <a:highlight>
                  <a:srgbClr val="FFFFFF"/>
                </a:highlight>
                <a:latin typeface="Calibri"/>
                <a:ea typeface="Calibri"/>
                <a:cs typeface="Calibri"/>
                <a:sym typeface="Calibri"/>
              </a:rPr>
              <a:t> (the paper stacks six of them on top of each other – there’s nothing magical about the number six, one can definitely experiment with other arrangements). </a:t>
            </a:r>
            <a:endParaRPr sz="1350">
              <a:solidFill>
                <a:srgbClr val="222222"/>
              </a:solidFill>
              <a:highlight>
                <a:srgbClr val="FFFFFF"/>
              </a:highlight>
              <a:latin typeface="Calibri"/>
              <a:ea typeface="Calibri"/>
              <a:cs typeface="Calibri"/>
              <a:sym typeface="Calibri"/>
            </a:endParaRPr>
          </a:p>
          <a:p>
            <a:pPr indent="0" lvl="0" marL="0" rtl="0" algn="l">
              <a:spcBef>
                <a:spcPts val="0"/>
              </a:spcBef>
              <a:spcAft>
                <a:spcPts val="0"/>
              </a:spcAft>
              <a:buNone/>
            </a:pPr>
            <a:r>
              <a:rPr b="1" lang="en" sz="1350">
                <a:solidFill>
                  <a:srgbClr val="222222"/>
                </a:solidFill>
                <a:highlight>
                  <a:srgbClr val="FFFFFF"/>
                </a:highlight>
                <a:latin typeface="Calibri"/>
                <a:ea typeface="Calibri"/>
                <a:cs typeface="Calibri"/>
                <a:sym typeface="Calibri"/>
              </a:rPr>
              <a:t>The decoding component is a stack of decoders of the same number.</a:t>
            </a:r>
            <a:endParaRPr b="1">
              <a:latin typeface="Calibri"/>
              <a:ea typeface="Calibri"/>
              <a:cs typeface="Calibri"/>
              <a:sym typeface="Calibri"/>
            </a:endParaRPr>
          </a:p>
        </p:txBody>
      </p:sp>
      <p:pic>
        <p:nvPicPr>
          <p:cNvPr id="182" name="Google Shape;182;p33"/>
          <p:cNvPicPr preferRelativeResize="0"/>
          <p:nvPr/>
        </p:nvPicPr>
        <p:blipFill>
          <a:blip r:embed="rId3">
            <a:alphaModFix/>
          </a:blip>
          <a:stretch>
            <a:fillRect/>
          </a:stretch>
        </p:blipFill>
        <p:spPr>
          <a:xfrm>
            <a:off x="1476700" y="844050"/>
            <a:ext cx="6190604" cy="4030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nvSpPr>
        <p:spPr>
          <a:xfrm>
            <a:off x="221725" y="847675"/>
            <a:ext cx="4214700" cy="36018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dk1"/>
              </a:buClr>
              <a:buSzPts val="1500"/>
              <a:buFont typeface="Calibri"/>
              <a:buChar char="●"/>
            </a:pPr>
            <a:r>
              <a:rPr b="1" lang="en" sz="1500">
                <a:solidFill>
                  <a:schemeClr val="dk1"/>
                </a:solidFill>
                <a:latin typeface="Calibri"/>
                <a:ea typeface="Calibri"/>
                <a:cs typeface="Calibri"/>
                <a:sym typeface="Calibri"/>
              </a:rPr>
              <a:t>Self-Attention Layer</a:t>
            </a:r>
            <a:endParaRPr b="1" sz="1500">
              <a:solidFill>
                <a:schemeClr val="dk1"/>
              </a:solidFill>
              <a:latin typeface="Calibri"/>
              <a:ea typeface="Calibri"/>
              <a:cs typeface="Calibri"/>
              <a:sym typeface="Calibri"/>
            </a:endParaRPr>
          </a:p>
          <a:p>
            <a:pPr indent="-323850" lvl="1" marL="914400" rtl="0" algn="l">
              <a:lnSpc>
                <a:spcPct val="115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First component applied to the encoder input</a:t>
            </a:r>
            <a:endParaRPr sz="1500">
              <a:solidFill>
                <a:schemeClr val="dk1"/>
              </a:solidFill>
              <a:latin typeface="Calibri"/>
              <a:ea typeface="Calibri"/>
              <a:cs typeface="Calibri"/>
              <a:sym typeface="Calibri"/>
            </a:endParaRPr>
          </a:p>
          <a:p>
            <a:pPr indent="-323850" lvl="1" marL="914400" rtl="0" algn="l">
              <a:lnSpc>
                <a:spcPct val="115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Allows each word to attend to all other words in the input sentence</a:t>
            </a:r>
            <a:endParaRPr sz="1500">
              <a:solidFill>
                <a:schemeClr val="dk1"/>
              </a:solidFill>
              <a:latin typeface="Calibri"/>
              <a:ea typeface="Calibri"/>
              <a:cs typeface="Calibri"/>
              <a:sym typeface="Calibri"/>
            </a:endParaRPr>
          </a:p>
          <a:p>
            <a:pPr indent="-323850" lvl="1" marL="914400" rtl="0" algn="l">
              <a:lnSpc>
                <a:spcPct val="115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Produces context-aware representations for each token</a:t>
            </a:r>
            <a:endParaRPr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Font typeface="Calibri"/>
              <a:buChar char="●"/>
            </a:pPr>
            <a:r>
              <a:rPr b="1" lang="en" sz="1500">
                <a:solidFill>
                  <a:schemeClr val="dk1"/>
                </a:solidFill>
                <a:latin typeface="Calibri"/>
                <a:ea typeface="Calibri"/>
                <a:cs typeface="Calibri"/>
                <a:sym typeface="Calibri"/>
              </a:rPr>
              <a:t>Feed-Forward Neural Network (FFN)</a:t>
            </a:r>
            <a:endParaRPr b="1" sz="1500">
              <a:solidFill>
                <a:schemeClr val="dk1"/>
              </a:solidFill>
              <a:latin typeface="Calibri"/>
              <a:ea typeface="Calibri"/>
              <a:cs typeface="Calibri"/>
              <a:sym typeface="Calibri"/>
            </a:endParaRPr>
          </a:p>
          <a:p>
            <a:pPr indent="-323850" lvl="1" marL="914400" rtl="0" algn="l">
              <a:lnSpc>
                <a:spcPct val="115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Applied after self-attention</a:t>
            </a:r>
            <a:endParaRPr sz="1500">
              <a:solidFill>
                <a:schemeClr val="dk1"/>
              </a:solidFill>
              <a:latin typeface="Calibri"/>
              <a:ea typeface="Calibri"/>
              <a:cs typeface="Calibri"/>
              <a:sym typeface="Calibri"/>
            </a:endParaRPr>
          </a:p>
          <a:p>
            <a:pPr indent="-323850" lvl="1" marL="914400" rtl="0" algn="l">
              <a:lnSpc>
                <a:spcPct val="115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The same FFN is used at every position</a:t>
            </a:r>
            <a:endParaRPr sz="1500">
              <a:solidFill>
                <a:schemeClr val="dk1"/>
              </a:solidFill>
              <a:latin typeface="Calibri"/>
              <a:ea typeface="Calibri"/>
              <a:cs typeface="Calibri"/>
              <a:sym typeface="Calibri"/>
            </a:endParaRPr>
          </a:p>
          <a:p>
            <a:pPr indent="-323850" lvl="1" marL="914400" rtl="0" algn="l">
              <a:lnSpc>
                <a:spcPct val="115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Operates independently on each token</a:t>
            </a:r>
            <a:endParaRPr sz="1500">
              <a:solidFill>
                <a:schemeClr val="dk1"/>
              </a:solidFill>
              <a:latin typeface="Calibri"/>
              <a:ea typeface="Calibri"/>
              <a:cs typeface="Calibri"/>
              <a:sym typeface="Calibri"/>
            </a:endParaRPr>
          </a:p>
          <a:p>
            <a:pPr indent="-323850" lvl="1" marL="914400" rtl="0" algn="l">
              <a:lnSpc>
                <a:spcPct val="115000"/>
              </a:lnSpc>
              <a:spcBef>
                <a:spcPts val="0"/>
              </a:spcBef>
              <a:spcAft>
                <a:spcPts val="0"/>
              </a:spcAft>
              <a:buClr>
                <a:schemeClr val="dk1"/>
              </a:buClr>
              <a:buSzPts val="1500"/>
              <a:buFont typeface="Calibri"/>
              <a:buChar char="○"/>
            </a:pPr>
            <a:r>
              <a:rPr lang="en" sz="1500">
                <a:solidFill>
                  <a:schemeClr val="dk1"/>
                </a:solidFill>
                <a:latin typeface="Calibri"/>
                <a:ea typeface="Calibri"/>
                <a:cs typeface="Calibri"/>
                <a:sym typeface="Calibri"/>
              </a:rPr>
              <a:t>Adds non-linearity and representation power</a:t>
            </a:r>
            <a:endParaRPr sz="1500">
              <a:solidFill>
                <a:schemeClr val="dk1"/>
              </a:solidFill>
              <a:latin typeface="Calibri"/>
              <a:ea typeface="Calibri"/>
              <a:cs typeface="Calibri"/>
              <a:sym typeface="Calibri"/>
            </a:endParaRPr>
          </a:p>
        </p:txBody>
      </p:sp>
      <p:pic>
        <p:nvPicPr>
          <p:cNvPr id="188" name="Google Shape;188;p34"/>
          <p:cNvPicPr preferRelativeResize="0"/>
          <p:nvPr/>
        </p:nvPicPr>
        <p:blipFill>
          <a:blip r:embed="rId3">
            <a:alphaModFix/>
          </a:blip>
          <a:stretch>
            <a:fillRect/>
          </a:stretch>
        </p:blipFill>
        <p:spPr>
          <a:xfrm>
            <a:off x="4670375" y="1204300"/>
            <a:ext cx="4214699" cy="2675416"/>
          </a:xfrm>
          <a:prstGeom prst="rect">
            <a:avLst/>
          </a:prstGeom>
          <a:noFill/>
          <a:ln>
            <a:noFill/>
          </a:ln>
        </p:spPr>
      </p:pic>
      <p:sp>
        <p:nvSpPr>
          <p:cNvPr id="189" name="Google Shape;189;p34"/>
          <p:cNvSpPr txBox="1"/>
          <p:nvPr/>
        </p:nvSpPr>
        <p:spPr>
          <a:xfrm>
            <a:off x="151800" y="108775"/>
            <a:ext cx="8612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The </a:t>
            </a:r>
            <a:r>
              <a:rPr b="1" lang="en" sz="1800">
                <a:solidFill>
                  <a:schemeClr val="dk1"/>
                </a:solidFill>
                <a:latin typeface="Calibri"/>
                <a:ea typeface="Calibri"/>
                <a:cs typeface="Calibri"/>
                <a:sym typeface="Calibri"/>
              </a:rPr>
              <a:t>Encoders</a:t>
            </a:r>
            <a:r>
              <a:rPr lang="en" sz="1800">
                <a:solidFill>
                  <a:schemeClr val="dk1"/>
                </a:solidFill>
                <a:latin typeface="Calibri"/>
                <a:ea typeface="Calibri"/>
                <a:cs typeface="Calibri"/>
                <a:sym typeface="Calibri"/>
              </a:rPr>
              <a:t> are all identical in structure (yet they do not share weights).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Each one is broken down into two sublayers:</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nvSpPr>
        <p:spPr>
          <a:xfrm>
            <a:off x="163725" y="133075"/>
            <a:ext cx="5029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dk1"/>
                </a:solidFill>
                <a:latin typeface="Calibri"/>
                <a:ea typeface="Calibri"/>
                <a:cs typeface="Calibri"/>
                <a:sym typeface="Calibri"/>
              </a:rPr>
              <a:t>Why Encoders Do Not Share Weights</a:t>
            </a:r>
            <a:endParaRPr b="1" sz="2400">
              <a:solidFill>
                <a:schemeClr val="dk1"/>
              </a:solidFill>
              <a:latin typeface="Calibri"/>
              <a:ea typeface="Calibri"/>
              <a:cs typeface="Calibri"/>
              <a:sym typeface="Calibri"/>
            </a:endParaRPr>
          </a:p>
        </p:txBody>
      </p:sp>
      <p:sp>
        <p:nvSpPr>
          <p:cNvPr id="195" name="Google Shape;195;p35"/>
          <p:cNvSpPr txBox="1"/>
          <p:nvPr/>
        </p:nvSpPr>
        <p:spPr>
          <a:xfrm>
            <a:off x="292500" y="655300"/>
            <a:ext cx="4449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alibri"/>
                <a:ea typeface="Calibri"/>
                <a:cs typeface="Calibri"/>
                <a:sym typeface="Calibri"/>
              </a:rPr>
              <a:t>Key Fact</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All encoder blocks have identical structure but independent weights.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Encoder 1:  WQ1, WK1, WV1, FFN1  &lt;- its own weights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Encoder 2:  WQ2, WK2, WV2, FFN2  &lt;- its own weights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Encoder 3:  WQ3, WK3, WV3, FFN3  &lt;- its own weights</a:t>
            </a:r>
            <a:endParaRPr sz="1200">
              <a:solidFill>
                <a:schemeClr val="dk1"/>
              </a:solidFill>
              <a:latin typeface="Calibri"/>
              <a:ea typeface="Calibri"/>
              <a:cs typeface="Calibri"/>
              <a:sym typeface="Calibri"/>
            </a:endParaRPr>
          </a:p>
        </p:txBody>
      </p:sp>
      <p:sp>
        <p:nvSpPr>
          <p:cNvPr id="196" name="Google Shape;196;p35"/>
          <p:cNvSpPr txBox="1"/>
          <p:nvPr/>
        </p:nvSpPr>
        <p:spPr>
          <a:xfrm>
            <a:off x="317550" y="1763500"/>
            <a:ext cx="43995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alibri"/>
                <a:ea typeface="Calibri"/>
                <a:cs typeface="Calibri"/>
                <a:sym typeface="Calibri"/>
              </a:rPr>
              <a:t>Each Layer Learns Different Abstractions</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Encoder 1 sees raw embeddings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-&gt; learns basic syntax and word level patterns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Encoder 2 sees output of encoder 1</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-&gt; learns phrase level relationships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Encoder 3 sees output of encoder 2</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-&gt; learns sentence level semantics</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If weights were shared, every layer applies the same transformation.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Depth adds no value.</a:t>
            </a:r>
            <a:endParaRPr sz="1200">
              <a:solidFill>
                <a:schemeClr val="dk1"/>
              </a:solidFill>
              <a:latin typeface="Calibri"/>
              <a:ea typeface="Calibri"/>
              <a:cs typeface="Calibri"/>
              <a:sym typeface="Calibri"/>
            </a:endParaRPr>
          </a:p>
        </p:txBody>
      </p:sp>
      <p:sp>
        <p:nvSpPr>
          <p:cNvPr id="197" name="Google Shape;197;p35"/>
          <p:cNvSpPr txBox="1"/>
          <p:nvPr/>
        </p:nvSpPr>
        <p:spPr>
          <a:xfrm>
            <a:off x="5035400" y="687175"/>
            <a:ext cx="41205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alibri"/>
                <a:ea typeface="Calibri"/>
                <a:cs typeface="Calibri"/>
                <a:sym typeface="Calibri"/>
              </a:rPr>
              <a:t>Model Capacity</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Each layer adds its own learnable parameters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More parameters = more capacity to learn complex patterns</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With 6 layers, d_model = 512:</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Independent weights -&gt; ~18 million parameters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Shared weights      -&gt; ~3 million parameters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Sharing weights severely limits what the model can learn.</a:t>
            </a:r>
            <a:endParaRPr sz="1200">
              <a:solidFill>
                <a:schemeClr val="dk1"/>
              </a:solidFill>
              <a:latin typeface="Calibri"/>
              <a:ea typeface="Calibri"/>
              <a:cs typeface="Calibri"/>
              <a:sym typeface="Calibri"/>
            </a:endParaRPr>
          </a:p>
        </p:txBody>
      </p:sp>
      <p:sp>
        <p:nvSpPr>
          <p:cNvPr id="198" name="Google Shape;198;p35"/>
          <p:cNvSpPr txBox="1"/>
          <p:nvPr/>
        </p:nvSpPr>
        <p:spPr>
          <a:xfrm>
            <a:off x="5035400" y="2565750"/>
            <a:ext cx="41205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alibri"/>
                <a:ea typeface="Calibri"/>
                <a:cs typeface="Calibri"/>
                <a:sym typeface="Calibri"/>
              </a:rPr>
              <a:t>Residual Connections</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Each encoder output = LayerNorm(input + sublayer(input))</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weights are shared, the same transformation is repeatedly added</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Independent weights allow each layer to learn a complementary</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transformation that adds new information rather than repeating it</a:t>
            </a:r>
            <a:endParaRPr sz="1200">
              <a:solidFill>
                <a:schemeClr val="dk1"/>
              </a:solidFill>
              <a:latin typeface="Calibri"/>
              <a:ea typeface="Calibri"/>
              <a:cs typeface="Calibri"/>
              <a:sym typeface="Calibri"/>
            </a:endParaRPr>
          </a:p>
        </p:txBody>
      </p:sp>
      <p:sp>
        <p:nvSpPr>
          <p:cNvPr id="199" name="Google Shape;199;p35"/>
          <p:cNvSpPr txBox="1"/>
          <p:nvPr/>
        </p:nvSpPr>
        <p:spPr>
          <a:xfrm>
            <a:off x="235300" y="4444350"/>
            <a:ext cx="9092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Independent weights allow each encoder layer to learn a different level of abstraction, maximizing the benefit of depth.</a:t>
            </a:r>
            <a:endParaRPr sz="12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6"/>
          <p:cNvSpPr txBox="1"/>
          <p:nvPr/>
        </p:nvSpPr>
        <p:spPr>
          <a:xfrm>
            <a:off x="208250" y="179250"/>
            <a:ext cx="8144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The decoder block takes the output from the encoder, runs it through it self, produces an output and sends it back to itself to create the next word.</a:t>
            </a:r>
            <a:endParaRPr sz="1800">
              <a:solidFill>
                <a:schemeClr val="dk1"/>
              </a:solidFill>
              <a:latin typeface="Calibri"/>
              <a:ea typeface="Calibri"/>
              <a:cs typeface="Calibri"/>
              <a:sym typeface="Calibri"/>
            </a:endParaRPr>
          </a:p>
        </p:txBody>
      </p:sp>
      <p:pic>
        <p:nvPicPr>
          <p:cNvPr id="205" name="Google Shape;205;p36"/>
          <p:cNvPicPr preferRelativeResize="0"/>
          <p:nvPr/>
        </p:nvPicPr>
        <p:blipFill>
          <a:blip r:embed="rId3">
            <a:alphaModFix/>
          </a:blip>
          <a:stretch>
            <a:fillRect/>
          </a:stretch>
        </p:blipFill>
        <p:spPr>
          <a:xfrm>
            <a:off x="386175" y="980325"/>
            <a:ext cx="8371650" cy="2974450"/>
          </a:xfrm>
          <a:prstGeom prst="rect">
            <a:avLst/>
          </a:prstGeom>
          <a:noFill/>
          <a:ln>
            <a:noFill/>
          </a:ln>
        </p:spPr>
      </p:pic>
      <p:sp>
        <p:nvSpPr>
          <p:cNvPr id="206" name="Google Shape;206;p36"/>
          <p:cNvSpPr txBox="1"/>
          <p:nvPr/>
        </p:nvSpPr>
        <p:spPr>
          <a:xfrm>
            <a:off x="256400" y="4016950"/>
            <a:ext cx="8742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Encoder-Decoder attention</a:t>
            </a:r>
            <a:r>
              <a:rPr lang="en" sz="1800">
                <a:solidFill>
                  <a:schemeClr val="dk1"/>
                </a:solidFill>
                <a:latin typeface="Calibri"/>
                <a:ea typeface="Calibri"/>
                <a:cs typeface="Calibri"/>
                <a:sym typeface="Calibri"/>
              </a:rPr>
              <a:t> allows the decoder to</a:t>
            </a:r>
            <a:r>
              <a:rPr b="1" lang="en" sz="1800">
                <a:solidFill>
                  <a:schemeClr val="dk1"/>
                </a:solidFill>
                <a:latin typeface="Calibri"/>
                <a:ea typeface="Calibri"/>
                <a:cs typeface="Calibri"/>
                <a:sym typeface="Calibri"/>
              </a:rPr>
              <a:t> query encoder outputs</a:t>
            </a:r>
            <a:r>
              <a:rPr lang="en" sz="1800">
                <a:solidFill>
                  <a:schemeClr val="dk1"/>
                </a:solidFill>
                <a:latin typeface="Calibri"/>
                <a:ea typeface="Calibri"/>
                <a:cs typeface="Calibri"/>
                <a:sym typeface="Calibri"/>
              </a:rPr>
              <a:t> and </a:t>
            </a:r>
            <a:r>
              <a:rPr b="1" lang="en" sz="1800">
                <a:solidFill>
                  <a:schemeClr val="dk1"/>
                </a:solidFill>
                <a:latin typeface="Calibri"/>
                <a:ea typeface="Calibri"/>
                <a:cs typeface="Calibri"/>
                <a:sym typeface="Calibri"/>
              </a:rPr>
              <a:t>align generated words</a:t>
            </a:r>
            <a:r>
              <a:rPr lang="en" sz="1800">
                <a:solidFill>
                  <a:schemeClr val="dk1"/>
                </a:solidFill>
                <a:latin typeface="Calibri"/>
                <a:ea typeface="Calibri"/>
                <a:cs typeface="Calibri"/>
                <a:sym typeface="Calibri"/>
              </a:rPr>
              <a:t> with the most relevant parts of the input sentence while producing each output token.</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37"/>
          <p:cNvPicPr preferRelativeResize="0"/>
          <p:nvPr/>
        </p:nvPicPr>
        <p:blipFill>
          <a:blip r:embed="rId3">
            <a:alphaModFix/>
          </a:blip>
          <a:stretch>
            <a:fillRect/>
          </a:stretch>
        </p:blipFill>
        <p:spPr>
          <a:xfrm>
            <a:off x="152400" y="124825"/>
            <a:ext cx="8839201" cy="3622934"/>
          </a:xfrm>
          <a:prstGeom prst="rect">
            <a:avLst/>
          </a:prstGeom>
          <a:noFill/>
          <a:ln>
            <a:noFill/>
          </a:ln>
        </p:spPr>
      </p:pic>
      <p:sp>
        <p:nvSpPr>
          <p:cNvPr id="212" name="Google Shape;212;p37"/>
          <p:cNvSpPr txBox="1"/>
          <p:nvPr/>
        </p:nvSpPr>
        <p:spPr>
          <a:xfrm>
            <a:off x="248850" y="3747750"/>
            <a:ext cx="8646300" cy="646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Think of it like this. The encoder understands your language let’s call it X and another language called Y The decoder understands Y and the language you are trying to translate X to, lets call it Z.</a:t>
            </a:r>
            <a:endParaRPr>
              <a:solidFill>
                <a:schemeClr val="dk1"/>
              </a:solidFill>
              <a:latin typeface="Calibri"/>
              <a:ea typeface="Calibri"/>
              <a:cs typeface="Calibri"/>
              <a:sym typeface="Calibri"/>
            </a:endParaRPr>
          </a:p>
        </p:txBody>
      </p:sp>
      <p:sp>
        <p:nvSpPr>
          <p:cNvPr id="213" name="Google Shape;213;p37"/>
          <p:cNvSpPr txBox="1"/>
          <p:nvPr/>
        </p:nvSpPr>
        <p:spPr>
          <a:xfrm>
            <a:off x="248850" y="4329075"/>
            <a:ext cx="8530800" cy="67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So Y acts as the common language that both the encoder and decoder speak to produce the final output.</a:t>
            </a:r>
            <a:endParaRPr>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Understanding Self-attention</a:t>
            </a:r>
            <a:endParaRPr b="1">
              <a:latin typeface="Calibri"/>
              <a:ea typeface="Calibri"/>
              <a:cs typeface="Calibri"/>
              <a:sym typeface="Calibri"/>
            </a:endParaRPr>
          </a:p>
        </p:txBody>
      </p:sp>
      <p:sp>
        <p:nvSpPr>
          <p:cNvPr id="219" name="Google Shape;219;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chemeClr val="dk1"/>
                </a:solidFill>
                <a:latin typeface="Calibri"/>
                <a:ea typeface="Calibri"/>
                <a:cs typeface="Calibri"/>
                <a:sym typeface="Calibri"/>
              </a:rPr>
              <a:t>We have all heard of the famous trio, “Query, Key and Values”.</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en">
                <a:solidFill>
                  <a:schemeClr val="dk1"/>
                </a:solidFill>
                <a:latin typeface="Calibri"/>
                <a:ea typeface="Calibri"/>
                <a:cs typeface="Calibri"/>
                <a:sym typeface="Calibri"/>
              </a:rPr>
              <a:t>Let us first build an intuition behind the idea.</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en">
                <a:solidFill>
                  <a:schemeClr val="dk1"/>
                </a:solidFill>
                <a:latin typeface="Calibri"/>
                <a:ea typeface="Calibri"/>
                <a:cs typeface="Calibri"/>
                <a:sym typeface="Calibri"/>
              </a:rPr>
              <a:t>Sentence (S): “Pramod loves pizza”</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en">
                <a:solidFill>
                  <a:schemeClr val="dk1"/>
                </a:solidFill>
                <a:latin typeface="Calibri"/>
                <a:ea typeface="Calibri"/>
                <a:cs typeface="Calibri"/>
                <a:sym typeface="Calibri"/>
              </a:rPr>
              <a:t>Question:</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en">
                <a:solidFill>
                  <a:schemeClr val="dk1"/>
                </a:solidFill>
                <a:latin typeface="Calibri"/>
                <a:ea typeface="Calibri"/>
                <a:cs typeface="Calibri"/>
                <a:sym typeface="Calibri"/>
              </a:rPr>
              <a:t>Who loves pizza?</a:t>
            </a:r>
            <a:endParaRPr>
              <a:solidFill>
                <a:schemeClr val="dk1"/>
              </a:solidFill>
              <a:latin typeface="Calibri"/>
              <a:ea typeface="Calibri"/>
              <a:cs typeface="Calibri"/>
              <a:sym typeface="Calibri"/>
            </a:endParaRPr>
          </a:p>
          <a:p>
            <a:pPr indent="0" lvl="0" marL="0" rtl="0" algn="l">
              <a:spcBef>
                <a:spcPts val="1200"/>
              </a:spcBef>
              <a:spcAft>
                <a:spcPts val="1200"/>
              </a:spcAft>
              <a:buNone/>
            </a:pPr>
            <a:r>
              <a:rPr lang="en">
                <a:solidFill>
                  <a:schemeClr val="dk1"/>
                </a:solidFill>
                <a:latin typeface="Calibri"/>
                <a:ea typeface="Calibri"/>
                <a:cs typeface="Calibri"/>
                <a:sym typeface="Calibri"/>
              </a:rPr>
              <a:t>You can come up with as many Questions (the queries) for the sentence as you want. Now for each query, you will have one specific piece of information (the key) that will give you the desired answer (the value).</a:t>
            </a:r>
            <a:endParaRPr>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Understanding Self-attention (cont.)</a:t>
            </a:r>
            <a:endParaRPr b="1">
              <a:latin typeface="Calibri"/>
              <a:ea typeface="Calibri"/>
              <a:cs typeface="Calibri"/>
              <a:sym typeface="Calibri"/>
            </a:endParaRPr>
          </a:p>
        </p:txBody>
      </p:sp>
      <p:sp>
        <p:nvSpPr>
          <p:cNvPr id="225" name="Google Shape;225;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Query:</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en">
                <a:solidFill>
                  <a:schemeClr val="dk1"/>
                </a:solidFill>
                <a:latin typeface="Calibri"/>
                <a:ea typeface="Calibri"/>
                <a:cs typeface="Calibri"/>
                <a:sym typeface="Calibri"/>
              </a:rPr>
              <a:t>Q -&gt;Who loves pizza?</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en">
                <a:solidFill>
                  <a:schemeClr val="dk1"/>
                </a:solidFill>
                <a:latin typeface="Calibri"/>
                <a:ea typeface="Calibri"/>
                <a:cs typeface="Calibri"/>
                <a:sym typeface="Calibri"/>
              </a:rPr>
              <a:t>K -&gt; pizza, Pramod, loves (it will actually have all the words with different degree of importance)</a:t>
            </a:r>
            <a:endParaRPr>
              <a:solidFill>
                <a:schemeClr val="dk1"/>
              </a:solidFill>
              <a:latin typeface="Calibri"/>
              <a:ea typeface="Calibri"/>
              <a:cs typeface="Calibri"/>
              <a:sym typeface="Calibri"/>
            </a:endParaRPr>
          </a:p>
          <a:p>
            <a:pPr indent="0" lvl="0" marL="0" rtl="0" algn="l">
              <a:spcBef>
                <a:spcPts val="1200"/>
              </a:spcBef>
              <a:spcAft>
                <a:spcPts val="0"/>
              </a:spcAft>
              <a:buNone/>
            </a:pPr>
            <a:r>
              <a:rPr lang="en">
                <a:solidFill>
                  <a:schemeClr val="dk1"/>
                </a:solidFill>
                <a:latin typeface="Calibri"/>
                <a:ea typeface="Calibri"/>
                <a:cs typeface="Calibri"/>
                <a:sym typeface="Calibri"/>
              </a:rPr>
              <a:t>V -&gt; pizza (The value is not directly the answer, but a representation as a matrix of something similar to the answer)</a:t>
            </a:r>
            <a:endParaRPr>
              <a:solidFill>
                <a:schemeClr val="dk1"/>
              </a:solidFill>
              <a:latin typeface="Calibri"/>
              <a:ea typeface="Calibri"/>
              <a:cs typeface="Calibri"/>
              <a:sym typeface="Calibri"/>
            </a:endParaRPr>
          </a:p>
          <a:p>
            <a:pPr indent="0" lvl="0" marL="0" rtl="0" algn="l">
              <a:spcBef>
                <a:spcPts val="1200"/>
              </a:spcBef>
              <a:spcAft>
                <a:spcPts val="1200"/>
              </a:spcAft>
              <a:buNone/>
            </a:pPr>
            <a:r>
              <a:rPr lang="en">
                <a:solidFill>
                  <a:schemeClr val="dk1"/>
                </a:solidFill>
                <a:latin typeface="Calibri"/>
                <a:ea typeface="Calibri"/>
                <a:cs typeface="Calibri"/>
                <a:sym typeface="Calibri"/>
              </a:rPr>
              <a:t>This is an </a:t>
            </a:r>
            <a:r>
              <a:rPr lang="en">
                <a:solidFill>
                  <a:schemeClr val="dk1"/>
                </a:solidFill>
                <a:latin typeface="Calibri"/>
                <a:ea typeface="Calibri"/>
                <a:cs typeface="Calibri"/>
                <a:sym typeface="Calibri"/>
              </a:rPr>
              <a:t>oversimplification</a:t>
            </a:r>
            <a:r>
              <a:rPr lang="en">
                <a:solidFill>
                  <a:schemeClr val="dk1"/>
                </a:solidFill>
                <a:latin typeface="Calibri"/>
                <a:ea typeface="Calibri"/>
                <a:cs typeface="Calibri"/>
                <a:sym typeface="Calibri"/>
              </a:rPr>
              <a:t> really, but it helps understand that the queries, keys and values all can be created only using the sentences.</a:t>
            </a:r>
            <a:endParaRPr>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0"/>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H</a:t>
            </a:r>
            <a:r>
              <a:rPr b="1" lang="en">
                <a:latin typeface="Calibri"/>
                <a:ea typeface="Calibri"/>
                <a:cs typeface="Calibri"/>
                <a:sym typeface="Calibri"/>
              </a:rPr>
              <a:t>ow and why Self-attention is applied</a:t>
            </a:r>
            <a:endParaRPr b="1">
              <a:latin typeface="Calibri"/>
              <a:ea typeface="Calibri"/>
              <a:cs typeface="Calibri"/>
              <a:sym typeface="Calibri"/>
            </a:endParaRPr>
          </a:p>
        </p:txBody>
      </p:sp>
      <p:sp>
        <p:nvSpPr>
          <p:cNvPr id="231" name="Google Shape;231;p40"/>
          <p:cNvSpPr txBox="1"/>
          <p:nvPr/>
        </p:nvSpPr>
        <p:spPr>
          <a:xfrm>
            <a:off x="-70000" y="632250"/>
            <a:ext cx="3612900" cy="3879000"/>
          </a:xfrm>
          <a:prstGeom prst="rect">
            <a:avLst/>
          </a:prstGeom>
          <a:noFill/>
          <a:ln>
            <a:noFill/>
          </a:ln>
        </p:spPr>
        <p:txBody>
          <a:bodyPr anchorCtr="0" anchor="ctr" bIns="91425" lIns="91425" spcFirstLastPara="1" rIns="91425" wrap="square" tIns="91425">
            <a:noAutofit/>
          </a:bodyPr>
          <a:lstStyle/>
          <a:p>
            <a:pPr indent="-330200" lvl="0" marL="457200" rtl="0" algn="just">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After embedding the words in our input sequence, each of them flows through each of the two layers of the encoder.</a:t>
            </a:r>
            <a:endParaRPr sz="1600">
              <a:solidFill>
                <a:schemeClr val="dk1"/>
              </a:solidFill>
              <a:latin typeface="Calibri"/>
              <a:ea typeface="Calibri"/>
              <a:cs typeface="Calibri"/>
              <a:sym typeface="Calibri"/>
            </a:endParaRPr>
          </a:p>
          <a:p>
            <a:pPr indent="-330200" lvl="0" marL="457200" rtl="0" algn="just">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Each position flows through its own path in the encoder. </a:t>
            </a:r>
            <a:endParaRPr sz="1600">
              <a:solidFill>
                <a:schemeClr val="dk1"/>
              </a:solidFill>
              <a:latin typeface="Calibri"/>
              <a:ea typeface="Calibri"/>
              <a:cs typeface="Calibri"/>
              <a:sym typeface="Calibri"/>
            </a:endParaRPr>
          </a:p>
          <a:p>
            <a:pPr indent="-330200" lvl="0" marL="457200" rtl="0" algn="just">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There are dependencies between these paths in the self-attention layer. </a:t>
            </a:r>
            <a:endParaRPr sz="1600">
              <a:solidFill>
                <a:schemeClr val="dk1"/>
              </a:solidFill>
              <a:latin typeface="Calibri"/>
              <a:ea typeface="Calibri"/>
              <a:cs typeface="Calibri"/>
              <a:sym typeface="Calibri"/>
            </a:endParaRPr>
          </a:p>
          <a:p>
            <a:pPr indent="-330200" lvl="0" marL="457200" rtl="0" algn="just">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The feed-forward layer does not have those dependencies, however, and thus the various paths can be executed in parallel while flowing through the feed-forward layer.</a:t>
            </a:r>
            <a:endParaRPr sz="1600">
              <a:solidFill>
                <a:schemeClr val="dk1"/>
              </a:solidFill>
              <a:latin typeface="Calibri"/>
              <a:ea typeface="Calibri"/>
              <a:cs typeface="Calibri"/>
              <a:sym typeface="Calibri"/>
            </a:endParaRPr>
          </a:p>
        </p:txBody>
      </p:sp>
      <p:pic>
        <p:nvPicPr>
          <p:cNvPr id="232" name="Google Shape;232;p40"/>
          <p:cNvPicPr preferRelativeResize="0"/>
          <p:nvPr/>
        </p:nvPicPr>
        <p:blipFill>
          <a:blip r:embed="rId3">
            <a:alphaModFix/>
          </a:blip>
          <a:stretch>
            <a:fillRect/>
          </a:stretch>
        </p:blipFill>
        <p:spPr>
          <a:xfrm>
            <a:off x="3542900" y="692275"/>
            <a:ext cx="5556086" cy="3563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1"/>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How and why Self-attention is applied</a:t>
            </a:r>
            <a:endParaRPr b="1">
              <a:latin typeface="Calibri"/>
              <a:ea typeface="Calibri"/>
              <a:cs typeface="Calibri"/>
              <a:sym typeface="Calibri"/>
            </a:endParaRPr>
          </a:p>
        </p:txBody>
      </p:sp>
      <p:sp>
        <p:nvSpPr>
          <p:cNvPr id="238" name="Google Shape;238;p41"/>
          <p:cNvSpPr txBox="1"/>
          <p:nvPr/>
        </p:nvSpPr>
        <p:spPr>
          <a:xfrm>
            <a:off x="132075" y="481725"/>
            <a:ext cx="8857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Calibri"/>
                <a:ea typeface="Calibri"/>
                <a:cs typeface="Calibri"/>
                <a:sym typeface="Calibri"/>
              </a:rPr>
              <a:t>Encoder receives a list of vectors as input. It processes this list by passing these vectors into a ‘self-attention’ layer, then into a feed-forward neural network, then sends out the output upwards to the next encoder.</a:t>
            </a:r>
            <a:endParaRPr sz="1500">
              <a:solidFill>
                <a:schemeClr val="dk1"/>
              </a:solidFill>
              <a:latin typeface="Calibri"/>
              <a:ea typeface="Calibri"/>
              <a:cs typeface="Calibri"/>
              <a:sym typeface="Calibri"/>
            </a:endParaRPr>
          </a:p>
        </p:txBody>
      </p:sp>
      <p:pic>
        <p:nvPicPr>
          <p:cNvPr id="239" name="Google Shape;239;p41"/>
          <p:cNvPicPr preferRelativeResize="0"/>
          <p:nvPr/>
        </p:nvPicPr>
        <p:blipFill>
          <a:blip r:embed="rId3">
            <a:alphaModFix/>
          </a:blip>
          <a:stretch>
            <a:fillRect/>
          </a:stretch>
        </p:blipFill>
        <p:spPr>
          <a:xfrm>
            <a:off x="1891050" y="1070200"/>
            <a:ext cx="5494954" cy="3341175"/>
          </a:xfrm>
          <a:prstGeom prst="rect">
            <a:avLst/>
          </a:prstGeom>
          <a:noFill/>
          <a:ln>
            <a:noFill/>
          </a:ln>
        </p:spPr>
      </p:pic>
      <p:sp>
        <p:nvSpPr>
          <p:cNvPr id="240" name="Google Shape;240;p41"/>
          <p:cNvSpPr txBox="1"/>
          <p:nvPr/>
        </p:nvSpPr>
        <p:spPr>
          <a:xfrm>
            <a:off x="209775" y="4498625"/>
            <a:ext cx="8857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Calibri"/>
                <a:ea typeface="Calibri"/>
                <a:cs typeface="Calibri"/>
                <a:sym typeface="Calibri"/>
              </a:rPr>
              <a:t>The word at each position passes through a self-attention process. Then, they each pass through a feed-forward neural network -- the exact same network with each vector flowing through it separately.</a:t>
            </a:r>
            <a:endParaRPr sz="11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Self-Attention at a High Level</a:t>
            </a:r>
            <a:endParaRPr b="1">
              <a:latin typeface="Calibri"/>
              <a:ea typeface="Calibri"/>
              <a:cs typeface="Calibri"/>
              <a:sym typeface="Calibri"/>
            </a:endParaRPr>
          </a:p>
        </p:txBody>
      </p:sp>
      <p:sp>
        <p:nvSpPr>
          <p:cNvPr id="246" name="Google Shape;246;p42"/>
          <p:cNvSpPr txBox="1"/>
          <p:nvPr/>
        </p:nvSpPr>
        <p:spPr>
          <a:xfrm>
            <a:off x="116550" y="572700"/>
            <a:ext cx="38616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Calibri"/>
                <a:ea typeface="Calibri"/>
                <a:cs typeface="Calibri"/>
                <a:sym typeface="Calibri"/>
              </a:rPr>
              <a:t>Say the following sentence is an input sentence we want to translate:</a:t>
            </a:r>
            <a:endParaRPr>
              <a:solidFill>
                <a:schemeClr val="dk2"/>
              </a:solidFill>
              <a:latin typeface="Calibri"/>
              <a:ea typeface="Calibri"/>
              <a:cs typeface="Calibri"/>
              <a:sym typeface="Calibri"/>
            </a:endParaRPr>
          </a:p>
          <a:p>
            <a:pPr indent="0" lvl="0" marL="0" rtl="0" algn="l">
              <a:spcBef>
                <a:spcPts val="0"/>
              </a:spcBef>
              <a:spcAft>
                <a:spcPts val="0"/>
              </a:spcAft>
              <a:buNone/>
            </a:pPr>
            <a:r>
              <a:rPr b="1" lang="en">
                <a:solidFill>
                  <a:schemeClr val="dk2"/>
                </a:solidFill>
                <a:latin typeface="Calibri"/>
                <a:ea typeface="Calibri"/>
                <a:cs typeface="Calibri"/>
                <a:sym typeface="Calibri"/>
              </a:rPr>
              <a:t>“The animal didn't cross the street because it was too tired”</a:t>
            </a:r>
            <a:endParaRPr b="1">
              <a:solidFill>
                <a:schemeClr val="dk2"/>
              </a:solidFill>
              <a:latin typeface="Calibri"/>
              <a:ea typeface="Calibri"/>
              <a:cs typeface="Calibri"/>
              <a:sym typeface="Calibri"/>
            </a:endParaRPr>
          </a:p>
          <a:p>
            <a:pPr indent="0" lvl="0" marL="0" rtl="0" algn="l">
              <a:spcBef>
                <a:spcPts val="0"/>
              </a:spcBef>
              <a:spcAft>
                <a:spcPts val="0"/>
              </a:spcAft>
              <a:buNone/>
            </a:pPr>
            <a:r>
              <a:t/>
            </a:r>
            <a:endParaRPr>
              <a:solidFill>
                <a:schemeClr val="dk2"/>
              </a:solidFill>
              <a:latin typeface="Calibri"/>
              <a:ea typeface="Calibri"/>
              <a:cs typeface="Calibri"/>
              <a:sym typeface="Calibri"/>
            </a:endParaRPr>
          </a:p>
          <a:p>
            <a:pPr indent="0" lvl="0" marL="0" rtl="0" algn="l">
              <a:spcBef>
                <a:spcPts val="0"/>
              </a:spcBef>
              <a:spcAft>
                <a:spcPts val="0"/>
              </a:spcAft>
              <a:buNone/>
            </a:pPr>
            <a:r>
              <a:rPr b="1" lang="en">
                <a:solidFill>
                  <a:schemeClr val="dk2"/>
                </a:solidFill>
                <a:latin typeface="Calibri"/>
                <a:ea typeface="Calibri"/>
                <a:cs typeface="Calibri"/>
                <a:sym typeface="Calibri"/>
              </a:rPr>
              <a:t>What does “it” in this sentence refer to? </a:t>
            </a:r>
            <a:endParaRPr b="1">
              <a:solidFill>
                <a:schemeClr val="dk2"/>
              </a:solidFill>
              <a:latin typeface="Calibri"/>
              <a:ea typeface="Calibri"/>
              <a:cs typeface="Calibri"/>
              <a:sym typeface="Calibri"/>
            </a:endParaRPr>
          </a:p>
          <a:p>
            <a:pPr indent="0" lvl="0" marL="0" rtl="0" algn="l">
              <a:spcBef>
                <a:spcPts val="0"/>
              </a:spcBef>
              <a:spcAft>
                <a:spcPts val="0"/>
              </a:spcAft>
              <a:buNone/>
            </a:pPr>
            <a:r>
              <a:rPr lang="en">
                <a:solidFill>
                  <a:schemeClr val="dk2"/>
                </a:solidFill>
                <a:latin typeface="Calibri"/>
                <a:ea typeface="Calibri"/>
                <a:cs typeface="Calibri"/>
                <a:sym typeface="Calibri"/>
              </a:rPr>
              <a:t>Is it referring to the street or to the animal? </a:t>
            </a:r>
            <a:endParaRPr>
              <a:solidFill>
                <a:schemeClr val="dk2"/>
              </a:solidFill>
              <a:latin typeface="Calibri"/>
              <a:ea typeface="Calibri"/>
              <a:cs typeface="Calibri"/>
              <a:sym typeface="Calibri"/>
            </a:endParaRPr>
          </a:p>
          <a:p>
            <a:pPr indent="0" lvl="0" marL="0" rtl="0" algn="l">
              <a:spcBef>
                <a:spcPts val="0"/>
              </a:spcBef>
              <a:spcAft>
                <a:spcPts val="0"/>
              </a:spcAft>
              <a:buNone/>
            </a:pPr>
            <a:r>
              <a:rPr lang="en">
                <a:solidFill>
                  <a:schemeClr val="dk2"/>
                </a:solidFill>
                <a:latin typeface="Calibri"/>
                <a:ea typeface="Calibri"/>
                <a:cs typeface="Calibri"/>
                <a:sym typeface="Calibri"/>
              </a:rPr>
              <a:t>It’s a simple question to a human, but not as simple to an algorithm.</a:t>
            </a:r>
            <a:endParaRPr>
              <a:solidFill>
                <a:schemeClr val="dk2"/>
              </a:solidFill>
              <a:latin typeface="Calibri"/>
              <a:ea typeface="Calibri"/>
              <a:cs typeface="Calibri"/>
              <a:sym typeface="Calibri"/>
            </a:endParaRPr>
          </a:p>
          <a:p>
            <a:pPr indent="0" lvl="0" marL="0" rtl="0" algn="l">
              <a:spcBef>
                <a:spcPts val="0"/>
              </a:spcBef>
              <a:spcAft>
                <a:spcPts val="0"/>
              </a:spcAft>
              <a:buNone/>
            </a:pPr>
            <a:r>
              <a:t/>
            </a:r>
            <a:endParaRPr>
              <a:solidFill>
                <a:schemeClr val="dk2"/>
              </a:solidFill>
              <a:latin typeface="Calibri"/>
              <a:ea typeface="Calibri"/>
              <a:cs typeface="Calibri"/>
              <a:sym typeface="Calibri"/>
            </a:endParaRPr>
          </a:p>
          <a:p>
            <a:pPr indent="0" lvl="0" marL="0" rtl="0" algn="l">
              <a:spcBef>
                <a:spcPts val="0"/>
              </a:spcBef>
              <a:spcAft>
                <a:spcPts val="0"/>
              </a:spcAft>
              <a:buNone/>
            </a:pPr>
            <a:r>
              <a:rPr lang="en">
                <a:solidFill>
                  <a:schemeClr val="dk2"/>
                </a:solidFill>
                <a:latin typeface="Calibri"/>
                <a:ea typeface="Calibri"/>
                <a:cs typeface="Calibri"/>
                <a:sym typeface="Calibri"/>
              </a:rPr>
              <a:t>When the model is processing the word “it”, self-attention allows it to associate “it” with “animal”.</a:t>
            </a:r>
            <a:endParaRPr>
              <a:solidFill>
                <a:schemeClr val="dk2"/>
              </a:solidFill>
              <a:latin typeface="Calibri"/>
              <a:ea typeface="Calibri"/>
              <a:cs typeface="Calibri"/>
              <a:sym typeface="Calibri"/>
            </a:endParaRPr>
          </a:p>
          <a:p>
            <a:pPr indent="0" lvl="0" marL="0" rtl="0" algn="l">
              <a:spcBef>
                <a:spcPts val="0"/>
              </a:spcBef>
              <a:spcAft>
                <a:spcPts val="0"/>
              </a:spcAft>
              <a:buNone/>
            </a:pPr>
            <a:r>
              <a:t/>
            </a:r>
            <a:endParaRPr>
              <a:solidFill>
                <a:schemeClr val="dk2"/>
              </a:solidFill>
              <a:latin typeface="Calibri"/>
              <a:ea typeface="Calibri"/>
              <a:cs typeface="Calibri"/>
              <a:sym typeface="Calibri"/>
            </a:endParaRPr>
          </a:p>
          <a:p>
            <a:pPr indent="0" lvl="0" marL="0" rtl="0" algn="l">
              <a:spcBef>
                <a:spcPts val="0"/>
              </a:spcBef>
              <a:spcAft>
                <a:spcPts val="0"/>
              </a:spcAft>
              <a:buNone/>
            </a:pPr>
            <a:r>
              <a:rPr lang="en">
                <a:solidFill>
                  <a:schemeClr val="dk2"/>
                </a:solidFill>
                <a:latin typeface="Calibri"/>
                <a:ea typeface="Calibri"/>
                <a:cs typeface="Calibri"/>
                <a:sym typeface="Calibri"/>
              </a:rPr>
              <a:t>As the model processes each word (each position in the input sequence), </a:t>
            </a:r>
            <a:r>
              <a:rPr b="1" lang="en">
                <a:solidFill>
                  <a:schemeClr val="dk2"/>
                </a:solidFill>
                <a:latin typeface="Calibri"/>
                <a:ea typeface="Calibri"/>
                <a:cs typeface="Calibri"/>
                <a:sym typeface="Calibri"/>
              </a:rPr>
              <a:t>self attention allows it to look at other positions in the input sequence for clues that can help lead to a better encoding for this word.</a:t>
            </a:r>
            <a:endParaRPr b="1">
              <a:solidFill>
                <a:schemeClr val="dk2"/>
              </a:solidFill>
              <a:latin typeface="Calibri"/>
              <a:ea typeface="Calibri"/>
              <a:cs typeface="Calibri"/>
              <a:sym typeface="Calibri"/>
            </a:endParaRPr>
          </a:p>
        </p:txBody>
      </p:sp>
      <p:pic>
        <p:nvPicPr>
          <p:cNvPr id="247" name="Google Shape;247;p42"/>
          <p:cNvPicPr preferRelativeResize="0"/>
          <p:nvPr/>
        </p:nvPicPr>
        <p:blipFill>
          <a:blip r:embed="rId3">
            <a:alphaModFix/>
          </a:blip>
          <a:stretch>
            <a:fillRect/>
          </a:stretch>
        </p:blipFill>
        <p:spPr>
          <a:xfrm>
            <a:off x="4464650" y="604838"/>
            <a:ext cx="4162425" cy="3933825"/>
          </a:xfrm>
          <a:prstGeom prst="rect">
            <a:avLst/>
          </a:prstGeom>
          <a:noFill/>
          <a:ln>
            <a:noFill/>
          </a:ln>
        </p:spPr>
      </p:pic>
      <p:sp>
        <p:nvSpPr>
          <p:cNvPr id="248" name="Google Shape;248;p42"/>
          <p:cNvSpPr txBox="1"/>
          <p:nvPr/>
        </p:nvSpPr>
        <p:spPr>
          <a:xfrm>
            <a:off x="4514150" y="4467550"/>
            <a:ext cx="4475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Self-attention is the method the Transformer uses to bake the “understanding” of other relevant words into the one we’re currently processing.</a:t>
            </a:r>
            <a:endParaRPr sz="12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3"/>
          <p:cNvSpPr txBox="1"/>
          <p:nvPr>
            <p:ph type="title"/>
          </p:nvPr>
        </p:nvSpPr>
        <p:spPr>
          <a:xfrm>
            <a:off x="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120">
                <a:latin typeface="Calibri"/>
                <a:ea typeface="Calibri"/>
                <a:cs typeface="Calibri"/>
                <a:sym typeface="Calibri"/>
              </a:rPr>
              <a:t>Self-Attention in Detail</a:t>
            </a:r>
            <a:endParaRPr b="1" sz="2120">
              <a:latin typeface="Calibri"/>
              <a:ea typeface="Calibri"/>
              <a:cs typeface="Calibri"/>
              <a:sym typeface="Calibri"/>
            </a:endParaRPr>
          </a:p>
        </p:txBody>
      </p:sp>
      <p:pic>
        <p:nvPicPr>
          <p:cNvPr id="254" name="Google Shape;254;p43"/>
          <p:cNvPicPr preferRelativeResize="0"/>
          <p:nvPr/>
        </p:nvPicPr>
        <p:blipFill>
          <a:blip r:embed="rId3">
            <a:alphaModFix/>
          </a:blip>
          <a:stretch>
            <a:fillRect/>
          </a:stretch>
        </p:blipFill>
        <p:spPr>
          <a:xfrm>
            <a:off x="4086825" y="976575"/>
            <a:ext cx="5057174" cy="3190350"/>
          </a:xfrm>
          <a:prstGeom prst="rect">
            <a:avLst/>
          </a:prstGeom>
          <a:noFill/>
          <a:ln>
            <a:noFill/>
          </a:ln>
        </p:spPr>
      </p:pic>
      <p:sp>
        <p:nvSpPr>
          <p:cNvPr id="255" name="Google Shape;255;p43"/>
          <p:cNvSpPr txBox="1"/>
          <p:nvPr/>
        </p:nvSpPr>
        <p:spPr>
          <a:xfrm>
            <a:off x="124325" y="497250"/>
            <a:ext cx="3923700" cy="441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latin typeface="Calibri"/>
                <a:ea typeface="Calibri"/>
                <a:cs typeface="Calibri"/>
                <a:sym typeface="Calibri"/>
              </a:rPr>
              <a:t>First Step (calculating self-attention): </a:t>
            </a:r>
            <a:endParaRPr b="1"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Start with the input embeddings</a:t>
            </a:r>
            <a:endParaRPr b="1"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Each word in the input sentence is represented by an embedding vector (for example, 512-dimensional).</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Create Query, Key, and Value vectors</a:t>
            </a:r>
            <a:endParaRPr b="1"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For each word embedding, three new vectors are created: Query (Q), Key (K), Value (V)</a:t>
            </a:r>
            <a:endParaRPr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These are obtained by multiplying the embedding with three learned weight matrices.</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Choose smaller dimensions for Q, K, and V</a:t>
            </a:r>
            <a:endParaRPr b="1"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Q, K, and V vectors typically have a smaller dimension (e.g., 64) than the original embedding (e.g., 512).</a:t>
            </a:r>
            <a:endParaRPr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is an architectural choice to reduce computation and make multi-head attention efficient.</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Understand the roles of Q, K, and V</a:t>
            </a:r>
            <a:endParaRPr b="1"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Query represents what the current word is looking for</a:t>
            </a:r>
            <a:endParaRPr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Key represents what each word offers for matching</a:t>
            </a:r>
            <a:endParaRPr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Value represents the information each word contributes</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Prepare for attention computation.</a:t>
            </a:r>
            <a:endParaRPr sz="11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4"/>
          <p:cNvSpPr txBox="1"/>
          <p:nvPr>
            <p:ph type="title"/>
          </p:nvPr>
        </p:nvSpPr>
        <p:spPr>
          <a:xfrm>
            <a:off x="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120">
                <a:latin typeface="Calibri"/>
                <a:ea typeface="Calibri"/>
                <a:cs typeface="Calibri"/>
                <a:sym typeface="Calibri"/>
              </a:rPr>
              <a:t>Self-Attention in Detail</a:t>
            </a:r>
            <a:endParaRPr b="1" sz="2120">
              <a:latin typeface="Calibri"/>
              <a:ea typeface="Calibri"/>
              <a:cs typeface="Calibri"/>
              <a:sym typeface="Calibri"/>
            </a:endParaRPr>
          </a:p>
        </p:txBody>
      </p:sp>
      <p:pic>
        <p:nvPicPr>
          <p:cNvPr id="261" name="Google Shape;261;p44"/>
          <p:cNvPicPr preferRelativeResize="0"/>
          <p:nvPr/>
        </p:nvPicPr>
        <p:blipFill>
          <a:blip r:embed="rId3">
            <a:alphaModFix/>
          </a:blip>
          <a:stretch>
            <a:fillRect/>
          </a:stretch>
        </p:blipFill>
        <p:spPr>
          <a:xfrm>
            <a:off x="3465025" y="1087750"/>
            <a:ext cx="5678975" cy="2968000"/>
          </a:xfrm>
          <a:prstGeom prst="rect">
            <a:avLst/>
          </a:prstGeom>
          <a:noFill/>
          <a:ln>
            <a:noFill/>
          </a:ln>
        </p:spPr>
      </p:pic>
      <p:sp>
        <p:nvSpPr>
          <p:cNvPr id="262" name="Google Shape;262;p44"/>
          <p:cNvSpPr txBox="1"/>
          <p:nvPr/>
        </p:nvSpPr>
        <p:spPr>
          <a:xfrm>
            <a:off x="0" y="616950"/>
            <a:ext cx="3426300" cy="390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latin typeface="Calibri"/>
                <a:ea typeface="Calibri"/>
                <a:cs typeface="Calibri"/>
                <a:sym typeface="Calibri"/>
              </a:rPr>
              <a:t>Second</a:t>
            </a:r>
            <a:r>
              <a:rPr b="1" lang="en" sz="1100">
                <a:solidFill>
                  <a:schemeClr val="dk1"/>
                </a:solidFill>
                <a:latin typeface="Calibri"/>
                <a:ea typeface="Calibri"/>
                <a:cs typeface="Calibri"/>
                <a:sym typeface="Calibri"/>
              </a:rPr>
              <a:t> Step : Calculate attention scores</a:t>
            </a:r>
            <a:endParaRPr b="1"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Select the current word</a:t>
            </a:r>
            <a:endParaRPr b="1"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Choose the word for which self-attention is being computed (for example, the first word “Thinking”)</a:t>
            </a:r>
            <a:endParaRPr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 its Query vector as the reference</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Compare with all words in the sentence</a:t>
            </a:r>
            <a:endParaRPr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Score every word in the input sentence against the current word</a:t>
            </a:r>
            <a:endParaRPr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Each score represents how much attention the current word should give to another word</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Compute scores using dot products</a:t>
            </a:r>
            <a:endParaRPr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score with itself is the dot product of q₁ and k₁</a:t>
            </a:r>
            <a:endParaRPr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score with the second word is the dot product of q₁ and k₂</a:t>
            </a:r>
            <a:endParaRPr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continues for all words in the sentence</a:t>
            </a:r>
            <a:endParaRPr sz="1100">
              <a:solidFill>
                <a:schemeClr val="dk1"/>
              </a:solidFill>
              <a:latin typeface="Calibri"/>
              <a:ea typeface="Calibri"/>
              <a:cs typeface="Calibri"/>
              <a:sym typeface="Calibri"/>
            </a:endParaRPr>
          </a:p>
          <a:p>
            <a:pPr indent="-298450" lvl="1" marL="9144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Higher dot product means higher relevance</a:t>
            </a:r>
            <a:endParaRPr sz="11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5"/>
          <p:cNvSpPr txBox="1"/>
          <p:nvPr>
            <p:ph type="title"/>
          </p:nvPr>
        </p:nvSpPr>
        <p:spPr>
          <a:xfrm>
            <a:off x="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120">
                <a:latin typeface="Calibri"/>
                <a:ea typeface="Calibri"/>
                <a:cs typeface="Calibri"/>
                <a:sym typeface="Calibri"/>
              </a:rPr>
              <a:t>Self-Attention in Detail</a:t>
            </a:r>
            <a:endParaRPr b="1" sz="2120">
              <a:latin typeface="Calibri"/>
              <a:ea typeface="Calibri"/>
              <a:cs typeface="Calibri"/>
              <a:sym typeface="Calibri"/>
            </a:endParaRPr>
          </a:p>
        </p:txBody>
      </p:sp>
      <p:sp>
        <p:nvSpPr>
          <p:cNvPr id="268" name="Google Shape;268;p45"/>
          <p:cNvSpPr txBox="1"/>
          <p:nvPr/>
        </p:nvSpPr>
        <p:spPr>
          <a:xfrm>
            <a:off x="0" y="572700"/>
            <a:ext cx="4110300" cy="42366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100">
                <a:solidFill>
                  <a:schemeClr val="dk1"/>
                </a:solidFill>
                <a:latin typeface="Calibri"/>
                <a:ea typeface="Calibri"/>
                <a:cs typeface="Calibri"/>
                <a:sym typeface="Calibri"/>
              </a:rPr>
              <a:t>Third and fourth steps : Scale scores and apply softmax</a:t>
            </a:r>
            <a:endParaRPr b="1" sz="11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1100">
              <a:solidFill>
                <a:schemeClr val="dk1"/>
              </a:solidFill>
              <a:latin typeface="Calibri"/>
              <a:ea typeface="Calibri"/>
              <a:cs typeface="Calibri"/>
              <a:sym typeface="Calibri"/>
            </a:endParaRPr>
          </a:p>
          <a:p>
            <a:pPr indent="-298450" lvl="0" marL="457200" rtl="0" algn="just">
              <a:lnSpc>
                <a:spcPct val="115000"/>
              </a:lnSpc>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Scale the attention scores</a:t>
            </a:r>
            <a:endParaRPr b="1" sz="1100">
              <a:solidFill>
                <a:schemeClr val="dk1"/>
              </a:solidFill>
              <a:latin typeface="Calibri"/>
              <a:ea typeface="Calibri"/>
              <a:cs typeface="Calibri"/>
              <a:sym typeface="Calibri"/>
            </a:endParaRPr>
          </a:p>
          <a:p>
            <a:pPr indent="-298450" lvl="1" marL="914400" rtl="0" algn="just">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Divide each attention score by the square root of the key dimension</a:t>
            </a:r>
            <a:endParaRPr sz="1100">
              <a:solidFill>
                <a:schemeClr val="dk1"/>
              </a:solidFill>
              <a:latin typeface="Calibri"/>
              <a:ea typeface="Calibri"/>
              <a:cs typeface="Calibri"/>
              <a:sym typeface="Calibri"/>
            </a:endParaRPr>
          </a:p>
          <a:p>
            <a:pPr indent="-298450" lvl="1" marL="914400" rtl="0" algn="just">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the original Transformer, this value is </a:t>
            </a:r>
            <a:r>
              <a:rPr lang="en" sz="1100">
                <a:solidFill>
                  <a:schemeClr val="dk1"/>
                </a:solidFill>
                <a:latin typeface="Calibri"/>
                <a:ea typeface="Calibri"/>
                <a:cs typeface="Calibri"/>
                <a:sym typeface="Calibri"/>
              </a:rPr>
              <a:t>√d</a:t>
            </a:r>
            <a:r>
              <a:rPr baseline="-25000" lang="en" sz="1100">
                <a:solidFill>
                  <a:schemeClr val="dk1"/>
                </a:solidFill>
                <a:latin typeface="Calibri"/>
                <a:ea typeface="Calibri"/>
                <a:cs typeface="Calibri"/>
                <a:sym typeface="Calibri"/>
              </a:rPr>
              <a:t>k</a:t>
            </a:r>
            <a:r>
              <a:rPr lang="en" sz="1100">
                <a:solidFill>
                  <a:schemeClr val="dk1"/>
                </a:solidFill>
                <a:latin typeface="Calibri"/>
                <a:ea typeface="Calibri"/>
                <a:cs typeface="Calibri"/>
                <a:sym typeface="Calibri"/>
              </a:rPr>
              <a:t> = </a:t>
            </a:r>
            <a:r>
              <a:rPr lang="en" sz="1100">
                <a:solidFill>
                  <a:schemeClr val="dk1"/>
                </a:solidFill>
                <a:latin typeface="Calibri"/>
                <a:ea typeface="Calibri"/>
                <a:cs typeface="Calibri"/>
                <a:sym typeface="Calibri"/>
              </a:rPr>
              <a:t>√64 = 8 </a:t>
            </a:r>
            <a:endParaRPr sz="1100">
              <a:solidFill>
                <a:schemeClr val="dk1"/>
              </a:solidFill>
              <a:latin typeface="Calibri"/>
              <a:ea typeface="Calibri"/>
              <a:cs typeface="Calibri"/>
              <a:sym typeface="Calibri"/>
            </a:endParaRPr>
          </a:p>
          <a:p>
            <a:pPr indent="0" lvl="0" marL="914400" rtl="0" algn="just">
              <a:lnSpc>
                <a:spcPct val="115000"/>
              </a:lnSpc>
              <a:spcBef>
                <a:spcPts val="0"/>
              </a:spcBef>
              <a:spcAft>
                <a:spcPts val="0"/>
              </a:spcAft>
              <a:buNone/>
            </a:pPr>
            <a:r>
              <a:rPr lang="en" sz="1100">
                <a:solidFill>
                  <a:schemeClr val="dk1"/>
                </a:solidFill>
                <a:latin typeface="Calibri"/>
                <a:ea typeface="Calibri"/>
                <a:cs typeface="Calibri"/>
                <a:sym typeface="Calibri"/>
              </a:rPr>
              <a:t>(d</a:t>
            </a:r>
            <a:r>
              <a:rPr baseline="-25000" lang="en" sz="1100">
                <a:solidFill>
                  <a:schemeClr val="dk1"/>
                </a:solidFill>
                <a:latin typeface="Calibri"/>
                <a:ea typeface="Calibri"/>
                <a:cs typeface="Calibri"/>
                <a:sym typeface="Calibri"/>
              </a:rPr>
              <a:t>k</a:t>
            </a:r>
            <a:r>
              <a:rPr lang="en" sz="1100">
                <a:solidFill>
                  <a:schemeClr val="dk1"/>
                </a:solidFill>
                <a:latin typeface="Calibri"/>
                <a:ea typeface="Calibri"/>
                <a:cs typeface="Calibri"/>
                <a:sym typeface="Calibri"/>
              </a:rPr>
              <a:t> = embedding dimension / number of attention heads)</a:t>
            </a:r>
            <a:endParaRPr sz="1100">
              <a:solidFill>
                <a:schemeClr val="dk1"/>
              </a:solidFill>
              <a:latin typeface="Calibri"/>
              <a:ea typeface="Calibri"/>
              <a:cs typeface="Calibri"/>
              <a:sym typeface="Calibri"/>
            </a:endParaRPr>
          </a:p>
          <a:p>
            <a:pPr indent="-298450" lvl="1" marL="914400" rtl="0" algn="just">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Scaling prevents very large values and leads to more stable gradients during training</a:t>
            </a:r>
            <a:endParaRPr sz="1100">
              <a:solidFill>
                <a:schemeClr val="dk1"/>
              </a:solidFill>
              <a:latin typeface="Calibri"/>
              <a:ea typeface="Calibri"/>
              <a:cs typeface="Calibri"/>
              <a:sym typeface="Calibri"/>
            </a:endParaRPr>
          </a:p>
          <a:p>
            <a:pPr indent="-298450" lvl="0" marL="457200" rtl="0" algn="just">
              <a:lnSpc>
                <a:spcPct val="115000"/>
              </a:lnSpc>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Apply softmax normalization</a:t>
            </a:r>
            <a:endParaRPr b="1" sz="1100">
              <a:solidFill>
                <a:schemeClr val="dk1"/>
              </a:solidFill>
              <a:latin typeface="Calibri"/>
              <a:ea typeface="Calibri"/>
              <a:cs typeface="Calibri"/>
              <a:sym typeface="Calibri"/>
            </a:endParaRPr>
          </a:p>
          <a:p>
            <a:pPr indent="-298450" lvl="1" marL="914400" rtl="0" algn="just">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Pass the scaled scores through a softmax function</a:t>
            </a:r>
            <a:endParaRPr sz="1100">
              <a:solidFill>
                <a:schemeClr val="dk1"/>
              </a:solidFill>
              <a:latin typeface="Calibri"/>
              <a:ea typeface="Calibri"/>
              <a:cs typeface="Calibri"/>
              <a:sym typeface="Calibri"/>
            </a:endParaRPr>
          </a:p>
          <a:p>
            <a:pPr indent="-298450" lvl="1" marL="914400" rtl="0" algn="just">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Sof</a:t>
            </a:r>
            <a:r>
              <a:rPr lang="en" sz="1100">
                <a:solidFill>
                  <a:schemeClr val="dk1"/>
                </a:solidFill>
                <a:latin typeface="Calibri"/>
                <a:ea typeface="Calibri"/>
                <a:cs typeface="Calibri"/>
                <a:sym typeface="Calibri"/>
              </a:rPr>
              <a:t>t</a:t>
            </a:r>
            <a:r>
              <a:rPr lang="en" sz="1100">
                <a:solidFill>
                  <a:schemeClr val="dk1"/>
                </a:solidFill>
                <a:latin typeface="Calibri"/>
                <a:ea typeface="Calibri"/>
                <a:cs typeface="Calibri"/>
                <a:sym typeface="Calibri"/>
              </a:rPr>
              <a:t>max converts the scores into positive values that sum to 1</a:t>
            </a:r>
            <a:endParaRPr sz="1100">
              <a:solidFill>
                <a:schemeClr val="dk1"/>
              </a:solidFill>
              <a:latin typeface="Calibri"/>
              <a:ea typeface="Calibri"/>
              <a:cs typeface="Calibri"/>
              <a:sym typeface="Calibri"/>
            </a:endParaRPr>
          </a:p>
          <a:p>
            <a:pPr indent="-298450" lvl="0" marL="457200" rtl="0" algn="just">
              <a:lnSpc>
                <a:spcPct val="115000"/>
              </a:lnSpc>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Interpret the softmax output</a:t>
            </a:r>
            <a:endParaRPr b="1" sz="1100">
              <a:solidFill>
                <a:schemeClr val="dk1"/>
              </a:solidFill>
              <a:latin typeface="Calibri"/>
              <a:ea typeface="Calibri"/>
              <a:cs typeface="Calibri"/>
              <a:sym typeface="Calibri"/>
            </a:endParaRPr>
          </a:p>
          <a:p>
            <a:pPr indent="-298450" lvl="1" marL="914400" rtl="0" algn="just">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Each softmax value represents how much attention the current word gives to another word</a:t>
            </a:r>
            <a:endParaRPr sz="1100">
              <a:solidFill>
                <a:schemeClr val="dk1"/>
              </a:solidFill>
              <a:latin typeface="Calibri"/>
              <a:ea typeface="Calibri"/>
              <a:cs typeface="Calibri"/>
              <a:sym typeface="Calibri"/>
            </a:endParaRPr>
          </a:p>
          <a:p>
            <a:pPr indent="-298450" lvl="1" marL="914400" rtl="0" algn="just">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current word usually has the highest weight</a:t>
            </a:r>
            <a:endParaRPr sz="1100">
              <a:solidFill>
                <a:schemeClr val="dk1"/>
              </a:solidFill>
              <a:latin typeface="Calibri"/>
              <a:ea typeface="Calibri"/>
              <a:cs typeface="Calibri"/>
              <a:sym typeface="Calibri"/>
            </a:endParaRPr>
          </a:p>
          <a:p>
            <a:pPr indent="-298450" lvl="1" marL="914400" rtl="0" algn="just">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Other words can also receive high weights if they are contextually relevant</a:t>
            </a:r>
            <a:endParaRPr sz="1100">
              <a:solidFill>
                <a:schemeClr val="dk1"/>
              </a:solidFill>
              <a:latin typeface="Calibri"/>
              <a:ea typeface="Calibri"/>
              <a:cs typeface="Calibri"/>
              <a:sym typeface="Calibri"/>
            </a:endParaRPr>
          </a:p>
        </p:txBody>
      </p:sp>
      <p:pic>
        <p:nvPicPr>
          <p:cNvPr id="269" name="Google Shape;269;p45"/>
          <p:cNvPicPr preferRelativeResize="0"/>
          <p:nvPr/>
        </p:nvPicPr>
        <p:blipFill>
          <a:blip r:embed="rId3">
            <a:alphaModFix/>
          </a:blip>
          <a:stretch>
            <a:fillRect/>
          </a:stretch>
        </p:blipFill>
        <p:spPr>
          <a:xfrm>
            <a:off x="4192125" y="1131774"/>
            <a:ext cx="4951875" cy="31184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6"/>
          <p:cNvSpPr txBox="1"/>
          <p:nvPr>
            <p:ph type="title"/>
          </p:nvPr>
        </p:nvSpPr>
        <p:spPr>
          <a:xfrm>
            <a:off x="0" y="3651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120" u="sng">
                <a:solidFill>
                  <a:schemeClr val="hlink"/>
                </a:solidFill>
                <a:latin typeface="Calibri"/>
                <a:ea typeface="Calibri"/>
                <a:cs typeface="Calibri"/>
                <a:sym typeface="Calibri"/>
                <a:hlinkClick r:id="rId3"/>
              </a:rPr>
              <a:t>Why is scaling attention scores by 1/√d_k so critical for transformers?</a:t>
            </a:r>
            <a:endParaRPr b="1" sz="2120">
              <a:latin typeface="Calibri"/>
              <a:ea typeface="Calibri"/>
              <a:cs typeface="Calibri"/>
              <a:sym typeface="Calibri"/>
            </a:endParaRPr>
          </a:p>
        </p:txBody>
      </p:sp>
      <p:pic>
        <p:nvPicPr>
          <p:cNvPr id="275" name="Google Shape;275;p46"/>
          <p:cNvPicPr preferRelativeResize="0"/>
          <p:nvPr/>
        </p:nvPicPr>
        <p:blipFill>
          <a:blip r:embed="rId4">
            <a:alphaModFix/>
          </a:blip>
          <a:stretch>
            <a:fillRect/>
          </a:stretch>
        </p:blipFill>
        <p:spPr>
          <a:xfrm>
            <a:off x="4192125" y="756936"/>
            <a:ext cx="4951875" cy="3118475"/>
          </a:xfrm>
          <a:prstGeom prst="rect">
            <a:avLst/>
          </a:prstGeom>
          <a:noFill/>
          <a:ln>
            <a:noFill/>
          </a:ln>
        </p:spPr>
      </p:pic>
      <p:sp>
        <p:nvSpPr>
          <p:cNvPr id="276" name="Google Shape;276;p46"/>
          <p:cNvSpPr txBox="1"/>
          <p:nvPr/>
        </p:nvSpPr>
        <p:spPr>
          <a:xfrm>
            <a:off x="46600" y="997950"/>
            <a:ext cx="4029000" cy="4063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In self-attention, relevance scores are computed using dot products:</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q•k = q₁k₁ + q₂k₂ + ... + q</a:t>
            </a:r>
            <a:r>
              <a:rPr baseline="-25000" lang="en">
                <a:solidFill>
                  <a:schemeClr val="dk1"/>
                </a:solidFill>
                <a:latin typeface="Calibri"/>
                <a:ea typeface="Calibri"/>
                <a:cs typeface="Calibri"/>
                <a:sym typeface="Calibri"/>
              </a:rPr>
              <a:t>dk</a:t>
            </a:r>
            <a:r>
              <a:rPr lang="en">
                <a:solidFill>
                  <a:schemeClr val="dk1"/>
                </a:solidFill>
                <a:latin typeface="Calibri"/>
                <a:ea typeface="Calibri"/>
                <a:cs typeface="Calibri"/>
                <a:sym typeface="Calibri"/>
              </a:rPr>
              <a:t> × k</a:t>
            </a:r>
            <a:r>
              <a:rPr baseline="-25000" lang="en">
                <a:solidFill>
                  <a:schemeClr val="dk1"/>
                </a:solidFill>
                <a:latin typeface="Calibri"/>
                <a:ea typeface="Calibri"/>
                <a:cs typeface="Calibri"/>
                <a:sym typeface="Calibri"/>
              </a:rPr>
              <a:t>dk</a:t>
            </a:r>
            <a:endParaRPr baseline="-250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As the key/query dimension dk increases:</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The number of terms in the dot product increases</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Dot-product values naturally grow larger</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Large dot-product values cause softmax saturation:</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One score dominates the softmax</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Attention weights become nearly one-hot</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Most tokens receive near-zero probability</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When softmax saturates:</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Gradients vanish since p(1-p) -&gt; 0</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Learning becomes unstable and inefficient</a:t>
            </a:r>
            <a:endParaRPr>
              <a:solidFill>
                <a:schemeClr val="dk1"/>
              </a:solidFill>
              <a:latin typeface="Calibri"/>
              <a:ea typeface="Calibri"/>
              <a:cs typeface="Calibri"/>
              <a:sym typeface="Calibri"/>
            </a:endParaRPr>
          </a:p>
        </p:txBody>
      </p:sp>
      <p:sp>
        <p:nvSpPr>
          <p:cNvPr id="277" name="Google Shape;277;p46"/>
          <p:cNvSpPr txBox="1"/>
          <p:nvPr/>
        </p:nvSpPr>
        <p:spPr>
          <a:xfrm>
            <a:off x="4192125" y="3799350"/>
            <a:ext cx="4475400" cy="1262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Scaling by 1/√d_k,</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Compensates for the increase in dot-product magnitude</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Keeps attention distributions smooth</a:t>
            </a:r>
            <a:endParaRPr>
              <a:solidFill>
                <a:schemeClr val="dk1"/>
              </a:solidFill>
              <a:latin typeface="Calibri"/>
              <a:ea typeface="Calibri"/>
              <a:cs typeface="Calibri"/>
              <a:sym typeface="Calibri"/>
            </a:endParaRPr>
          </a:p>
          <a:p>
            <a:pPr indent="-317500" lvl="1" marL="9144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Ensures stable gradients and effective learning</a:t>
            </a:r>
            <a:endParaRPr>
              <a:solidFill>
                <a:schemeClr val="dk1"/>
              </a:solidFill>
              <a:latin typeface="Calibri"/>
              <a:ea typeface="Calibri"/>
              <a:cs typeface="Calibri"/>
              <a:sym typeface="Calibri"/>
            </a:endParaRPr>
          </a:p>
        </p:txBody>
      </p:sp>
      <p:sp>
        <p:nvSpPr>
          <p:cNvPr id="278" name="Google Shape;278;p46"/>
          <p:cNvSpPr txBox="1"/>
          <p:nvPr>
            <p:ph type="title"/>
          </p:nvPr>
        </p:nvSpPr>
        <p:spPr>
          <a:xfrm>
            <a:off x="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120">
                <a:latin typeface="Calibri"/>
                <a:ea typeface="Calibri"/>
                <a:cs typeface="Calibri"/>
                <a:sym typeface="Calibri"/>
              </a:rPr>
              <a:t>Self-Attention in Detail</a:t>
            </a:r>
            <a:endParaRPr b="1" sz="2120">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7"/>
          <p:cNvSpPr txBox="1"/>
          <p:nvPr>
            <p:ph type="title"/>
          </p:nvPr>
        </p:nvSpPr>
        <p:spPr>
          <a:xfrm>
            <a:off x="96600" y="5825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120" u="sng">
                <a:solidFill>
                  <a:schemeClr val="hlink"/>
                </a:solidFill>
                <a:latin typeface="Calibri"/>
                <a:ea typeface="Calibri"/>
                <a:cs typeface="Calibri"/>
                <a:sym typeface="Calibri"/>
                <a:hlinkClick r:id="rId3"/>
              </a:rPr>
              <a:t>Why scale by √dₖ and not dₖ, dₖ², or any other function?</a:t>
            </a:r>
            <a:endParaRPr b="1" sz="2120">
              <a:latin typeface="Calibri"/>
              <a:ea typeface="Calibri"/>
              <a:cs typeface="Calibri"/>
              <a:sym typeface="Calibri"/>
            </a:endParaRPr>
          </a:p>
        </p:txBody>
      </p:sp>
      <p:sp>
        <p:nvSpPr>
          <p:cNvPr id="284" name="Google Shape;284;p47"/>
          <p:cNvSpPr txBox="1"/>
          <p:nvPr/>
        </p:nvSpPr>
        <p:spPr>
          <a:xfrm>
            <a:off x="96600" y="1155250"/>
            <a:ext cx="4475400" cy="38790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Dot-product attention score</a:t>
            </a:r>
            <a:endParaRPr b="1"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raw attention score is computed as </a:t>
            </a:r>
            <a:endParaRPr sz="1200">
              <a:solidFill>
                <a:schemeClr val="dk1"/>
              </a:solidFill>
              <a:latin typeface="Calibri"/>
              <a:ea typeface="Calibri"/>
              <a:cs typeface="Calibri"/>
              <a:sym typeface="Calibri"/>
            </a:endParaRPr>
          </a:p>
          <a:p>
            <a:pPr indent="-304800" lvl="2" marL="13716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x = q · k = ∑ᵢ₌₁ᵈᵏ qᵢkᵢ</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Variance of the dot product</a:t>
            </a:r>
            <a:endParaRPr b="1"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dot product is a sum of dₖ independent terms.</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Therefore, the variance of x grows with dₖ.</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 dₖ increases, attention scores become larger and unstable.</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General scaling idea</a:t>
            </a:r>
            <a:endParaRPr b="1"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Assume we scale the dot product by a function f(dₖ):</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 = x / f(dₖ)</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The variance of the scaled score becomes:</a:t>
            </a:r>
            <a:endParaRPr b="1"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Var(y) = dₖ / f(dₖ)²</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Requirement for stable attention</a:t>
            </a:r>
            <a:endParaRPr b="1"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stable training, the variance of attention scores should remain approximately constant</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Var(y) ≈ 1</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This gives:</a:t>
            </a:r>
            <a:endParaRPr b="1"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dₖ / f(dₖ)² ≈ 1</a:t>
            </a:r>
            <a:endParaRPr b="1" sz="1200">
              <a:solidFill>
                <a:schemeClr val="dk1"/>
              </a:solidFill>
              <a:latin typeface="Calibri"/>
              <a:ea typeface="Calibri"/>
              <a:cs typeface="Calibri"/>
              <a:sym typeface="Calibri"/>
            </a:endParaRPr>
          </a:p>
          <a:p>
            <a:pPr indent="0" lvl="0" marL="914400" rtl="0" algn="l">
              <a:spcBef>
                <a:spcPts val="0"/>
              </a:spcBef>
              <a:spcAft>
                <a:spcPts val="0"/>
              </a:spcAft>
              <a:buNone/>
            </a:pPr>
            <a:r>
              <a:rPr b="1" lang="en" sz="1200">
                <a:solidFill>
                  <a:schemeClr val="dk1"/>
                </a:solidFill>
                <a:latin typeface="Calibri"/>
                <a:ea typeface="Calibri"/>
                <a:cs typeface="Calibri"/>
                <a:sym typeface="Calibri"/>
              </a:rPr>
              <a:t>⇒ f(dₖ) = √dₖ</a:t>
            </a:r>
            <a:endParaRPr b="1" sz="1200">
              <a:solidFill>
                <a:schemeClr val="dk1"/>
              </a:solidFill>
              <a:latin typeface="Calibri"/>
              <a:ea typeface="Calibri"/>
              <a:cs typeface="Calibri"/>
              <a:sym typeface="Calibri"/>
            </a:endParaRPr>
          </a:p>
        </p:txBody>
      </p:sp>
      <p:sp>
        <p:nvSpPr>
          <p:cNvPr id="285" name="Google Shape;285;p47"/>
          <p:cNvSpPr txBox="1"/>
          <p:nvPr/>
        </p:nvSpPr>
        <p:spPr>
          <a:xfrm>
            <a:off x="4668600" y="1155250"/>
            <a:ext cx="4475400" cy="332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alibri"/>
                <a:ea typeface="Calibri"/>
                <a:cs typeface="Calibri"/>
                <a:sym typeface="Calibri"/>
              </a:rPr>
              <a:t>Why not scale by other functions?</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Scaling by dₖ</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Var(y) = dₖ / dₖ² = 1 / dₖ</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Scores become too small</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Softmax becomes too flat</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Attention becomes weak</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Scaling by dₖ²</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Variance collapses even faster</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Attention becomes ineffective</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 scaling</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Variance grows with dₖ</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Softmax saturates</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Gradients vanish</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Scaling by √dₖ exactly cancels the growth in dot-product variance, keeps attention scores well-behaved, and ensures stable and effective learning.</a:t>
            </a:r>
            <a:endParaRPr b="1" sz="1200">
              <a:solidFill>
                <a:schemeClr val="dk1"/>
              </a:solidFill>
              <a:latin typeface="Calibri"/>
              <a:ea typeface="Calibri"/>
              <a:cs typeface="Calibri"/>
              <a:sym typeface="Calibri"/>
            </a:endParaRPr>
          </a:p>
        </p:txBody>
      </p:sp>
      <p:sp>
        <p:nvSpPr>
          <p:cNvPr id="286" name="Google Shape;286;p47"/>
          <p:cNvSpPr txBox="1"/>
          <p:nvPr>
            <p:ph type="title"/>
          </p:nvPr>
        </p:nvSpPr>
        <p:spPr>
          <a:xfrm>
            <a:off x="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120"/>
              <a:t>Self-Attention in Detail</a:t>
            </a:r>
            <a:endParaRPr b="1" sz="212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Self-Attention in Detail</a:t>
            </a:r>
            <a:endParaRPr b="1">
              <a:latin typeface="Calibri"/>
              <a:ea typeface="Calibri"/>
              <a:cs typeface="Calibri"/>
              <a:sym typeface="Calibri"/>
            </a:endParaRPr>
          </a:p>
        </p:txBody>
      </p:sp>
      <p:pic>
        <p:nvPicPr>
          <p:cNvPr id="292" name="Google Shape;292;p48"/>
          <p:cNvPicPr preferRelativeResize="0"/>
          <p:nvPr/>
        </p:nvPicPr>
        <p:blipFill>
          <a:blip r:embed="rId3">
            <a:alphaModFix/>
          </a:blip>
          <a:stretch>
            <a:fillRect/>
          </a:stretch>
        </p:blipFill>
        <p:spPr>
          <a:xfrm>
            <a:off x="4655275" y="344400"/>
            <a:ext cx="4488722" cy="4265999"/>
          </a:xfrm>
          <a:prstGeom prst="rect">
            <a:avLst/>
          </a:prstGeom>
          <a:noFill/>
          <a:ln>
            <a:noFill/>
          </a:ln>
        </p:spPr>
      </p:pic>
      <p:sp>
        <p:nvSpPr>
          <p:cNvPr id="293" name="Google Shape;293;p48"/>
          <p:cNvSpPr txBox="1"/>
          <p:nvPr/>
        </p:nvSpPr>
        <p:spPr>
          <a:xfrm>
            <a:off x="96600" y="761425"/>
            <a:ext cx="4475400" cy="35094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5th Step: Weight the value vectors</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Multiply each Value (V) vector by its corresponding softmax attention score</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Purpose:</a:t>
            </a:r>
            <a:endParaRPr sz="1200">
              <a:solidFill>
                <a:schemeClr val="dk1"/>
              </a:solidFill>
              <a:latin typeface="Calibri"/>
              <a:ea typeface="Calibri"/>
              <a:cs typeface="Calibri"/>
              <a:sym typeface="Calibri"/>
            </a:endParaRPr>
          </a:p>
          <a:p>
            <a:pPr indent="-304800" lvl="2" marL="13716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Preserve information from highly relevant words</a:t>
            </a:r>
            <a:endParaRPr sz="1200">
              <a:solidFill>
                <a:schemeClr val="dk1"/>
              </a:solidFill>
              <a:latin typeface="Calibri"/>
              <a:ea typeface="Calibri"/>
              <a:cs typeface="Calibri"/>
              <a:sym typeface="Calibri"/>
            </a:endParaRPr>
          </a:p>
          <a:p>
            <a:pPr indent="-304800" lvl="2" marL="13716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Suppress irrelevant words by multiplying them with very small weights (e.g., 0.001)</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6th Step: Sum the weighted value vectors</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Add all weighted value vectors together</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sum produces:</a:t>
            </a:r>
            <a:endParaRPr sz="1200">
              <a:solidFill>
                <a:schemeClr val="dk1"/>
              </a:solidFill>
              <a:latin typeface="Calibri"/>
              <a:ea typeface="Calibri"/>
              <a:cs typeface="Calibri"/>
              <a:sym typeface="Calibri"/>
            </a:endParaRPr>
          </a:p>
          <a:p>
            <a:pPr indent="-304800" lvl="2" marL="13716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output of the self-attention layer for the current position (token)</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 sz="1200">
                <a:solidFill>
                  <a:schemeClr val="dk1"/>
                </a:solidFill>
                <a:latin typeface="Calibri"/>
                <a:ea typeface="Calibri"/>
                <a:cs typeface="Calibri"/>
                <a:sym typeface="Calibri"/>
              </a:rPr>
              <a:t>After self-attention</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resulting vector is a context-aware representation of the token</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vector is passed to the feed-forward neural network</a:t>
            </a:r>
            <a:endParaRPr sz="12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Matrix Calculation of Self-Attention</a:t>
            </a:r>
            <a:endParaRPr b="1">
              <a:latin typeface="Calibri"/>
              <a:ea typeface="Calibri"/>
              <a:cs typeface="Calibri"/>
              <a:sym typeface="Calibri"/>
            </a:endParaRPr>
          </a:p>
        </p:txBody>
      </p:sp>
      <p:sp>
        <p:nvSpPr>
          <p:cNvPr id="299" name="Google Shape;299;p49"/>
          <p:cNvSpPr txBox="1"/>
          <p:nvPr/>
        </p:nvSpPr>
        <p:spPr>
          <a:xfrm>
            <a:off x="139850" y="551650"/>
            <a:ext cx="44754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The first step is to calculate the Query, Key, and Value matrices. We do that by packing our embeddings into a matrix X, and multiplying it by the weight matrices we’ve trained (WQ, WK, WV).</a:t>
            </a:r>
            <a:endParaRPr sz="1800">
              <a:solidFill>
                <a:schemeClr val="dk1"/>
              </a:solidFill>
              <a:latin typeface="Calibri"/>
              <a:ea typeface="Calibri"/>
              <a:cs typeface="Calibri"/>
              <a:sym typeface="Calibri"/>
            </a:endParaRPr>
          </a:p>
        </p:txBody>
      </p:sp>
      <p:pic>
        <p:nvPicPr>
          <p:cNvPr id="300" name="Google Shape;300;p49"/>
          <p:cNvPicPr preferRelativeResize="0"/>
          <p:nvPr/>
        </p:nvPicPr>
        <p:blipFill>
          <a:blip r:embed="rId3">
            <a:alphaModFix/>
          </a:blip>
          <a:stretch>
            <a:fillRect/>
          </a:stretch>
        </p:blipFill>
        <p:spPr>
          <a:xfrm>
            <a:off x="5420300" y="0"/>
            <a:ext cx="3766787" cy="4266000"/>
          </a:xfrm>
          <a:prstGeom prst="rect">
            <a:avLst/>
          </a:prstGeom>
          <a:noFill/>
          <a:ln>
            <a:noFill/>
          </a:ln>
        </p:spPr>
      </p:pic>
      <p:sp>
        <p:nvSpPr>
          <p:cNvPr id="301" name="Google Shape;301;p49"/>
          <p:cNvSpPr txBox="1"/>
          <p:nvPr/>
        </p:nvSpPr>
        <p:spPr>
          <a:xfrm>
            <a:off x="5143500" y="4164525"/>
            <a:ext cx="4017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Every row in the X matrix corresponds to a word in the input sentence. We again see the difference in size of the embedding vector (512, or 4 boxes in the figure), and the q/k/v vectors (64, or 3 boxes in the figure)</a:t>
            </a:r>
            <a:endParaRPr sz="12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0"/>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Matrix Calculation of Self-Attention</a:t>
            </a:r>
            <a:endParaRPr b="1">
              <a:latin typeface="Calibri"/>
              <a:ea typeface="Calibri"/>
              <a:cs typeface="Calibri"/>
              <a:sym typeface="Calibri"/>
            </a:endParaRPr>
          </a:p>
        </p:txBody>
      </p:sp>
      <p:sp>
        <p:nvSpPr>
          <p:cNvPr id="307" name="Google Shape;307;p50"/>
          <p:cNvSpPr txBox="1"/>
          <p:nvPr/>
        </p:nvSpPr>
        <p:spPr>
          <a:xfrm>
            <a:off x="139850" y="551650"/>
            <a:ext cx="44754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Finally, since we’re dealing with matrices, we can condense steps two through six in one formula to calculate the outputs of the self-attention layer.</a:t>
            </a:r>
            <a:endParaRPr sz="1800">
              <a:solidFill>
                <a:schemeClr val="dk1"/>
              </a:solidFill>
              <a:latin typeface="Calibri"/>
              <a:ea typeface="Calibri"/>
              <a:cs typeface="Calibri"/>
              <a:sym typeface="Calibri"/>
            </a:endParaRPr>
          </a:p>
        </p:txBody>
      </p:sp>
      <p:pic>
        <p:nvPicPr>
          <p:cNvPr id="308" name="Google Shape;308;p50"/>
          <p:cNvPicPr preferRelativeResize="0"/>
          <p:nvPr/>
        </p:nvPicPr>
        <p:blipFill>
          <a:blip r:embed="rId3">
            <a:alphaModFix/>
          </a:blip>
          <a:stretch>
            <a:fillRect/>
          </a:stretch>
        </p:blipFill>
        <p:spPr>
          <a:xfrm>
            <a:off x="429800" y="1927125"/>
            <a:ext cx="7660993" cy="29940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1"/>
          <p:cNvSpPr txBox="1"/>
          <p:nvPr>
            <p:ph type="title"/>
          </p:nvPr>
        </p:nvSpPr>
        <p:spPr>
          <a:xfrm>
            <a:off x="320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The Beast With Many Heads (Multi-headed Attention)</a:t>
            </a:r>
            <a:endParaRPr b="1">
              <a:latin typeface="Calibri"/>
              <a:ea typeface="Calibri"/>
              <a:cs typeface="Calibri"/>
              <a:sym typeface="Calibri"/>
            </a:endParaRPr>
          </a:p>
        </p:txBody>
      </p:sp>
      <p:pic>
        <p:nvPicPr>
          <p:cNvPr id="314" name="Google Shape;314;p51"/>
          <p:cNvPicPr preferRelativeResize="0"/>
          <p:nvPr/>
        </p:nvPicPr>
        <p:blipFill>
          <a:blip r:embed="rId3">
            <a:alphaModFix/>
          </a:blip>
          <a:stretch>
            <a:fillRect/>
          </a:stretch>
        </p:blipFill>
        <p:spPr>
          <a:xfrm>
            <a:off x="3809625" y="894763"/>
            <a:ext cx="5334376" cy="3353975"/>
          </a:xfrm>
          <a:prstGeom prst="rect">
            <a:avLst/>
          </a:prstGeom>
          <a:noFill/>
          <a:ln>
            <a:noFill/>
          </a:ln>
        </p:spPr>
      </p:pic>
      <p:sp>
        <p:nvSpPr>
          <p:cNvPr id="315" name="Google Shape;315;p51"/>
          <p:cNvSpPr txBox="1"/>
          <p:nvPr/>
        </p:nvSpPr>
        <p:spPr>
          <a:xfrm>
            <a:off x="87825" y="525900"/>
            <a:ext cx="3721800" cy="461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alibri"/>
                <a:ea typeface="Calibri"/>
                <a:cs typeface="Calibri"/>
                <a:sym typeface="Calibri"/>
              </a:rPr>
              <a:t>Benefit 1: Focus on different positions</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A single attention output can be dominated by the current word.</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Multiple heads allow the model to:</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Attend to different words simultaneously</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Capture long-range and subtle dependencies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Example:</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In the sentence</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“The animal didn’t cross the street because it was too tired”.</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Multi-head attention helps determine what “it” refers to</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1" lang="en" sz="1200">
                <a:solidFill>
                  <a:schemeClr val="dk1"/>
                </a:solidFill>
                <a:latin typeface="Calibri"/>
                <a:ea typeface="Calibri"/>
                <a:cs typeface="Calibri"/>
                <a:sym typeface="Calibri"/>
              </a:rPr>
              <a:t>Benefit 2: Multiple representation subspaces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Multi-head attention uses: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1" lang="en" sz="1200">
                <a:solidFill>
                  <a:schemeClr val="dk1"/>
                </a:solidFill>
                <a:latin typeface="Calibri"/>
                <a:ea typeface="Calibri"/>
                <a:cs typeface="Calibri"/>
                <a:sym typeface="Calibri"/>
              </a:rPr>
              <a:t>Multiple independent sets of Query, Key, and Value matrices</a:t>
            </a:r>
            <a:endParaRPr b="1"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head:</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Has its own Q, K, V projections</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Is randomly initialized</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Learns a different way to represent relationships</a:t>
            </a:r>
            <a:endParaRPr sz="1200">
              <a:solidFill>
                <a:schemeClr val="dk1"/>
              </a:solidFill>
              <a:latin typeface="Calibri"/>
              <a:ea typeface="Calibri"/>
              <a:cs typeface="Calibri"/>
              <a:sym typeface="Calibri"/>
            </a:endParaRPr>
          </a:p>
        </p:txBody>
      </p:sp>
      <p:sp>
        <p:nvSpPr>
          <p:cNvPr id="316" name="Google Shape;316;p51"/>
          <p:cNvSpPr txBox="1"/>
          <p:nvPr/>
        </p:nvSpPr>
        <p:spPr>
          <a:xfrm>
            <a:off x="3814900" y="4265525"/>
            <a:ext cx="5259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With multi-headed attention, we maintain separate Q/K/V weight matrices for each head resulting in different Q/K/V matrices. As we did before, we multiply X by the WQ/WK/WV matrices to produce Q/K/V matrices.</a:t>
            </a:r>
            <a:endParaRPr sz="10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2"/>
          <p:cNvSpPr txBox="1"/>
          <p:nvPr>
            <p:ph type="title"/>
          </p:nvPr>
        </p:nvSpPr>
        <p:spPr>
          <a:xfrm>
            <a:off x="320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The Beast With Many Heads (Multi-headed Attention)</a:t>
            </a:r>
            <a:endParaRPr b="1">
              <a:latin typeface="Calibri"/>
              <a:ea typeface="Calibri"/>
              <a:cs typeface="Calibri"/>
              <a:sym typeface="Calibri"/>
            </a:endParaRPr>
          </a:p>
        </p:txBody>
      </p:sp>
      <p:sp>
        <p:nvSpPr>
          <p:cNvPr id="322" name="Google Shape;322;p52"/>
          <p:cNvSpPr txBox="1"/>
          <p:nvPr/>
        </p:nvSpPr>
        <p:spPr>
          <a:xfrm>
            <a:off x="87800" y="487050"/>
            <a:ext cx="8464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alibri"/>
                <a:ea typeface="Calibri"/>
                <a:cs typeface="Calibri"/>
                <a:sym typeface="Calibri"/>
              </a:rPr>
              <a:t>If we do the same self-attention calculation we outlined above, just eight different times with different weight matrices, we end up with eight different Z matrices</a:t>
            </a:r>
            <a:endParaRPr sz="1200">
              <a:solidFill>
                <a:schemeClr val="dk1"/>
              </a:solidFill>
              <a:latin typeface="Calibri"/>
              <a:ea typeface="Calibri"/>
              <a:cs typeface="Calibri"/>
              <a:sym typeface="Calibri"/>
            </a:endParaRPr>
          </a:p>
        </p:txBody>
      </p:sp>
      <p:pic>
        <p:nvPicPr>
          <p:cNvPr id="323" name="Google Shape;323;p52"/>
          <p:cNvPicPr preferRelativeResize="0"/>
          <p:nvPr/>
        </p:nvPicPr>
        <p:blipFill>
          <a:blip r:embed="rId3">
            <a:alphaModFix/>
          </a:blip>
          <a:stretch>
            <a:fillRect/>
          </a:stretch>
        </p:blipFill>
        <p:spPr>
          <a:xfrm>
            <a:off x="540900" y="994550"/>
            <a:ext cx="7922063" cy="37587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3"/>
          <p:cNvSpPr txBox="1"/>
          <p:nvPr/>
        </p:nvSpPr>
        <p:spPr>
          <a:xfrm>
            <a:off x="87800" y="487050"/>
            <a:ext cx="8464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alibri"/>
                <a:ea typeface="Calibri"/>
                <a:cs typeface="Calibri"/>
                <a:sym typeface="Calibri"/>
              </a:rPr>
              <a:t>This leaves us with a bit of a challenge. The feed-forward layer is not expecting eight matrices - it’s expecting a single matrix (a vector for each word). So we need a way to condense these eight down into a single matrix.</a:t>
            </a:r>
            <a:endParaRPr sz="1200">
              <a:solidFill>
                <a:schemeClr val="dk1"/>
              </a:solidFill>
              <a:latin typeface="Calibri"/>
              <a:ea typeface="Calibri"/>
              <a:cs typeface="Calibri"/>
              <a:sym typeface="Calibri"/>
            </a:endParaRPr>
          </a:p>
        </p:txBody>
      </p:sp>
      <p:pic>
        <p:nvPicPr>
          <p:cNvPr id="329" name="Google Shape;329;p53"/>
          <p:cNvPicPr preferRelativeResize="0"/>
          <p:nvPr/>
        </p:nvPicPr>
        <p:blipFill>
          <a:blip r:embed="rId3">
            <a:alphaModFix/>
          </a:blip>
          <a:stretch>
            <a:fillRect/>
          </a:stretch>
        </p:blipFill>
        <p:spPr>
          <a:xfrm>
            <a:off x="1139700" y="1041150"/>
            <a:ext cx="6864610" cy="3797550"/>
          </a:xfrm>
          <a:prstGeom prst="rect">
            <a:avLst/>
          </a:prstGeom>
          <a:noFill/>
          <a:ln>
            <a:noFill/>
          </a:ln>
        </p:spPr>
      </p:pic>
      <p:sp>
        <p:nvSpPr>
          <p:cNvPr id="330" name="Google Shape;330;p53"/>
          <p:cNvSpPr txBox="1"/>
          <p:nvPr>
            <p:ph type="title"/>
          </p:nvPr>
        </p:nvSpPr>
        <p:spPr>
          <a:xfrm>
            <a:off x="320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The Beast With Many Heads (Multi-headed Attention)</a:t>
            </a:r>
            <a:endParaRPr b="1">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4"/>
          <p:cNvSpPr txBox="1"/>
          <p:nvPr>
            <p:ph type="title"/>
          </p:nvPr>
        </p:nvSpPr>
        <p:spPr>
          <a:xfrm>
            <a:off x="320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Workflow</a:t>
            </a:r>
            <a:endParaRPr b="1">
              <a:latin typeface="Calibri"/>
              <a:ea typeface="Calibri"/>
              <a:cs typeface="Calibri"/>
              <a:sym typeface="Calibri"/>
            </a:endParaRPr>
          </a:p>
        </p:txBody>
      </p:sp>
      <p:pic>
        <p:nvPicPr>
          <p:cNvPr id="336" name="Google Shape;336;p54"/>
          <p:cNvPicPr preferRelativeResize="0"/>
          <p:nvPr/>
        </p:nvPicPr>
        <p:blipFill>
          <a:blip r:embed="rId3">
            <a:alphaModFix/>
          </a:blip>
          <a:stretch>
            <a:fillRect/>
          </a:stretch>
        </p:blipFill>
        <p:spPr>
          <a:xfrm>
            <a:off x="762313" y="709575"/>
            <a:ext cx="7619373" cy="4266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5"/>
          <p:cNvSpPr txBox="1"/>
          <p:nvPr/>
        </p:nvSpPr>
        <p:spPr>
          <a:xfrm>
            <a:off x="336175" y="255500"/>
            <a:ext cx="774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Calibri"/>
                <a:ea typeface="Calibri"/>
                <a:cs typeface="Calibri"/>
                <a:sym typeface="Calibri"/>
              </a:rPr>
              <a:t>Why this even works,</a:t>
            </a:r>
            <a:endParaRPr b="1" sz="1800">
              <a:solidFill>
                <a:schemeClr val="dk1"/>
              </a:solidFill>
              <a:latin typeface="Calibri"/>
              <a:ea typeface="Calibri"/>
              <a:cs typeface="Calibri"/>
              <a:sym typeface="Calibri"/>
            </a:endParaRPr>
          </a:p>
        </p:txBody>
      </p:sp>
      <p:sp>
        <p:nvSpPr>
          <p:cNvPr id="342" name="Google Shape;342;p55"/>
          <p:cNvSpPr txBox="1"/>
          <p:nvPr/>
        </p:nvSpPr>
        <p:spPr>
          <a:xfrm>
            <a:off x="435375" y="802800"/>
            <a:ext cx="81813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Imagine you are at point A and want to go to B in a huge city.</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Do you think there is only one path to go there? </a:t>
            </a:r>
            <a:endParaRPr sz="1800">
              <a:solidFill>
                <a:schemeClr val="dk1"/>
              </a:solidFill>
              <a:latin typeface="Calibri"/>
              <a:ea typeface="Calibri"/>
              <a:cs typeface="Calibri"/>
              <a:sym typeface="Calibri"/>
            </a:endParaRPr>
          </a:p>
          <a:p>
            <a:pPr indent="457200" lvl="0" marL="0" rtl="0" algn="l">
              <a:spcBef>
                <a:spcPts val="0"/>
              </a:spcBef>
              <a:spcAft>
                <a:spcPts val="0"/>
              </a:spcAft>
              <a:buNone/>
            </a:pPr>
            <a:r>
              <a:rPr lang="en" sz="1800">
                <a:solidFill>
                  <a:schemeClr val="dk1"/>
                </a:solidFill>
                <a:latin typeface="Calibri"/>
                <a:ea typeface="Calibri"/>
                <a:cs typeface="Calibri"/>
                <a:sym typeface="Calibri"/>
              </a:rPr>
              <a:t>Of course not, there are thousands of way to reach that point.</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But you will never know the best path, till you have tried a lot of them. More the better.</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Hence a single matrix multiplication does not get you the best representation of query and key.</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Multiple queries can be made, multiple keys can be done for each of these query. That is the reason we do so many matrix multiplications - to try and get the best key for a query that is relevant to the question asked by the user.</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id="347" name="Google Shape;347;p56"/>
          <p:cNvPicPr preferRelativeResize="0"/>
          <p:nvPr/>
        </p:nvPicPr>
        <p:blipFill>
          <a:blip r:embed="rId3">
            <a:alphaModFix/>
          </a:blip>
          <a:stretch>
            <a:fillRect/>
          </a:stretch>
        </p:blipFill>
        <p:spPr>
          <a:xfrm>
            <a:off x="152400" y="152400"/>
            <a:ext cx="8839204" cy="2796779"/>
          </a:xfrm>
          <a:prstGeom prst="rect">
            <a:avLst/>
          </a:prstGeom>
          <a:noFill/>
          <a:ln>
            <a:noFill/>
          </a:ln>
        </p:spPr>
      </p:pic>
      <p:sp>
        <p:nvSpPr>
          <p:cNvPr id="348" name="Google Shape;348;p56"/>
          <p:cNvSpPr txBox="1"/>
          <p:nvPr/>
        </p:nvSpPr>
        <p:spPr>
          <a:xfrm>
            <a:off x="215150" y="3092825"/>
            <a:ext cx="8839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To visualize how Self-Attention creates different representation. Let’s have a look at the three different representation of different words “apple”,”market” &amp; “cellphone”.</a:t>
            </a:r>
            <a:endParaRPr>
              <a:solidFill>
                <a:schemeClr val="dk1"/>
              </a:solidFill>
              <a:latin typeface="Calibri"/>
              <a:ea typeface="Calibri"/>
              <a:cs typeface="Calibri"/>
              <a:sym typeface="Calibri"/>
            </a:endParaRPr>
          </a:p>
        </p:txBody>
      </p:sp>
      <p:sp>
        <p:nvSpPr>
          <p:cNvPr id="349" name="Google Shape;349;p56"/>
          <p:cNvSpPr txBox="1"/>
          <p:nvPr/>
        </p:nvSpPr>
        <p:spPr>
          <a:xfrm>
            <a:off x="291650" y="3708425"/>
            <a:ext cx="41838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Q : What does the company apple make?</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A : Representation 2 will be best to choose for this question, and it gives us the answer “cellphone” as that is the one closest to it.</a:t>
            </a:r>
            <a:endParaRPr>
              <a:solidFill>
                <a:schemeClr val="dk1"/>
              </a:solidFill>
              <a:latin typeface="Calibri"/>
              <a:ea typeface="Calibri"/>
              <a:cs typeface="Calibri"/>
              <a:sym typeface="Calibri"/>
            </a:endParaRPr>
          </a:p>
        </p:txBody>
      </p:sp>
      <p:sp>
        <p:nvSpPr>
          <p:cNvPr id="350" name="Google Shape;350;p56"/>
          <p:cNvSpPr txBox="1"/>
          <p:nvPr/>
        </p:nvSpPr>
        <p:spPr>
          <a:xfrm>
            <a:off x="4685100" y="3708425"/>
            <a:ext cx="4271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Q : </a:t>
            </a:r>
            <a:r>
              <a:rPr lang="en">
                <a:solidFill>
                  <a:schemeClr val="dk1"/>
                </a:solidFill>
                <a:latin typeface="Calibri"/>
                <a:ea typeface="Calibri"/>
                <a:cs typeface="Calibri"/>
                <a:sym typeface="Calibri"/>
              </a:rPr>
              <a:t>Where can I get a new iphone?</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A : </a:t>
            </a:r>
            <a:r>
              <a:rPr lang="en">
                <a:solidFill>
                  <a:schemeClr val="dk1"/>
                </a:solidFill>
                <a:latin typeface="Calibri"/>
                <a:ea typeface="Calibri"/>
                <a:cs typeface="Calibri"/>
                <a:sym typeface="Calibri"/>
              </a:rPr>
              <a:t>In this case Representation 3 will be the best option, and we will get the answer “market”.</a:t>
            </a:r>
            <a:endParaRPr>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7"/>
          <p:cNvSpPr txBox="1"/>
          <p:nvPr>
            <p:ph type="title"/>
          </p:nvPr>
        </p:nvSpPr>
        <p:spPr>
          <a:xfrm>
            <a:off x="311700" y="445025"/>
            <a:ext cx="4045200" cy="1256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Understanding The </a:t>
            </a:r>
            <a:endParaRPr b="1">
              <a:latin typeface="Calibri"/>
              <a:ea typeface="Calibri"/>
              <a:cs typeface="Calibri"/>
              <a:sym typeface="Calibri"/>
            </a:endParaRPr>
          </a:p>
          <a:p>
            <a:pPr indent="0" lvl="0" marL="0" rtl="0" algn="l">
              <a:spcBef>
                <a:spcPts val="0"/>
              </a:spcBef>
              <a:spcAft>
                <a:spcPts val="0"/>
              </a:spcAft>
              <a:buNone/>
            </a:pPr>
            <a:r>
              <a:rPr b="1" lang="en">
                <a:latin typeface="Calibri"/>
                <a:ea typeface="Calibri"/>
                <a:cs typeface="Calibri"/>
                <a:sym typeface="Calibri"/>
              </a:rPr>
              <a:t>Encoder and Decoder Block</a:t>
            </a:r>
            <a:endParaRPr b="1">
              <a:latin typeface="Calibri"/>
              <a:ea typeface="Calibri"/>
              <a:cs typeface="Calibri"/>
              <a:sym typeface="Calibri"/>
            </a:endParaRPr>
          </a:p>
        </p:txBody>
      </p:sp>
      <p:sp>
        <p:nvSpPr>
          <p:cNvPr id="356" name="Google Shape;356;p57"/>
          <p:cNvSpPr txBox="1"/>
          <p:nvPr>
            <p:ph idx="1" type="body"/>
          </p:nvPr>
        </p:nvSpPr>
        <p:spPr>
          <a:xfrm>
            <a:off x="365500" y="1878625"/>
            <a:ext cx="1826400" cy="2343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latin typeface="Calibri"/>
                <a:ea typeface="Calibri"/>
                <a:cs typeface="Calibri"/>
                <a:sym typeface="Calibri"/>
              </a:rPr>
              <a:t>A single transformer can have multiple encoder, as well as decoder blocks.</a:t>
            </a:r>
            <a:endParaRPr>
              <a:solidFill>
                <a:schemeClr val="dk1"/>
              </a:solidFill>
              <a:latin typeface="Calibri"/>
              <a:ea typeface="Calibri"/>
              <a:cs typeface="Calibri"/>
              <a:sym typeface="Calibri"/>
            </a:endParaRPr>
          </a:p>
        </p:txBody>
      </p:sp>
      <p:pic>
        <p:nvPicPr>
          <p:cNvPr id="357" name="Google Shape;357;p57"/>
          <p:cNvPicPr preferRelativeResize="0"/>
          <p:nvPr/>
        </p:nvPicPr>
        <p:blipFill>
          <a:blip r:embed="rId3">
            <a:alphaModFix/>
          </a:blip>
          <a:stretch>
            <a:fillRect/>
          </a:stretch>
        </p:blipFill>
        <p:spPr>
          <a:xfrm>
            <a:off x="4509300" y="152400"/>
            <a:ext cx="4482299" cy="48073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8"/>
          <p:cNvSpPr txBox="1"/>
          <p:nvPr>
            <p:ph type="title"/>
          </p:nvPr>
        </p:nvSpPr>
        <p:spPr>
          <a:xfrm>
            <a:off x="311700" y="445025"/>
            <a:ext cx="1661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Encoder</a:t>
            </a:r>
            <a:endParaRPr b="1">
              <a:latin typeface="Calibri"/>
              <a:ea typeface="Calibri"/>
              <a:cs typeface="Calibri"/>
              <a:sym typeface="Calibri"/>
            </a:endParaRPr>
          </a:p>
        </p:txBody>
      </p:sp>
      <p:sp>
        <p:nvSpPr>
          <p:cNvPr id="363" name="Google Shape;363;p58"/>
          <p:cNvSpPr txBox="1"/>
          <p:nvPr>
            <p:ph idx="1" type="body"/>
          </p:nvPr>
        </p:nvSpPr>
        <p:spPr>
          <a:xfrm>
            <a:off x="311700" y="1152475"/>
            <a:ext cx="3695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It consists of multiple encoders, and each encoder block consists of the following parts:</a:t>
            </a:r>
            <a:endParaRPr>
              <a:solidFill>
                <a:schemeClr val="dk1"/>
              </a:solidFill>
              <a:latin typeface="Calibri"/>
              <a:ea typeface="Calibri"/>
              <a:cs typeface="Calibri"/>
              <a:sym typeface="Calibri"/>
            </a:endParaRPr>
          </a:p>
          <a:p>
            <a:pPr indent="-342900" lvl="0" marL="457200" rtl="0" algn="l">
              <a:spcBef>
                <a:spcPts val="1200"/>
              </a:spcBef>
              <a:spcAft>
                <a:spcPts val="0"/>
              </a:spcAft>
              <a:buClr>
                <a:schemeClr val="dk1"/>
              </a:buClr>
              <a:buSzPts val="1800"/>
              <a:buFont typeface="Calibri"/>
              <a:buChar char="●"/>
            </a:pPr>
            <a:r>
              <a:rPr lang="en">
                <a:solidFill>
                  <a:schemeClr val="dk1"/>
                </a:solidFill>
                <a:latin typeface="Calibri"/>
                <a:ea typeface="Calibri"/>
                <a:cs typeface="Calibri"/>
                <a:sym typeface="Calibri"/>
              </a:rPr>
              <a:t>Multi-head Attention</a:t>
            </a:r>
            <a:endParaRPr>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Residual connection</a:t>
            </a:r>
            <a:endParaRPr>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Layer Normalization</a:t>
            </a:r>
            <a:endParaRPr>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a:solidFill>
                  <a:schemeClr val="dk1"/>
                </a:solidFill>
                <a:latin typeface="Calibri"/>
                <a:ea typeface="Calibri"/>
                <a:cs typeface="Calibri"/>
                <a:sym typeface="Calibri"/>
              </a:rPr>
              <a:t>Feed Forward network</a:t>
            </a:r>
            <a:endParaRPr>
              <a:solidFill>
                <a:schemeClr val="dk1"/>
              </a:solidFill>
              <a:latin typeface="Calibri"/>
              <a:ea typeface="Calibri"/>
              <a:cs typeface="Calibri"/>
              <a:sym typeface="Calibri"/>
            </a:endParaRPr>
          </a:p>
        </p:txBody>
      </p:sp>
      <p:pic>
        <p:nvPicPr>
          <p:cNvPr id="364" name="Google Shape;364;p58"/>
          <p:cNvPicPr preferRelativeResize="0"/>
          <p:nvPr/>
        </p:nvPicPr>
        <p:blipFill>
          <a:blip r:embed="rId3">
            <a:alphaModFix/>
          </a:blip>
          <a:stretch>
            <a:fillRect/>
          </a:stretch>
        </p:blipFill>
        <p:spPr>
          <a:xfrm>
            <a:off x="4979900" y="166813"/>
            <a:ext cx="3518625" cy="48098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9"/>
          <p:cNvSpPr txBox="1"/>
          <p:nvPr>
            <p:ph idx="1" type="body"/>
          </p:nvPr>
        </p:nvSpPr>
        <p:spPr>
          <a:xfrm>
            <a:off x="311700" y="1152475"/>
            <a:ext cx="3036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Residual connection or also known as skip connections, they work as the name applies. </a:t>
            </a:r>
            <a:endParaRPr>
              <a:solidFill>
                <a:schemeClr val="dk1"/>
              </a:solidFill>
              <a:latin typeface="Calibri"/>
              <a:ea typeface="Calibri"/>
              <a:cs typeface="Calibri"/>
              <a:sym typeface="Calibri"/>
            </a:endParaRPr>
          </a:p>
          <a:p>
            <a:pPr indent="0" lvl="0" marL="0" rtl="0" algn="l">
              <a:spcBef>
                <a:spcPts val="1200"/>
              </a:spcBef>
              <a:spcAft>
                <a:spcPts val="0"/>
              </a:spcAft>
              <a:buNone/>
            </a:pPr>
            <a:r>
              <a:t/>
            </a:r>
            <a:endParaRPr>
              <a:solidFill>
                <a:schemeClr val="dk1"/>
              </a:solidFill>
              <a:latin typeface="Calibri"/>
              <a:ea typeface="Calibri"/>
              <a:cs typeface="Calibri"/>
              <a:sym typeface="Calibri"/>
            </a:endParaRPr>
          </a:p>
          <a:p>
            <a:pPr indent="0" lvl="0" marL="0" rtl="0" algn="l">
              <a:spcBef>
                <a:spcPts val="1200"/>
              </a:spcBef>
              <a:spcAft>
                <a:spcPts val="1200"/>
              </a:spcAft>
              <a:buNone/>
            </a:pPr>
            <a:r>
              <a:rPr lang="en">
                <a:solidFill>
                  <a:schemeClr val="dk1"/>
                </a:solidFill>
                <a:latin typeface="Calibri"/>
                <a:ea typeface="Calibri"/>
                <a:cs typeface="Calibri"/>
                <a:sym typeface="Calibri"/>
              </a:rPr>
              <a:t>They take the input and skip it over a block and take it to the next block.</a:t>
            </a:r>
            <a:endParaRPr>
              <a:solidFill>
                <a:schemeClr val="dk1"/>
              </a:solidFill>
              <a:latin typeface="Calibri"/>
              <a:ea typeface="Calibri"/>
              <a:cs typeface="Calibri"/>
              <a:sym typeface="Calibri"/>
            </a:endParaRPr>
          </a:p>
        </p:txBody>
      </p:sp>
      <p:pic>
        <p:nvPicPr>
          <p:cNvPr id="370" name="Google Shape;370;p59"/>
          <p:cNvPicPr preferRelativeResize="0"/>
          <p:nvPr/>
        </p:nvPicPr>
        <p:blipFill>
          <a:blip r:embed="rId3">
            <a:alphaModFix/>
          </a:blip>
          <a:stretch>
            <a:fillRect/>
          </a:stretch>
        </p:blipFill>
        <p:spPr>
          <a:xfrm>
            <a:off x="3671925" y="747900"/>
            <a:ext cx="5268674" cy="3820976"/>
          </a:xfrm>
          <a:prstGeom prst="rect">
            <a:avLst/>
          </a:prstGeom>
          <a:noFill/>
          <a:ln>
            <a:noFill/>
          </a:ln>
        </p:spPr>
      </p:pic>
      <p:sp>
        <p:nvSpPr>
          <p:cNvPr id="371" name="Google Shape;371;p59"/>
          <p:cNvSpPr txBox="1"/>
          <p:nvPr>
            <p:ph type="title"/>
          </p:nvPr>
        </p:nvSpPr>
        <p:spPr>
          <a:xfrm>
            <a:off x="39775" y="33225"/>
            <a:ext cx="3518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Residual connection</a:t>
            </a:r>
            <a:endParaRPr b="1">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0"/>
          <p:cNvSpPr txBox="1"/>
          <p:nvPr>
            <p:ph type="title"/>
          </p:nvPr>
        </p:nvSpPr>
        <p:spPr>
          <a:xfrm>
            <a:off x="39775" y="33225"/>
            <a:ext cx="3518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Residual connection</a:t>
            </a:r>
            <a:endParaRPr b="1">
              <a:latin typeface="Calibri"/>
              <a:ea typeface="Calibri"/>
              <a:cs typeface="Calibri"/>
              <a:sym typeface="Calibri"/>
            </a:endParaRPr>
          </a:p>
        </p:txBody>
      </p:sp>
      <p:sp>
        <p:nvSpPr>
          <p:cNvPr id="377" name="Google Shape;377;p60"/>
          <p:cNvSpPr txBox="1"/>
          <p:nvPr/>
        </p:nvSpPr>
        <p:spPr>
          <a:xfrm>
            <a:off x="138275" y="475150"/>
            <a:ext cx="3930000" cy="4612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1"/>
                </a:solidFill>
                <a:latin typeface="Calibri"/>
                <a:ea typeface="Calibri"/>
                <a:cs typeface="Calibri"/>
                <a:sym typeface="Calibri"/>
              </a:rPr>
              <a:t>Residual connections preserve the original input by adding it directly to each sublayer output, providing stable gradient flow during backpropagation and ensuring that information from earlier representations remains accessible throughout the full depth of the network.</a:t>
            </a:r>
            <a:endParaRPr b="1"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b="1"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100">
                <a:solidFill>
                  <a:schemeClr val="dk1"/>
                </a:solidFill>
                <a:latin typeface="Calibri"/>
                <a:ea typeface="Calibri"/>
                <a:cs typeface="Calibri"/>
                <a:sym typeface="Calibri"/>
              </a:rPr>
              <a:t>Why It Is Needed</a:t>
            </a:r>
            <a:endParaRPr b="1"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100">
                <a:solidFill>
                  <a:schemeClr val="dk1"/>
                </a:solidFill>
                <a:latin typeface="Calibri"/>
                <a:ea typeface="Calibri"/>
                <a:cs typeface="Calibri"/>
                <a:sym typeface="Calibri"/>
              </a:rPr>
              <a:t>Gradient Flow</a:t>
            </a:r>
            <a:endParaRPr b="1"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 deep networks gradients diminish or explode as they propagate backward through many layers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skip connection provides a direct gradient path back to earlier layers independent of sublayer weights</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When sublayer weights are near zero gradients flow through the skip connection nearly unchanged effectively mitigating the vanishing gradient problem</a:t>
            </a:r>
            <a:endParaRPr sz="1100">
              <a:solidFill>
                <a:schemeClr val="dk1"/>
              </a:solidFill>
              <a:latin typeface="Calibri"/>
              <a:ea typeface="Calibri"/>
              <a:cs typeface="Calibri"/>
              <a:sym typeface="Calibri"/>
            </a:endParaRPr>
          </a:p>
        </p:txBody>
      </p:sp>
      <p:sp>
        <p:nvSpPr>
          <p:cNvPr id="378" name="Google Shape;378;p60"/>
          <p:cNvSpPr txBox="1"/>
          <p:nvPr/>
        </p:nvSpPr>
        <p:spPr>
          <a:xfrm>
            <a:off x="5009000" y="0"/>
            <a:ext cx="3930000" cy="4924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1"/>
                </a:solidFill>
                <a:latin typeface="Calibri"/>
                <a:ea typeface="Calibri"/>
                <a:cs typeface="Calibri"/>
                <a:sym typeface="Calibri"/>
              </a:rPr>
              <a:t>Identity Preservation</a:t>
            </a:r>
            <a:endParaRPr b="1"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Ensures every layer retains direct access to the original input representation</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Each sublayer contributes an additive refinement rather than an overwriting transformation</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Prevents loss of important features across depth</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b="1"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b="1"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100">
                <a:solidFill>
                  <a:schemeClr val="dk1"/>
                </a:solidFill>
                <a:latin typeface="Calibri"/>
                <a:ea typeface="Calibri"/>
                <a:cs typeface="Calibri"/>
                <a:sym typeface="Calibri"/>
              </a:rPr>
              <a:t>Training Stability</a:t>
            </a:r>
            <a:endParaRPr b="1"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Smooths the loss landscape enabling more stable and efficient optimization</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Empirically demonstrated to accelerate convergence and reduce sensitivity to initialization</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Particularly beneficial as network depth increases</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b="1" sz="11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100">
                <a:solidFill>
                  <a:schemeClr val="dk1"/>
                </a:solidFill>
                <a:latin typeface="Calibri"/>
                <a:ea typeface="Calibri"/>
                <a:cs typeface="Calibri"/>
                <a:sym typeface="Calibri"/>
              </a:rPr>
              <a:t>The Highway Analogy</a:t>
            </a:r>
            <a:endParaRPr b="1"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Sublayer path  = local road  (complex transformation, slow gradient flow)</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Skip connection = highway    (direct path, fast gradient flow)</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During backpropagation gradients can bypass complex sublayer transformations entirely via the skip connection, allowing them to reach the earliest layers without attenuation.</a:t>
            </a:r>
            <a:endParaRPr sz="11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1"/>
          <p:cNvSpPr txBox="1"/>
          <p:nvPr>
            <p:ph type="title"/>
          </p:nvPr>
        </p:nvSpPr>
        <p:spPr>
          <a:xfrm>
            <a:off x="39775" y="33225"/>
            <a:ext cx="3518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Residual connection</a:t>
            </a:r>
            <a:endParaRPr b="1">
              <a:latin typeface="Calibri"/>
              <a:ea typeface="Calibri"/>
              <a:cs typeface="Calibri"/>
              <a:sym typeface="Calibri"/>
            </a:endParaRPr>
          </a:p>
        </p:txBody>
      </p:sp>
      <p:sp>
        <p:nvSpPr>
          <p:cNvPr id="384" name="Google Shape;384;p61"/>
          <p:cNvSpPr txBox="1"/>
          <p:nvPr/>
        </p:nvSpPr>
        <p:spPr>
          <a:xfrm>
            <a:off x="138275" y="475150"/>
            <a:ext cx="9456900" cy="3101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How It Is Applied In The Transformer</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Residual connections wrap every sublayer in both the encoder and decoder without exception:</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Encoder:</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After self-attention:    output = LayerNorm(x + SelfAttention(x))</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After FFN:               output = LayerNorm(x + FFN(x))</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Decoder:</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After masked attention:  output = LayerNorm(x + MaskedAttention(x))</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After cross-attention:   output = LayerNorm(x + CrossAttention(x))</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After FFN:               output = LayerNorm(x + FFN(x))</a:t>
            </a:r>
            <a:endParaRPr sz="12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2"/>
          <p:cNvSpPr txBox="1"/>
          <p:nvPr>
            <p:ph idx="1" type="body"/>
          </p:nvPr>
        </p:nvSpPr>
        <p:spPr>
          <a:xfrm>
            <a:off x="311700" y="1152475"/>
            <a:ext cx="3036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latin typeface="Calibri"/>
                <a:ea typeface="Calibri"/>
                <a:cs typeface="Calibri"/>
                <a:sym typeface="Calibri"/>
              </a:rPr>
              <a:t>If we’re to visualize the vectors and the layer-norm operation associated with self attention, it would look like this:</a:t>
            </a:r>
            <a:endParaRPr>
              <a:solidFill>
                <a:schemeClr val="dk1"/>
              </a:solidFill>
              <a:latin typeface="Calibri"/>
              <a:ea typeface="Calibri"/>
              <a:cs typeface="Calibri"/>
              <a:sym typeface="Calibri"/>
            </a:endParaRPr>
          </a:p>
        </p:txBody>
      </p:sp>
      <p:pic>
        <p:nvPicPr>
          <p:cNvPr id="390" name="Google Shape;390;p62"/>
          <p:cNvPicPr preferRelativeResize="0"/>
          <p:nvPr/>
        </p:nvPicPr>
        <p:blipFill>
          <a:blip r:embed="rId3">
            <a:alphaModFix/>
          </a:blip>
          <a:stretch>
            <a:fillRect/>
          </a:stretch>
        </p:blipFill>
        <p:spPr>
          <a:xfrm>
            <a:off x="3982800" y="152400"/>
            <a:ext cx="5008799" cy="4685197"/>
          </a:xfrm>
          <a:prstGeom prst="rect">
            <a:avLst/>
          </a:prstGeom>
          <a:noFill/>
          <a:ln>
            <a:noFill/>
          </a:ln>
        </p:spPr>
      </p:pic>
      <p:sp>
        <p:nvSpPr>
          <p:cNvPr id="391" name="Google Shape;391;p62"/>
          <p:cNvSpPr txBox="1"/>
          <p:nvPr>
            <p:ph type="title"/>
          </p:nvPr>
        </p:nvSpPr>
        <p:spPr>
          <a:xfrm>
            <a:off x="39775" y="33225"/>
            <a:ext cx="3518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Residual connection</a:t>
            </a:r>
            <a:endParaRPr b="1">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3"/>
          <p:cNvSpPr txBox="1"/>
          <p:nvPr>
            <p:ph type="title"/>
          </p:nvPr>
        </p:nvSpPr>
        <p:spPr>
          <a:xfrm>
            <a:off x="39775" y="33225"/>
            <a:ext cx="3518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Residual connection</a:t>
            </a:r>
            <a:endParaRPr b="1">
              <a:latin typeface="Calibri"/>
              <a:ea typeface="Calibri"/>
              <a:cs typeface="Calibri"/>
              <a:sym typeface="Calibri"/>
            </a:endParaRPr>
          </a:p>
        </p:txBody>
      </p:sp>
      <p:sp>
        <p:nvSpPr>
          <p:cNvPr id="397" name="Google Shape;397;p63"/>
          <p:cNvSpPr txBox="1"/>
          <p:nvPr/>
        </p:nvSpPr>
        <p:spPr>
          <a:xfrm>
            <a:off x="138275" y="475150"/>
            <a:ext cx="3930000" cy="4612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What Add And Norm Is</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Every sublayer in the transformer is followed by:</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output = LayerNorm(x + sublayer(x))</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This has two parts:</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ADD:   x + sublayer(x)       &lt;- residual connection</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NORM:  LayerNorm(...)        &lt;- layer normalization</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Part 1: The Add (Residual Connection)</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x is the input to the sublayer.</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sublayer(x) is what the sublayer produced.</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We simply add them together.</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x           = [1.0,  2.0,  3.0,  4.0]   &lt;- original input</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sublayer(x) = [0.5, -1.0,  0.2,  0.8]   &lt;- sublayer output</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x + sublayer(x) = [1.5,  1.0,  3.2,  4.8]   &lt;- added together</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This ensures the original input is never lost.</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Even if the sublayer learns nothing useful, the original information still passes through unchanged.</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p:txBody>
      </p:sp>
      <p:sp>
        <p:nvSpPr>
          <p:cNvPr id="398" name="Google Shape;398;p63"/>
          <p:cNvSpPr txBox="1"/>
          <p:nvPr/>
        </p:nvSpPr>
        <p:spPr>
          <a:xfrm>
            <a:off x="4159825" y="265500"/>
            <a:ext cx="4909200" cy="4612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Part 2: The Norm (Layer Normalization)</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Layer normalization standardizes the vector so that its elements have mean 0 and variance 1, then applies learned scale and shift parameters.</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The Formula:</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LayerNorm(x) = gamma * (x - mean(x)) / sqrt(var(x) + epsilon)  +  beta</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Where: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x        = input vector</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mean(x)  = average of all elements in x</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var(x)   = variance of all elements in x</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epsilon  = small number (e.g. 0.000001) to prevent division by zero</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gamma    = learned scale parameter (initialized to 1)</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beta     = learned shift parameter (initialized to 0)</a:t>
            </a:r>
            <a:endParaRPr b="1" sz="12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type="title"/>
          </p:nvPr>
        </p:nvSpPr>
        <p:spPr>
          <a:xfrm>
            <a:off x="39775" y="33225"/>
            <a:ext cx="3518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Residual connection</a:t>
            </a:r>
            <a:endParaRPr b="1">
              <a:latin typeface="Calibri"/>
              <a:ea typeface="Calibri"/>
              <a:cs typeface="Calibri"/>
              <a:sym typeface="Calibri"/>
            </a:endParaRPr>
          </a:p>
        </p:txBody>
      </p:sp>
      <p:sp>
        <p:nvSpPr>
          <p:cNvPr id="404" name="Google Shape;404;p64"/>
          <p:cNvSpPr txBox="1"/>
          <p:nvPr>
            <p:ph idx="1" type="body"/>
          </p:nvPr>
        </p:nvSpPr>
        <p:spPr>
          <a:xfrm>
            <a:off x="171825" y="1098100"/>
            <a:ext cx="22602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chemeClr val="dk1"/>
                </a:solidFill>
                <a:latin typeface="Calibri"/>
                <a:ea typeface="Calibri"/>
                <a:cs typeface="Calibri"/>
                <a:sym typeface="Calibri"/>
              </a:rPr>
              <a:t>This goes for the sub-layers of the decoder as well. </a:t>
            </a:r>
            <a:endParaRPr>
              <a:solidFill>
                <a:schemeClr val="dk1"/>
              </a:solidFill>
              <a:latin typeface="Calibri"/>
              <a:ea typeface="Calibri"/>
              <a:cs typeface="Calibri"/>
              <a:sym typeface="Calibri"/>
            </a:endParaRPr>
          </a:p>
          <a:p>
            <a:pPr indent="0" lvl="0" marL="0" rtl="0" algn="l">
              <a:spcBef>
                <a:spcPts val="1200"/>
              </a:spcBef>
              <a:spcAft>
                <a:spcPts val="0"/>
              </a:spcAft>
              <a:buNone/>
            </a:pPr>
            <a:r>
              <a:t/>
            </a:r>
            <a:endParaRPr>
              <a:solidFill>
                <a:schemeClr val="dk1"/>
              </a:solidFill>
              <a:latin typeface="Calibri"/>
              <a:ea typeface="Calibri"/>
              <a:cs typeface="Calibri"/>
              <a:sym typeface="Calibri"/>
            </a:endParaRPr>
          </a:p>
          <a:p>
            <a:pPr indent="0" lvl="0" marL="0" rtl="0" algn="l">
              <a:spcBef>
                <a:spcPts val="1200"/>
              </a:spcBef>
              <a:spcAft>
                <a:spcPts val="1200"/>
              </a:spcAft>
              <a:buNone/>
            </a:pPr>
            <a:r>
              <a:rPr lang="en">
                <a:solidFill>
                  <a:schemeClr val="dk1"/>
                </a:solidFill>
                <a:latin typeface="Calibri"/>
                <a:ea typeface="Calibri"/>
                <a:cs typeface="Calibri"/>
                <a:sym typeface="Calibri"/>
              </a:rPr>
              <a:t>If we’re to think of a Transformer of 2 stacked encoders and decoders, it would look something like this:</a:t>
            </a:r>
            <a:endParaRPr>
              <a:solidFill>
                <a:schemeClr val="dk1"/>
              </a:solidFill>
              <a:latin typeface="Calibri"/>
              <a:ea typeface="Calibri"/>
              <a:cs typeface="Calibri"/>
              <a:sym typeface="Calibri"/>
            </a:endParaRPr>
          </a:p>
        </p:txBody>
      </p:sp>
      <p:pic>
        <p:nvPicPr>
          <p:cNvPr id="405" name="Google Shape;405;p64"/>
          <p:cNvPicPr preferRelativeResize="0"/>
          <p:nvPr/>
        </p:nvPicPr>
        <p:blipFill>
          <a:blip r:embed="rId3">
            <a:alphaModFix/>
          </a:blip>
          <a:stretch>
            <a:fillRect/>
          </a:stretch>
        </p:blipFill>
        <p:spPr>
          <a:xfrm>
            <a:off x="2629625" y="955575"/>
            <a:ext cx="6514373" cy="3701449"/>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5"/>
          <p:cNvSpPr txBox="1"/>
          <p:nvPr>
            <p:ph type="title"/>
          </p:nvPr>
        </p:nvSpPr>
        <p:spPr>
          <a:xfrm>
            <a:off x="311700" y="445025"/>
            <a:ext cx="3285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Layer Normalization</a:t>
            </a:r>
            <a:endParaRPr b="1">
              <a:latin typeface="Calibri"/>
              <a:ea typeface="Calibri"/>
              <a:cs typeface="Calibri"/>
              <a:sym typeface="Calibri"/>
            </a:endParaRPr>
          </a:p>
        </p:txBody>
      </p:sp>
      <p:sp>
        <p:nvSpPr>
          <p:cNvPr id="411" name="Google Shape;411;p65"/>
          <p:cNvSpPr txBox="1"/>
          <p:nvPr/>
        </p:nvSpPr>
        <p:spPr>
          <a:xfrm>
            <a:off x="457200" y="1169900"/>
            <a:ext cx="33483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Normalization is a method to bring different features in the same scale</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This is done to stabilize training.</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Because when models try to learn from features with drastically different scales, it can slow down training as well as cause exploding gradients.</a:t>
            </a:r>
            <a:endParaRPr sz="1800">
              <a:solidFill>
                <a:schemeClr val="dk1"/>
              </a:solidFill>
              <a:latin typeface="Calibri"/>
              <a:ea typeface="Calibri"/>
              <a:cs typeface="Calibri"/>
              <a:sym typeface="Calibri"/>
            </a:endParaRPr>
          </a:p>
        </p:txBody>
      </p:sp>
      <p:pic>
        <p:nvPicPr>
          <p:cNvPr id="412" name="Google Shape;412;p65"/>
          <p:cNvPicPr preferRelativeResize="0"/>
          <p:nvPr/>
        </p:nvPicPr>
        <p:blipFill>
          <a:blip r:embed="rId3">
            <a:alphaModFix/>
          </a:blip>
          <a:stretch>
            <a:fillRect/>
          </a:stretch>
        </p:blipFill>
        <p:spPr>
          <a:xfrm>
            <a:off x="3805500" y="888988"/>
            <a:ext cx="5239900" cy="379431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6"/>
          <p:cNvSpPr txBox="1"/>
          <p:nvPr>
            <p:ph type="title"/>
          </p:nvPr>
        </p:nvSpPr>
        <p:spPr>
          <a:xfrm>
            <a:off x="311700" y="445025"/>
            <a:ext cx="3361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Layer Normalization</a:t>
            </a:r>
            <a:endParaRPr b="1">
              <a:latin typeface="Calibri"/>
              <a:ea typeface="Calibri"/>
              <a:cs typeface="Calibri"/>
              <a:sym typeface="Calibri"/>
            </a:endParaRPr>
          </a:p>
        </p:txBody>
      </p:sp>
      <p:sp>
        <p:nvSpPr>
          <p:cNvPr id="418" name="Google Shape;418;p66"/>
          <p:cNvSpPr txBox="1"/>
          <p:nvPr/>
        </p:nvSpPr>
        <p:spPr>
          <a:xfrm>
            <a:off x="395625" y="1094875"/>
            <a:ext cx="30903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Batch normalization is the method where the mean and standard deviation of an entire batch is subtracted from the future layer.</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b="1" lang="en" sz="1800">
                <a:solidFill>
                  <a:schemeClr val="dk1"/>
                </a:solidFill>
                <a:latin typeface="Calibri"/>
                <a:ea typeface="Calibri"/>
                <a:cs typeface="Calibri"/>
                <a:sym typeface="Calibri"/>
              </a:rPr>
              <a:t>In Layer normalization, instead of focusing on the entire batch, all the features of a single instance are focused on.</a:t>
            </a:r>
            <a:endParaRPr b="1" sz="1800">
              <a:solidFill>
                <a:schemeClr val="dk1"/>
              </a:solidFill>
              <a:latin typeface="Calibri"/>
              <a:ea typeface="Calibri"/>
              <a:cs typeface="Calibri"/>
              <a:sym typeface="Calibri"/>
            </a:endParaRPr>
          </a:p>
        </p:txBody>
      </p:sp>
      <p:pic>
        <p:nvPicPr>
          <p:cNvPr id="419" name="Google Shape;419;p66"/>
          <p:cNvPicPr preferRelativeResize="0"/>
          <p:nvPr/>
        </p:nvPicPr>
        <p:blipFill>
          <a:blip r:embed="rId3">
            <a:alphaModFix/>
          </a:blip>
          <a:stretch>
            <a:fillRect/>
          </a:stretch>
        </p:blipFill>
        <p:spPr>
          <a:xfrm>
            <a:off x="3673000" y="381000"/>
            <a:ext cx="5345499" cy="3064521"/>
          </a:xfrm>
          <a:prstGeom prst="rect">
            <a:avLst/>
          </a:prstGeom>
          <a:noFill/>
          <a:ln>
            <a:noFill/>
          </a:ln>
        </p:spPr>
      </p:pic>
      <p:sp>
        <p:nvSpPr>
          <p:cNvPr id="420" name="Google Shape;420;p66"/>
          <p:cNvSpPr txBox="1"/>
          <p:nvPr/>
        </p:nvSpPr>
        <p:spPr>
          <a:xfrm>
            <a:off x="3805525" y="3818975"/>
            <a:ext cx="5365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Think of it like this, we take each word from a sentence, and normalize that word.</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7"/>
          <p:cNvSpPr txBox="1"/>
          <p:nvPr>
            <p:ph type="title"/>
          </p:nvPr>
        </p:nvSpPr>
        <p:spPr>
          <a:xfrm>
            <a:off x="0" y="0"/>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en" sz="2620">
                <a:latin typeface="Calibri"/>
                <a:ea typeface="Calibri"/>
                <a:cs typeface="Calibri"/>
                <a:sym typeface="Calibri"/>
              </a:rPr>
              <a:t>Feed Forward Network</a:t>
            </a:r>
            <a:endParaRPr b="1" sz="2620">
              <a:latin typeface="Calibri"/>
              <a:ea typeface="Calibri"/>
              <a:cs typeface="Calibri"/>
              <a:sym typeface="Calibri"/>
            </a:endParaRPr>
          </a:p>
        </p:txBody>
      </p:sp>
      <p:sp>
        <p:nvSpPr>
          <p:cNvPr id="426" name="Google Shape;426;p67"/>
          <p:cNvSpPr txBox="1"/>
          <p:nvPr/>
        </p:nvSpPr>
        <p:spPr>
          <a:xfrm>
            <a:off x="139850" y="606025"/>
            <a:ext cx="4475400" cy="429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chemeClr val="dk1"/>
                </a:solidFill>
                <a:latin typeface="Calibri"/>
                <a:ea typeface="Calibri"/>
                <a:cs typeface="Calibri"/>
                <a:sym typeface="Calibri"/>
              </a:rPr>
              <a:t>Feed Forward Network</a:t>
            </a:r>
            <a:endParaRPr b="1"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Applied after the attention mechanism</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Operates independently on each position</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300">
                <a:solidFill>
                  <a:schemeClr val="dk1"/>
                </a:solidFill>
                <a:latin typeface="Calibri"/>
                <a:ea typeface="Calibri"/>
                <a:cs typeface="Calibri"/>
                <a:sym typeface="Calibri"/>
              </a:rPr>
              <a:t>Why FFN is needed</a:t>
            </a:r>
            <a:endParaRPr b="1"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Attention captures relationships between different tokens</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However, attention is fundamentally a linear operation</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Linear operations alone cannot model complex transformations</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300">
                <a:solidFill>
                  <a:schemeClr val="dk1"/>
                </a:solidFill>
                <a:latin typeface="Calibri"/>
                <a:ea typeface="Calibri"/>
                <a:cs typeface="Calibri"/>
                <a:sym typeface="Calibri"/>
              </a:rPr>
              <a:t>Role of non-linearity</a:t>
            </a:r>
            <a:endParaRPr b="1"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FFN introduces non-linearity using activation functions (typically ReLU)</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Enables the model to:</a:t>
            </a:r>
            <a:endParaRPr sz="1300">
              <a:solidFill>
                <a:schemeClr val="dk1"/>
              </a:solidFill>
              <a:latin typeface="Calibri"/>
              <a:ea typeface="Calibri"/>
              <a:cs typeface="Calibri"/>
              <a:sym typeface="Calibri"/>
            </a:endParaRPr>
          </a:p>
          <a:p>
            <a:pPr indent="-311150" lvl="1" marL="9144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Learn complex patterns</a:t>
            </a:r>
            <a:endParaRPr sz="1300">
              <a:solidFill>
                <a:schemeClr val="dk1"/>
              </a:solidFill>
              <a:latin typeface="Calibri"/>
              <a:ea typeface="Calibri"/>
              <a:cs typeface="Calibri"/>
              <a:sym typeface="Calibri"/>
            </a:endParaRPr>
          </a:p>
          <a:p>
            <a:pPr indent="-311150" lvl="1" marL="9144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Perform richer feature transformations</a:t>
            </a:r>
            <a:endParaRPr sz="1300">
              <a:solidFill>
                <a:schemeClr val="dk1"/>
              </a:solidFill>
              <a:latin typeface="Calibri"/>
              <a:ea typeface="Calibri"/>
              <a:cs typeface="Calibri"/>
              <a:sym typeface="Calibri"/>
            </a:endParaRPr>
          </a:p>
          <a:p>
            <a:pPr indent="-311150" lvl="1" marL="9144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Go beyond simple weighted averaging</a:t>
            </a:r>
            <a:endParaRPr sz="1300">
              <a:solidFill>
                <a:schemeClr val="dk1"/>
              </a:solidFill>
              <a:latin typeface="Calibri"/>
              <a:ea typeface="Calibri"/>
              <a:cs typeface="Calibri"/>
              <a:sym typeface="Calibri"/>
            </a:endParaRPr>
          </a:p>
        </p:txBody>
      </p:sp>
      <p:sp>
        <p:nvSpPr>
          <p:cNvPr id="427" name="Google Shape;427;p67"/>
          <p:cNvSpPr txBox="1"/>
          <p:nvPr/>
        </p:nvSpPr>
        <p:spPr>
          <a:xfrm>
            <a:off x="4942625" y="78150"/>
            <a:ext cx="3822600" cy="498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chemeClr val="dk1"/>
                </a:solidFill>
                <a:latin typeface="Calibri"/>
                <a:ea typeface="Calibri"/>
                <a:cs typeface="Calibri"/>
                <a:sym typeface="Calibri"/>
              </a:rPr>
              <a:t>Intuition</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300">
                <a:solidFill>
                  <a:schemeClr val="dk1"/>
                </a:solidFill>
                <a:latin typeface="Calibri"/>
                <a:ea typeface="Calibri"/>
                <a:cs typeface="Calibri"/>
                <a:sym typeface="Calibri"/>
              </a:rPr>
              <a:t>Attention:</a:t>
            </a:r>
            <a:endParaRPr b="1"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Each token asks every other token:</a:t>
            </a:r>
            <a:endParaRPr sz="13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300">
                <a:solidFill>
                  <a:schemeClr val="dk1"/>
                </a:solidFill>
                <a:latin typeface="Calibri"/>
                <a:ea typeface="Calibri"/>
                <a:cs typeface="Calibri"/>
                <a:sym typeface="Calibri"/>
              </a:rPr>
              <a:t>"What do you know that is relevant to me?"</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Everyone talks to everyone. Global interaction.</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300">
                <a:solidFill>
                  <a:schemeClr val="dk1"/>
                </a:solidFill>
                <a:latin typeface="Calibri"/>
                <a:ea typeface="Calibri"/>
                <a:cs typeface="Calibri"/>
                <a:sym typeface="Calibri"/>
              </a:rPr>
              <a:t>FFN:</a:t>
            </a:r>
            <a:endParaRPr b="1"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Each token then says:</a:t>
            </a:r>
            <a:endParaRPr sz="13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300">
                <a:solidFill>
                  <a:schemeClr val="dk1"/>
                </a:solidFill>
                <a:latin typeface="Calibri"/>
                <a:ea typeface="Calibri"/>
                <a:cs typeface="Calibri"/>
                <a:sym typeface="Calibri"/>
              </a:rPr>
              <a:t>"Now let me think about what I have just heard</a:t>
            </a:r>
            <a:endParaRPr sz="13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300">
                <a:solidFill>
                  <a:schemeClr val="dk1"/>
                </a:solidFill>
                <a:latin typeface="Calibri"/>
                <a:ea typeface="Calibri"/>
                <a:cs typeface="Calibri"/>
                <a:sym typeface="Calibri"/>
              </a:rPr>
              <a:t>and process it on my own."</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No interaction. Local independent processing.</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300">
                <a:solidFill>
                  <a:schemeClr val="dk1"/>
                </a:solidFill>
                <a:latin typeface="Calibri"/>
                <a:ea typeface="Calibri"/>
                <a:cs typeface="Calibri"/>
                <a:sym typeface="Calibri"/>
              </a:rPr>
              <a:t>Why both are essential</a:t>
            </a:r>
            <a:endParaRPr b="1"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Attention provides context and relationships</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FFN provides depth and expressive power</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300">
                <a:solidFill>
                  <a:schemeClr val="dk1"/>
                </a:solidFill>
                <a:latin typeface="Calibri"/>
                <a:ea typeface="Calibri"/>
                <a:cs typeface="Calibri"/>
                <a:sym typeface="Calibri"/>
              </a:rPr>
              <a:t>Without FFN:</a:t>
            </a:r>
            <a:endParaRPr b="1"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Transformers would be limited to linear combinations</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Model capacity would be severely reduced</a:t>
            </a:r>
            <a:endParaRPr sz="13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8"/>
          <p:cNvSpPr txBox="1"/>
          <p:nvPr>
            <p:ph type="title"/>
          </p:nvPr>
        </p:nvSpPr>
        <p:spPr>
          <a:xfrm>
            <a:off x="0" y="0"/>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en" sz="2620">
                <a:latin typeface="Calibri"/>
                <a:ea typeface="Calibri"/>
                <a:cs typeface="Calibri"/>
                <a:sym typeface="Calibri"/>
              </a:rPr>
              <a:t>Feed Forward Network</a:t>
            </a:r>
            <a:endParaRPr b="1" sz="2620">
              <a:latin typeface="Calibri"/>
              <a:ea typeface="Calibri"/>
              <a:cs typeface="Calibri"/>
              <a:sym typeface="Calibri"/>
            </a:endParaRPr>
          </a:p>
        </p:txBody>
      </p:sp>
      <p:sp>
        <p:nvSpPr>
          <p:cNvPr id="433" name="Google Shape;433;p68"/>
          <p:cNvSpPr txBox="1"/>
          <p:nvPr/>
        </p:nvSpPr>
        <p:spPr>
          <a:xfrm>
            <a:off x="164850" y="883650"/>
            <a:ext cx="4475400" cy="337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chemeClr val="dk1"/>
                </a:solidFill>
                <a:latin typeface="Calibri"/>
                <a:ea typeface="Calibri"/>
                <a:cs typeface="Calibri"/>
                <a:sym typeface="Calibri"/>
              </a:rPr>
              <a:t>Analogy</a:t>
            </a:r>
            <a:endParaRPr b="1"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Think of a meeting followed by individual work:</a:t>
            </a:r>
            <a:endParaRPr sz="13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300">
                <a:solidFill>
                  <a:schemeClr val="dk1"/>
                </a:solidFill>
                <a:latin typeface="Calibri"/>
                <a:ea typeface="Calibri"/>
                <a:cs typeface="Calibri"/>
                <a:sym typeface="Calibri"/>
              </a:rPr>
              <a:t>Attention = the meeting</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Everyone shares information with everyone else.</a:t>
            </a:r>
            <a:endParaRPr sz="13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300">
                <a:solidFill>
                  <a:schemeClr val="dk1"/>
                </a:solidFill>
                <a:latin typeface="Calibri"/>
                <a:ea typeface="Calibri"/>
                <a:cs typeface="Calibri"/>
                <a:sym typeface="Calibri"/>
              </a:rPr>
              <a:t>You learn what your colleagues know.</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FFN = working alone after the meeting</a:t>
            </a:r>
            <a:endParaRPr sz="13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300">
                <a:solidFill>
                  <a:schemeClr val="dk1"/>
                </a:solidFill>
                <a:latin typeface="Calibri"/>
                <a:ea typeface="Calibri"/>
                <a:cs typeface="Calibri"/>
                <a:sym typeface="Calibri"/>
              </a:rPr>
              <a:t>You take what you heard and process it yourself.</a:t>
            </a:r>
            <a:endParaRPr sz="13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300">
                <a:solidFill>
                  <a:schemeClr val="dk1"/>
                </a:solidFill>
                <a:latin typeface="Calibri"/>
                <a:ea typeface="Calibri"/>
                <a:cs typeface="Calibri"/>
                <a:sym typeface="Calibri"/>
              </a:rPr>
              <a:t>You draw conclusions, make decisions, refine your understanding.</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Neither alone is sufficient.</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Only listening (attention only) means you never process what you heard.</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Only working alone (FFN only) means you never gather context from others.</a:t>
            </a:r>
            <a:endParaRPr sz="1300">
              <a:solidFill>
                <a:schemeClr val="dk1"/>
              </a:solidFill>
              <a:latin typeface="Calibri"/>
              <a:ea typeface="Calibri"/>
              <a:cs typeface="Calibri"/>
              <a:sym typeface="Calibri"/>
            </a:endParaRPr>
          </a:p>
        </p:txBody>
      </p:sp>
      <p:sp>
        <p:nvSpPr>
          <p:cNvPr id="434" name="Google Shape;434;p68"/>
          <p:cNvSpPr txBox="1"/>
          <p:nvPr/>
        </p:nvSpPr>
        <p:spPr>
          <a:xfrm>
            <a:off x="4942625" y="768600"/>
            <a:ext cx="3822600" cy="360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chemeClr val="dk1"/>
                </a:solidFill>
                <a:latin typeface="Calibri"/>
                <a:ea typeface="Calibri"/>
                <a:cs typeface="Calibri"/>
                <a:sym typeface="Calibri"/>
              </a:rPr>
              <a:t>Why Both Are Essential</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300">
                <a:solidFill>
                  <a:schemeClr val="dk1"/>
                </a:solidFill>
                <a:latin typeface="Calibri"/>
                <a:ea typeface="Calibri"/>
                <a:cs typeface="Calibri"/>
                <a:sym typeface="Calibri"/>
              </a:rPr>
              <a:t>Without Attention:</a:t>
            </a:r>
            <a:endParaRPr b="1"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Each token is processed in isolation.</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model cannot relate words to each other.</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"it" in "the animal was tired because it..." cannot be</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linked to "animal" without attention.</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300">
                <a:solidFill>
                  <a:schemeClr val="dk1"/>
                </a:solidFill>
                <a:latin typeface="Calibri"/>
                <a:ea typeface="Calibri"/>
                <a:cs typeface="Calibri"/>
                <a:sym typeface="Calibri"/>
              </a:rPr>
              <a:t>Without FFN:</a:t>
            </a:r>
            <a:endParaRPr b="1"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model can only do weighted averaging of value vectors.</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It cannot learn complex non-linear language patterns.</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Transformers would be limited to linear combinations.</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Model capacity would be severely reduced.</a:t>
            </a:r>
            <a:endParaRPr sz="13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9"/>
          <p:cNvSpPr txBox="1"/>
          <p:nvPr>
            <p:ph type="title"/>
          </p:nvPr>
        </p:nvSpPr>
        <p:spPr>
          <a:xfrm>
            <a:off x="0" y="0"/>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en" sz="2620">
                <a:latin typeface="Calibri"/>
                <a:ea typeface="Calibri"/>
                <a:cs typeface="Calibri"/>
                <a:sym typeface="Calibri"/>
              </a:rPr>
              <a:t>Feed Forward Network</a:t>
            </a:r>
            <a:endParaRPr b="1" sz="2620">
              <a:latin typeface="Calibri"/>
              <a:ea typeface="Calibri"/>
              <a:cs typeface="Calibri"/>
              <a:sym typeface="Calibri"/>
            </a:endParaRPr>
          </a:p>
        </p:txBody>
      </p:sp>
      <p:sp>
        <p:nvSpPr>
          <p:cNvPr id="440" name="Google Shape;440;p69"/>
          <p:cNvSpPr txBox="1"/>
          <p:nvPr/>
        </p:nvSpPr>
        <p:spPr>
          <a:xfrm>
            <a:off x="148200" y="831125"/>
            <a:ext cx="4475400" cy="33762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Each token is processed independently AND simultaneously.</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Independent is what makes parallel possible.</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In the FFN there are no dependencies between tokens.</a:t>
            </a:r>
            <a:endParaRPr sz="1300">
              <a:solidFill>
                <a:schemeClr val="dk1"/>
              </a:solidFill>
              <a:latin typeface="Calibri"/>
              <a:ea typeface="Calibri"/>
              <a:cs typeface="Calibri"/>
              <a:sym typeface="Calibri"/>
            </a:endParaRPr>
          </a:p>
          <a:p>
            <a:pPr indent="-311150" lvl="1" marL="9144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z1 does not need z2 to compute its FFN output</a:t>
            </a:r>
            <a:endParaRPr sz="1300">
              <a:solidFill>
                <a:schemeClr val="dk1"/>
              </a:solidFill>
              <a:latin typeface="Calibri"/>
              <a:ea typeface="Calibri"/>
              <a:cs typeface="Calibri"/>
              <a:sym typeface="Calibri"/>
            </a:endParaRPr>
          </a:p>
          <a:p>
            <a:pPr indent="-311150" lvl="1" marL="9144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z2 does not need z1 to compute its FFN output</a:t>
            </a:r>
            <a:endParaRPr sz="1300">
              <a:solidFill>
                <a:schemeClr val="dk1"/>
              </a:solidFill>
              <a:latin typeface="Calibri"/>
              <a:ea typeface="Calibri"/>
              <a:cs typeface="Calibri"/>
              <a:sym typeface="Calibri"/>
            </a:endParaRPr>
          </a:p>
          <a:p>
            <a:pPr indent="-311150" lvl="1" marL="9144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z3 does not need z1 or z2 to compute its FFN output</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Each token just takes its own vector, runs it through</a:t>
            </a:r>
            <a:endParaRPr sz="13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rPr lang="en" sz="1300">
                <a:solidFill>
                  <a:schemeClr val="dk1"/>
                </a:solidFill>
                <a:latin typeface="Calibri"/>
                <a:ea typeface="Calibri"/>
                <a:cs typeface="Calibri"/>
                <a:sym typeface="Calibri"/>
              </a:rPr>
              <a:t>the same FFN, and produces its own output. Nothing waits for anything else.</a:t>
            </a:r>
            <a:endParaRPr sz="1300">
              <a:solidFill>
                <a:schemeClr val="dk1"/>
              </a:solidFill>
              <a:latin typeface="Calibri"/>
              <a:ea typeface="Calibri"/>
              <a:cs typeface="Calibri"/>
              <a:sym typeface="Calibri"/>
            </a:endParaRPr>
          </a:p>
          <a:p>
            <a:pPr indent="-311150" lvl="1" marL="9144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FFN(z1) -&gt; r1    </a:t>
            </a:r>
            <a:endParaRPr sz="1300">
              <a:solidFill>
                <a:schemeClr val="dk1"/>
              </a:solidFill>
              <a:latin typeface="Calibri"/>
              <a:ea typeface="Calibri"/>
              <a:cs typeface="Calibri"/>
              <a:sym typeface="Calibri"/>
            </a:endParaRPr>
          </a:p>
          <a:p>
            <a:pPr indent="-311150" lvl="1" marL="9144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FFN(z2) -&gt; r2     &gt;  all happening at the same time</a:t>
            </a:r>
            <a:endParaRPr sz="1300">
              <a:solidFill>
                <a:schemeClr val="dk1"/>
              </a:solidFill>
              <a:latin typeface="Calibri"/>
              <a:ea typeface="Calibri"/>
              <a:cs typeface="Calibri"/>
              <a:sym typeface="Calibri"/>
            </a:endParaRPr>
          </a:p>
          <a:p>
            <a:pPr indent="-311150" lvl="1" marL="9144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FFN(z3) -&gt; r3    /</a:t>
            </a:r>
            <a:endParaRPr sz="1300">
              <a:solidFill>
                <a:schemeClr val="dk1"/>
              </a:solidFill>
              <a:latin typeface="Calibri"/>
              <a:ea typeface="Calibri"/>
              <a:cs typeface="Calibri"/>
              <a:sym typeface="Calibri"/>
            </a:endParaRPr>
          </a:p>
        </p:txBody>
      </p:sp>
      <p:sp>
        <p:nvSpPr>
          <p:cNvPr id="441" name="Google Shape;441;p69"/>
          <p:cNvSpPr txBox="1"/>
          <p:nvPr/>
        </p:nvSpPr>
        <p:spPr>
          <a:xfrm>
            <a:off x="4950950" y="736725"/>
            <a:ext cx="3822600" cy="337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chemeClr val="dk1"/>
                </a:solidFill>
                <a:latin typeface="Calibri"/>
                <a:ea typeface="Calibri"/>
                <a:cs typeface="Calibri"/>
                <a:sym typeface="Calibri"/>
              </a:rPr>
              <a:t>Contrast With Attention</a:t>
            </a:r>
            <a:endParaRPr b="1"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In self-attention tokens are NOT independent.</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To compute the output for "Thinking", you need the key vectors of ALL other tokens.</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So all tokens must be available before any output can be computed.</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This is still parallelized in transformers because the entire input sequence is available at once (unlike RNNs which process one token at a time).</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But there are dependencies between tokens.</a:t>
            </a:r>
            <a:endParaRPr sz="1300">
              <a:solidFill>
                <a:schemeClr val="dk1"/>
              </a:solidFill>
              <a:latin typeface="Calibri"/>
              <a:ea typeface="Calibri"/>
              <a:cs typeface="Calibri"/>
              <a:sym typeface="Calibri"/>
            </a:endParaRPr>
          </a:p>
          <a:p>
            <a:pPr indent="-311150" lvl="0" marL="457200" rtl="0" algn="l">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FFN has NO such dependencies at all. It is purely parallel with zero inter-token communication.</a:t>
            </a:r>
            <a:endParaRPr sz="13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0"/>
          <p:cNvSpPr txBox="1"/>
          <p:nvPr>
            <p:ph type="title"/>
          </p:nvPr>
        </p:nvSpPr>
        <p:spPr>
          <a:xfrm>
            <a:off x="0" y="0"/>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en" sz="2620">
                <a:latin typeface="Calibri"/>
                <a:ea typeface="Calibri"/>
                <a:cs typeface="Calibri"/>
                <a:sym typeface="Calibri"/>
              </a:rPr>
              <a:t>Does Softmax Add Non-Linearity? If so, why Need FFN?</a:t>
            </a:r>
            <a:endParaRPr b="1" sz="2620">
              <a:latin typeface="Calibri"/>
              <a:ea typeface="Calibri"/>
              <a:cs typeface="Calibri"/>
              <a:sym typeface="Calibri"/>
            </a:endParaRPr>
          </a:p>
        </p:txBody>
      </p:sp>
      <p:sp>
        <p:nvSpPr>
          <p:cNvPr id="447" name="Google Shape;447;p70"/>
          <p:cNvSpPr txBox="1"/>
          <p:nvPr/>
        </p:nvSpPr>
        <p:spPr>
          <a:xfrm>
            <a:off x="148200" y="831125"/>
            <a:ext cx="4475400" cy="270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Yes, softmax is non-linear. But it is not the right kind of non-linearity for transforming token representations.</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What Softmax Non</a:t>
            </a:r>
            <a:r>
              <a:rPr b="1" lang="en" sz="1200">
                <a:solidFill>
                  <a:schemeClr val="dk1"/>
                </a:solidFill>
                <a:latin typeface="Calibri"/>
                <a:ea typeface="Calibri"/>
                <a:cs typeface="Calibri"/>
                <a:sym typeface="Calibri"/>
              </a:rPr>
              <a:t>-</a:t>
            </a:r>
            <a:r>
              <a:rPr b="1" lang="en" sz="1200">
                <a:solidFill>
                  <a:schemeClr val="dk1"/>
                </a:solidFill>
                <a:latin typeface="Calibri"/>
                <a:ea typeface="Calibri"/>
                <a:cs typeface="Calibri"/>
                <a:sym typeface="Calibri"/>
              </a:rPr>
              <a:t>Linearity Does</a:t>
            </a:r>
            <a:endParaRPr b="1"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Softmax non-linearity decides HOW MUCH to mix value vectors.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z = 0.88v1 + 0.12v2</a:t>
            </a:r>
            <a:endParaRPr sz="1200">
              <a:solidFill>
                <a:schemeClr val="dk1"/>
              </a:solidFill>
              <a:latin typeface="Calibri"/>
              <a:ea typeface="Calibri"/>
              <a:cs typeface="Calibri"/>
              <a:sym typeface="Calibri"/>
            </a:endParaRPr>
          </a:p>
          <a:p>
            <a:pPr indent="-304800" lvl="1" marL="13716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weights 0.88 and 0.12 came from softmax.</a:t>
            </a:r>
            <a:endParaRPr sz="1200">
              <a:solidFill>
                <a:schemeClr val="dk1"/>
              </a:solidFill>
              <a:latin typeface="Calibri"/>
              <a:ea typeface="Calibri"/>
              <a:cs typeface="Calibri"/>
              <a:sym typeface="Calibri"/>
            </a:endParaRPr>
          </a:p>
          <a:p>
            <a:pPr indent="-304800" lvl="1" marL="13716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But the final output z is still a linear combination of V.</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Softmax non-linearity is consumed computing the weights.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does not transform the representations themselves.</a:t>
            </a:r>
            <a:endParaRPr sz="1200">
              <a:solidFill>
                <a:schemeClr val="dk1"/>
              </a:solidFill>
              <a:latin typeface="Calibri"/>
              <a:ea typeface="Calibri"/>
              <a:cs typeface="Calibri"/>
              <a:sym typeface="Calibri"/>
            </a:endParaRPr>
          </a:p>
        </p:txBody>
      </p:sp>
      <p:sp>
        <p:nvSpPr>
          <p:cNvPr id="448" name="Google Shape;448;p70"/>
          <p:cNvSpPr txBox="1"/>
          <p:nvPr/>
        </p:nvSpPr>
        <p:spPr>
          <a:xfrm>
            <a:off x="4950950" y="736725"/>
            <a:ext cx="3822600" cy="398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What FFN Non</a:t>
            </a:r>
            <a:r>
              <a:rPr b="1" lang="en" sz="1200">
                <a:solidFill>
                  <a:schemeClr val="dk1"/>
                </a:solidFill>
                <a:latin typeface="Calibri"/>
                <a:ea typeface="Calibri"/>
                <a:cs typeface="Calibri"/>
                <a:sym typeface="Calibri"/>
              </a:rPr>
              <a:t>-</a:t>
            </a:r>
            <a:r>
              <a:rPr b="1" lang="en" sz="1200">
                <a:solidFill>
                  <a:schemeClr val="dk1"/>
                </a:solidFill>
                <a:latin typeface="Calibri"/>
                <a:ea typeface="Calibri"/>
                <a:cs typeface="Calibri"/>
                <a:sym typeface="Calibri"/>
              </a:rPr>
              <a:t>Linearity Does</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ReLU non-linearity transforms the representations themselves.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Softmax:  decides the mixing proportions    (non-linear)</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ReLU:     transforms what is being mixed    (non-linear)</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These are two fundamentally different roles.</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The Paint Analogy</a:t>
            </a:r>
            <a:endParaRPr b="1"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Softmax = deciding paint proportions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88% blue + 12% red</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are still mixing the same base colors.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cannot get a color outside the original set.</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FFN + ReLU = chemically transforming the paint</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Entirely new colors can emerge that did not exist in the original mixture.</a:t>
            </a:r>
            <a:endParaRPr sz="12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1"/>
          <p:cNvSpPr txBox="1"/>
          <p:nvPr>
            <p:ph type="title"/>
          </p:nvPr>
        </p:nvSpPr>
        <p:spPr>
          <a:xfrm>
            <a:off x="63075" y="48750"/>
            <a:ext cx="2532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Decoder Block</a:t>
            </a:r>
            <a:endParaRPr b="1">
              <a:latin typeface="Calibri"/>
              <a:ea typeface="Calibri"/>
              <a:cs typeface="Calibri"/>
              <a:sym typeface="Calibri"/>
            </a:endParaRPr>
          </a:p>
        </p:txBody>
      </p:sp>
      <p:sp>
        <p:nvSpPr>
          <p:cNvPr id="454" name="Google Shape;454;p71"/>
          <p:cNvSpPr txBox="1"/>
          <p:nvPr/>
        </p:nvSpPr>
        <p:spPr>
          <a:xfrm>
            <a:off x="63075" y="556500"/>
            <a:ext cx="8344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The decoder uses components similar to the encoder.</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The key difference lies in </a:t>
            </a:r>
            <a:r>
              <a:rPr b="1" lang="en" sz="1200">
                <a:solidFill>
                  <a:schemeClr val="dk1"/>
                </a:solidFill>
                <a:latin typeface="Calibri"/>
                <a:ea typeface="Calibri"/>
                <a:cs typeface="Calibri"/>
                <a:sym typeface="Calibri"/>
              </a:rPr>
              <a:t>how these components are combined and used</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The decoder block is </a:t>
            </a:r>
            <a:r>
              <a:rPr b="1" lang="en" sz="1200">
                <a:solidFill>
                  <a:schemeClr val="dk1"/>
                </a:solidFill>
                <a:latin typeface="Calibri"/>
                <a:ea typeface="Calibri"/>
                <a:cs typeface="Calibri"/>
                <a:sym typeface="Calibri"/>
              </a:rPr>
              <a:t>auto-regressive</a:t>
            </a:r>
            <a:r>
              <a:rPr lang="en" sz="1200">
                <a:solidFill>
                  <a:schemeClr val="dk1"/>
                </a:solidFill>
                <a:latin typeface="Calibri"/>
                <a:ea typeface="Calibri"/>
                <a:cs typeface="Calibri"/>
                <a:sym typeface="Calibri"/>
              </a:rPr>
              <a:t>. Meaning it </a:t>
            </a:r>
            <a:r>
              <a:rPr b="1" lang="en" sz="1200">
                <a:solidFill>
                  <a:schemeClr val="dk1"/>
                </a:solidFill>
                <a:latin typeface="Calibri"/>
                <a:ea typeface="Calibri"/>
                <a:cs typeface="Calibri"/>
                <a:sym typeface="Calibri"/>
              </a:rPr>
              <a:t>outputs one after the other and takes its own output as an input</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pic>
        <p:nvPicPr>
          <p:cNvPr id="455" name="Google Shape;455;p71"/>
          <p:cNvPicPr preferRelativeResize="0"/>
          <p:nvPr/>
        </p:nvPicPr>
        <p:blipFill>
          <a:blip r:embed="rId3">
            <a:alphaModFix/>
          </a:blip>
          <a:stretch>
            <a:fillRect/>
          </a:stretch>
        </p:blipFill>
        <p:spPr>
          <a:xfrm>
            <a:off x="618924" y="1626125"/>
            <a:ext cx="7906151" cy="32405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2"/>
          <p:cNvSpPr txBox="1"/>
          <p:nvPr>
            <p:ph type="title"/>
          </p:nvPr>
        </p:nvSpPr>
        <p:spPr>
          <a:xfrm>
            <a:off x="63075" y="48750"/>
            <a:ext cx="2532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Calibri"/>
                <a:ea typeface="Calibri"/>
                <a:cs typeface="Calibri"/>
                <a:sym typeface="Calibri"/>
              </a:rPr>
              <a:t>Decoder Block</a:t>
            </a:r>
            <a:endParaRPr b="1" sz="2620">
              <a:latin typeface="Calibri"/>
              <a:ea typeface="Calibri"/>
              <a:cs typeface="Calibri"/>
              <a:sym typeface="Calibri"/>
            </a:endParaRPr>
          </a:p>
        </p:txBody>
      </p:sp>
      <p:sp>
        <p:nvSpPr>
          <p:cNvPr id="461" name="Google Shape;461;p72"/>
          <p:cNvSpPr txBox="1"/>
          <p:nvPr/>
        </p:nvSpPr>
        <p:spPr>
          <a:xfrm>
            <a:off x="124875" y="756850"/>
            <a:ext cx="40290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alibri"/>
                <a:ea typeface="Calibri"/>
                <a:cs typeface="Calibri"/>
                <a:sym typeface="Calibri"/>
              </a:rPr>
              <a:t>Encoder processing</a:t>
            </a:r>
            <a:endParaRPr b="1"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encoder first processes the entire input sequence</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output of the top encoder layer contains contextual representations of the input</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1" lang="en" sz="1200">
                <a:solidFill>
                  <a:schemeClr val="dk1"/>
                </a:solidFill>
                <a:latin typeface="Calibri"/>
                <a:ea typeface="Calibri"/>
                <a:cs typeface="Calibri"/>
                <a:sym typeface="Calibri"/>
              </a:rPr>
              <a:t>Preparing encoder outputs for the decoder</a:t>
            </a:r>
            <a:endParaRPr b="1"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Encoder outputs are transformed into:</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 (K) vectors</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Value (V) vectors</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These vectors represent the encoded information of the input sequence</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1" lang="en" sz="1200">
                <a:solidFill>
                  <a:schemeClr val="dk1"/>
                </a:solidFill>
                <a:latin typeface="Calibri"/>
                <a:ea typeface="Calibri"/>
                <a:cs typeface="Calibri"/>
                <a:sym typeface="Calibri"/>
              </a:rPr>
              <a:t>Encoder-Decoder attention in the decoder</a:t>
            </a:r>
            <a:endParaRPr b="1"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this sublayer:</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decoder uses its own representations as Queries (Q)</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encoder-provided K and V guide the attention</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allows the decoder to:</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Focus on the most relevant parts of the input sequence</a:t>
            </a:r>
            <a:endParaRPr sz="1200">
              <a:solidFill>
                <a:schemeClr val="dk1"/>
              </a:solidFill>
              <a:latin typeface="Calibri"/>
              <a:ea typeface="Calibri"/>
              <a:cs typeface="Calibri"/>
              <a:sym typeface="Calibri"/>
            </a:endParaRPr>
          </a:p>
          <a:p>
            <a:pPr indent="-304800" lvl="1" marL="9144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Align generated output tokens with input tokens</a:t>
            </a:r>
            <a:endParaRPr sz="1200">
              <a:solidFill>
                <a:schemeClr val="dk1"/>
              </a:solidFill>
              <a:latin typeface="Calibri"/>
              <a:ea typeface="Calibri"/>
              <a:cs typeface="Calibri"/>
              <a:sym typeface="Calibri"/>
            </a:endParaRPr>
          </a:p>
        </p:txBody>
      </p:sp>
      <p:sp>
        <p:nvSpPr>
          <p:cNvPr id="462" name="Google Shape;462;p72"/>
          <p:cNvSpPr txBox="1"/>
          <p:nvPr/>
        </p:nvSpPr>
        <p:spPr>
          <a:xfrm>
            <a:off x="4641950" y="3713900"/>
            <a:ext cx="43629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latin typeface="Calibri"/>
                <a:ea typeface="Calibri"/>
                <a:cs typeface="Calibri"/>
                <a:sym typeface="Calibri"/>
              </a:rPr>
              <a:t>Purpose</a:t>
            </a:r>
            <a:endParaRPr b="1"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Ensures the decoder generates output that is grounded in the input sequence</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Enables effective sequence-to-sequence mapping (e.g., translation)</a:t>
            </a:r>
            <a:endParaRPr sz="1100">
              <a:solidFill>
                <a:schemeClr val="dk1"/>
              </a:solidFill>
              <a:latin typeface="Calibri"/>
              <a:ea typeface="Calibri"/>
              <a:cs typeface="Calibri"/>
              <a:sym typeface="Calibri"/>
            </a:endParaRPr>
          </a:p>
        </p:txBody>
      </p:sp>
      <p:pic>
        <p:nvPicPr>
          <p:cNvPr id="463" name="Google Shape;463;p72"/>
          <p:cNvPicPr preferRelativeResize="0"/>
          <p:nvPr/>
        </p:nvPicPr>
        <p:blipFill>
          <a:blip r:embed="rId3">
            <a:alphaModFix/>
          </a:blip>
          <a:stretch>
            <a:fillRect/>
          </a:stretch>
        </p:blipFill>
        <p:spPr>
          <a:xfrm>
            <a:off x="4153875" y="859733"/>
            <a:ext cx="4850974" cy="2370867"/>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3"/>
          <p:cNvSpPr txBox="1"/>
          <p:nvPr>
            <p:ph type="title"/>
          </p:nvPr>
        </p:nvSpPr>
        <p:spPr>
          <a:xfrm>
            <a:off x="0" y="48750"/>
            <a:ext cx="2532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latin typeface="Calibri"/>
                <a:ea typeface="Calibri"/>
                <a:cs typeface="Calibri"/>
                <a:sym typeface="Calibri"/>
              </a:rPr>
              <a:t>Decoder Block</a:t>
            </a:r>
            <a:endParaRPr b="1" sz="2520">
              <a:latin typeface="Calibri"/>
              <a:ea typeface="Calibri"/>
              <a:cs typeface="Calibri"/>
              <a:sym typeface="Calibri"/>
            </a:endParaRPr>
          </a:p>
        </p:txBody>
      </p:sp>
      <p:pic>
        <p:nvPicPr>
          <p:cNvPr id="469" name="Google Shape;469;p73"/>
          <p:cNvPicPr preferRelativeResize="0"/>
          <p:nvPr/>
        </p:nvPicPr>
        <p:blipFill>
          <a:blip r:embed="rId3">
            <a:alphaModFix/>
          </a:blip>
          <a:stretch>
            <a:fillRect/>
          </a:stretch>
        </p:blipFill>
        <p:spPr>
          <a:xfrm>
            <a:off x="3207900" y="101025"/>
            <a:ext cx="5858101" cy="2804849"/>
          </a:xfrm>
          <a:prstGeom prst="rect">
            <a:avLst/>
          </a:prstGeom>
          <a:noFill/>
          <a:ln>
            <a:noFill/>
          </a:ln>
        </p:spPr>
      </p:pic>
      <p:sp>
        <p:nvSpPr>
          <p:cNvPr id="470" name="Google Shape;470;p73"/>
          <p:cNvSpPr txBox="1"/>
          <p:nvPr/>
        </p:nvSpPr>
        <p:spPr>
          <a:xfrm>
            <a:off x="85475" y="559425"/>
            <a:ext cx="2913600" cy="443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latin typeface="Calibri"/>
                <a:ea typeface="Calibri"/>
                <a:cs typeface="Calibri"/>
                <a:sym typeface="Calibri"/>
              </a:rPr>
              <a:t>Autoregressive decoding loop</a:t>
            </a:r>
            <a:endParaRPr b="1" sz="1200">
              <a:latin typeface="Calibri"/>
              <a:ea typeface="Calibri"/>
              <a:cs typeface="Calibri"/>
              <a:sym typeface="Calibri"/>
            </a:endParaRPr>
          </a:p>
          <a:p>
            <a:pPr indent="-304800" lvl="0" marL="457200" rtl="0" algn="l">
              <a:spcBef>
                <a:spcPts val="0"/>
              </a:spcBef>
              <a:spcAft>
                <a:spcPts val="0"/>
              </a:spcAft>
              <a:buSzPts val="1200"/>
              <a:buFont typeface="Calibri"/>
              <a:buChar char="●"/>
            </a:pPr>
            <a:r>
              <a:rPr lang="en" sz="1200">
                <a:latin typeface="Calibri"/>
                <a:ea typeface="Calibri"/>
                <a:cs typeface="Calibri"/>
                <a:sym typeface="Calibri"/>
              </a:rPr>
              <a:t>Decoding proceeds step by step until an end-of-sequence token is generated</a:t>
            </a:r>
            <a:endParaRPr sz="1200">
              <a:latin typeface="Calibri"/>
              <a:ea typeface="Calibri"/>
              <a:cs typeface="Calibri"/>
              <a:sym typeface="Calibri"/>
            </a:endParaRPr>
          </a:p>
          <a:p>
            <a:pPr indent="-304800" lvl="0" marL="457200" rtl="0" algn="l">
              <a:spcBef>
                <a:spcPts val="0"/>
              </a:spcBef>
              <a:spcAft>
                <a:spcPts val="0"/>
              </a:spcAft>
              <a:buSzPts val="1200"/>
              <a:buFont typeface="Calibri"/>
              <a:buChar char="●"/>
            </a:pPr>
            <a:r>
              <a:rPr lang="en" sz="1200">
                <a:latin typeface="Calibri"/>
                <a:ea typeface="Calibri"/>
                <a:cs typeface="Calibri"/>
                <a:sym typeface="Calibri"/>
              </a:rPr>
              <a:t>This token indicates that the decoder has finished producing the output sequence</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b="1" lang="en" sz="1200">
                <a:latin typeface="Calibri"/>
                <a:ea typeface="Calibri"/>
                <a:cs typeface="Calibri"/>
                <a:sym typeface="Calibri"/>
              </a:rPr>
              <a:t>Token feedback mechanism</a:t>
            </a:r>
            <a:endParaRPr b="1" sz="1200">
              <a:latin typeface="Calibri"/>
              <a:ea typeface="Calibri"/>
              <a:cs typeface="Calibri"/>
              <a:sym typeface="Calibri"/>
            </a:endParaRPr>
          </a:p>
          <a:p>
            <a:pPr indent="-304800" lvl="0" marL="457200" rtl="0" algn="l">
              <a:spcBef>
                <a:spcPts val="0"/>
              </a:spcBef>
              <a:spcAft>
                <a:spcPts val="0"/>
              </a:spcAft>
              <a:buSzPts val="1200"/>
              <a:buFont typeface="Calibri"/>
              <a:buChar char="●"/>
            </a:pPr>
            <a:r>
              <a:rPr lang="en" sz="1200">
                <a:latin typeface="Calibri"/>
                <a:ea typeface="Calibri"/>
                <a:cs typeface="Calibri"/>
                <a:sym typeface="Calibri"/>
              </a:rPr>
              <a:t>At each decoding step:</a:t>
            </a:r>
            <a:endParaRPr sz="1200">
              <a:latin typeface="Calibri"/>
              <a:ea typeface="Calibri"/>
              <a:cs typeface="Calibri"/>
              <a:sym typeface="Calibri"/>
            </a:endParaRPr>
          </a:p>
          <a:p>
            <a:pPr indent="-304800" lvl="1" marL="914400" rtl="0" algn="l">
              <a:spcBef>
                <a:spcPts val="0"/>
              </a:spcBef>
              <a:spcAft>
                <a:spcPts val="0"/>
              </a:spcAft>
              <a:buSzPts val="1200"/>
              <a:buFont typeface="Calibri"/>
              <a:buChar char="○"/>
            </a:pPr>
            <a:r>
              <a:rPr lang="en" sz="1200">
                <a:latin typeface="Calibri"/>
                <a:ea typeface="Calibri"/>
                <a:cs typeface="Calibri"/>
                <a:sym typeface="Calibri"/>
              </a:rPr>
              <a:t>The newly generated token is fed back as input to the decoder</a:t>
            </a:r>
            <a:endParaRPr sz="1200">
              <a:latin typeface="Calibri"/>
              <a:ea typeface="Calibri"/>
              <a:cs typeface="Calibri"/>
              <a:sym typeface="Calibri"/>
            </a:endParaRPr>
          </a:p>
          <a:p>
            <a:pPr indent="-304800" lvl="1" marL="914400" rtl="0" algn="l">
              <a:spcBef>
                <a:spcPts val="0"/>
              </a:spcBef>
              <a:spcAft>
                <a:spcPts val="0"/>
              </a:spcAft>
              <a:buSzPts val="1200"/>
              <a:buFont typeface="Calibri"/>
              <a:buChar char="○"/>
            </a:pPr>
            <a:r>
              <a:rPr lang="en" sz="1200">
                <a:latin typeface="Calibri"/>
                <a:ea typeface="Calibri"/>
                <a:cs typeface="Calibri"/>
                <a:sym typeface="Calibri"/>
              </a:rPr>
              <a:t>It is provided to the lowest decoder layer for the next time step</a:t>
            </a:r>
            <a:endParaRPr sz="1200">
              <a:latin typeface="Calibri"/>
              <a:ea typeface="Calibri"/>
              <a:cs typeface="Calibri"/>
              <a:sym typeface="Calibri"/>
            </a:endParaRPr>
          </a:p>
          <a:p>
            <a:pPr indent="0" lvl="0" marL="0" rtl="0" algn="l">
              <a:spcBef>
                <a:spcPts val="0"/>
              </a:spcBef>
              <a:spcAft>
                <a:spcPts val="0"/>
              </a:spcAft>
              <a:buNone/>
            </a:pPr>
            <a:r>
              <a:t/>
            </a:r>
            <a:endParaRPr sz="1200">
              <a:latin typeface="Calibri"/>
              <a:ea typeface="Calibri"/>
              <a:cs typeface="Calibri"/>
              <a:sym typeface="Calibri"/>
            </a:endParaRPr>
          </a:p>
          <a:p>
            <a:pPr indent="0" lvl="0" marL="0" rtl="0" algn="l">
              <a:spcBef>
                <a:spcPts val="0"/>
              </a:spcBef>
              <a:spcAft>
                <a:spcPts val="0"/>
              </a:spcAft>
              <a:buNone/>
            </a:pPr>
            <a:r>
              <a:rPr b="1" lang="en" sz="1200">
                <a:solidFill>
                  <a:schemeClr val="dk1"/>
                </a:solidFill>
                <a:latin typeface="Calibri"/>
                <a:ea typeface="Calibri"/>
                <a:cs typeface="Calibri"/>
                <a:sym typeface="Calibri"/>
              </a:rPr>
              <a:t>Processing through the decoder stack</a:t>
            </a:r>
            <a:endParaRPr b="1"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decoder processes the input token through all its stacked layers</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Intermediate decoding results propagate upward through the stack, similar to encoder processing</a:t>
            </a:r>
            <a:endParaRPr sz="1200">
              <a:latin typeface="Calibri"/>
              <a:ea typeface="Calibri"/>
              <a:cs typeface="Calibri"/>
              <a:sym typeface="Calibri"/>
            </a:endParaRPr>
          </a:p>
        </p:txBody>
      </p:sp>
      <p:sp>
        <p:nvSpPr>
          <p:cNvPr id="471" name="Google Shape;471;p73"/>
          <p:cNvSpPr txBox="1"/>
          <p:nvPr/>
        </p:nvSpPr>
        <p:spPr>
          <a:xfrm>
            <a:off x="3207900" y="3022400"/>
            <a:ext cx="59361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alibri"/>
                <a:ea typeface="Calibri"/>
                <a:cs typeface="Calibri"/>
                <a:sym typeface="Calibri"/>
              </a:rPr>
              <a:t>Embedding and positional information</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Each input token to the decoder is:</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Converted into an embedding vector</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Augmented with positional encoding</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Positional encoding ensures the decoder is aware of token order</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b="1" lang="en" sz="1200">
                <a:solidFill>
                  <a:schemeClr val="dk1"/>
                </a:solidFill>
                <a:latin typeface="Calibri"/>
                <a:ea typeface="Calibri"/>
                <a:cs typeface="Calibri"/>
                <a:sym typeface="Calibri"/>
              </a:rPr>
              <a:t>Overall effect</a:t>
            </a:r>
            <a:endParaRPr b="1"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Enables coherent, ordered, and context-aware sequence generation</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Ensures each new token is generated based on all previously produced tokens</a:t>
            </a:r>
            <a:endParaRPr sz="1200">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4"/>
          <p:cNvSpPr txBox="1"/>
          <p:nvPr>
            <p:ph type="title"/>
          </p:nvPr>
        </p:nvSpPr>
        <p:spPr>
          <a:xfrm>
            <a:off x="0" y="48750"/>
            <a:ext cx="2532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420">
                <a:latin typeface="Calibri"/>
                <a:ea typeface="Calibri"/>
                <a:cs typeface="Calibri"/>
                <a:sym typeface="Calibri"/>
              </a:rPr>
              <a:t>Decoder Block</a:t>
            </a:r>
            <a:endParaRPr b="1" sz="2420">
              <a:latin typeface="Calibri"/>
              <a:ea typeface="Calibri"/>
              <a:cs typeface="Calibri"/>
              <a:sym typeface="Calibri"/>
            </a:endParaRPr>
          </a:p>
        </p:txBody>
      </p:sp>
      <p:sp>
        <p:nvSpPr>
          <p:cNvPr id="477" name="Google Shape;477;p74"/>
          <p:cNvSpPr txBox="1"/>
          <p:nvPr/>
        </p:nvSpPr>
        <p:spPr>
          <a:xfrm>
            <a:off x="132075" y="598250"/>
            <a:ext cx="4475400" cy="3807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Self-attention in the decoder</a:t>
            </a:r>
            <a:endParaRPr b="1"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Operates </a:t>
            </a:r>
            <a:r>
              <a:rPr i="1" lang="en" sz="1200">
                <a:solidFill>
                  <a:schemeClr val="dk1"/>
                </a:solidFill>
                <a:latin typeface="Calibri"/>
                <a:ea typeface="Calibri"/>
                <a:cs typeface="Calibri"/>
                <a:sym typeface="Calibri"/>
              </a:rPr>
              <a:t>differently from encoder self-attention</a:t>
            </a:r>
            <a:endParaRPr i="1"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Designed to</a:t>
            </a:r>
            <a:r>
              <a:rPr i="1" lang="en" sz="1200">
                <a:solidFill>
                  <a:schemeClr val="dk1"/>
                </a:solidFill>
                <a:latin typeface="Calibri"/>
                <a:ea typeface="Calibri"/>
                <a:cs typeface="Calibri"/>
                <a:sym typeface="Calibri"/>
              </a:rPr>
              <a:t> preserve the autoregressive nature of decodin</a:t>
            </a:r>
            <a:r>
              <a:rPr i="1" lang="en" sz="1200">
                <a:solidFill>
                  <a:schemeClr val="dk1"/>
                </a:solidFill>
                <a:latin typeface="Calibri"/>
                <a:ea typeface="Calibri"/>
                <a:cs typeface="Calibri"/>
                <a:sym typeface="Calibri"/>
              </a:rPr>
              <a:t>g</a:t>
            </a:r>
            <a:endParaRPr i="1" sz="1200">
              <a:solidFill>
                <a:schemeClr val="dk1"/>
              </a:solidFill>
              <a:latin typeface="Calibri"/>
              <a:ea typeface="Calibri"/>
              <a:cs typeface="Calibri"/>
              <a:sym typeface="Calibri"/>
            </a:endParaRPr>
          </a:p>
          <a:p>
            <a:pPr indent="0" lvl="0" marL="45720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Masked self-attention</a:t>
            </a:r>
            <a:endParaRPr b="1"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position in the decoder can attend only to earlier positions in the output sequence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Future positions are masked before applying softmax</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Masked values are set to −∞</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Ensures zero attention to future tokens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Prevents the model from "seeing" future words during generation</a:t>
            </a:r>
            <a:endParaRPr sz="1200">
              <a:solidFill>
                <a:schemeClr val="dk1"/>
              </a:solidFill>
              <a:latin typeface="Calibri"/>
              <a:ea typeface="Calibri"/>
              <a:cs typeface="Calibri"/>
              <a:sym typeface="Calibri"/>
            </a:endParaRPr>
          </a:p>
        </p:txBody>
      </p:sp>
      <p:sp>
        <p:nvSpPr>
          <p:cNvPr id="478" name="Google Shape;478;p74"/>
          <p:cNvSpPr txBox="1"/>
          <p:nvPr/>
        </p:nvSpPr>
        <p:spPr>
          <a:xfrm>
            <a:off x="4526700" y="183450"/>
            <a:ext cx="4475400" cy="4960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Encoder-Decoder (cross) attention</a:t>
            </a:r>
            <a:endParaRPr b="1"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Functions similarly to multi-head self-attention</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 difference lies in the source of Q, K, and V:</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Queries (Q) are created from the decoder layer below it</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Keys (K) and Values (V) are taken from the output of the encoder stack.</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Allows the decoder to:</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Attend to relevant parts of the input sequence</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Align generated tokens with the encoded input</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Self-attention</a:t>
            </a:r>
            <a:r>
              <a:rPr lang="en" sz="1200">
                <a:solidFill>
                  <a:schemeClr val="dk1"/>
                </a:solidFill>
                <a:latin typeface="Calibri"/>
                <a:ea typeface="Calibri"/>
                <a:cs typeface="Calibri"/>
                <a:sym typeface="Calibri"/>
              </a:rPr>
              <a:t>: Q, K, V come from the same sequence</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Cross attention</a:t>
            </a:r>
            <a:r>
              <a:rPr lang="en" sz="1200">
                <a:solidFill>
                  <a:schemeClr val="dk1"/>
                </a:solidFill>
                <a:latin typeface="Calibri"/>
                <a:ea typeface="Calibri"/>
                <a:cs typeface="Calibri"/>
                <a:sym typeface="Calibri"/>
              </a:rPr>
              <a:t>: Q comes from one sequence, K and V from another</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Overall purpose</a:t>
            </a:r>
            <a:endParaRPr b="1"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Masked self-attention enforces correct generation order</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Encoder–decoder attention grounds output tokens in the input sequence</a:t>
            </a:r>
            <a:endParaRPr sz="1200">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5"/>
          <p:cNvSpPr txBox="1"/>
          <p:nvPr>
            <p:ph type="title"/>
          </p:nvPr>
        </p:nvSpPr>
        <p:spPr>
          <a:xfrm>
            <a:off x="0" y="48750"/>
            <a:ext cx="4055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0909"/>
              <a:buNone/>
            </a:pPr>
            <a:r>
              <a:rPr b="1" lang="en" sz="2420">
                <a:latin typeface="Calibri"/>
                <a:ea typeface="Calibri"/>
                <a:cs typeface="Calibri"/>
                <a:sym typeface="Calibri"/>
              </a:rPr>
              <a:t>Masked Self-Attention in Detail</a:t>
            </a:r>
            <a:endParaRPr b="1" sz="2420">
              <a:latin typeface="Calibri"/>
              <a:ea typeface="Calibri"/>
              <a:cs typeface="Calibri"/>
              <a:sym typeface="Calibri"/>
            </a:endParaRPr>
          </a:p>
        </p:txBody>
      </p:sp>
      <p:sp>
        <p:nvSpPr>
          <p:cNvPr id="484" name="Google Shape;484;p75"/>
          <p:cNvSpPr txBox="1"/>
          <p:nvPr/>
        </p:nvSpPr>
        <p:spPr>
          <a:xfrm>
            <a:off x="142275" y="669600"/>
            <a:ext cx="4120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485" name="Google Shape;485;p75"/>
          <p:cNvSpPr txBox="1"/>
          <p:nvPr/>
        </p:nvSpPr>
        <p:spPr>
          <a:xfrm>
            <a:off x="135125" y="619525"/>
            <a:ext cx="88776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Calibri"/>
                <a:ea typeface="Calibri"/>
                <a:cs typeface="Calibri"/>
                <a:sym typeface="Calibri"/>
              </a:rPr>
              <a:t>Recall in encoder self-attention, every token can attend to every other token.</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In the decoder, each token can only attend to itself and tokens before it.</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Future tokens are hidden. This is called masking.</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Why Masking?</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During generation, future words do not exist yet.</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Allowing the model to see them during training would be cheating.</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The model must learn to predict the next word without peeking ahead.</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How Masking Works</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Before softmax, a mask is added to the raw attention scores.</a:t>
            </a:r>
            <a:endParaRPr>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latin typeface="Calibri"/>
                <a:ea typeface="Calibri"/>
                <a:cs typeface="Calibri"/>
                <a:sym typeface="Calibri"/>
              </a:rPr>
              <a:t>Future positions are set to -inf so that after softmax they become 0.</a:t>
            </a:r>
            <a:endParaRPr>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6"/>
          <p:cNvSpPr txBox="1"/>
          <p:nvPr>
            <p:ph type="title"/>
          </p:nvPr>
        </p:nvSpPr>
        <p:spPr>
          <a:xfrm>
            <a:off x="0" y="48750"/>
            <a:ext cx="4055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0909"/>
              <a:buNone/>
            </a:pPr>
            <a:r>
              <a:rPr b="1" lang="en" sz="2420">
                <a:latin typeface="Calibri"/>
                <a:ea typeface="Calibri"/>
                <a:cs typeface="Calibri"/>
                <a:sym typeface="Calibri"/>
              </a:rPr>
              <a:t>Masked Self-Attention in Detail</a:t>
            </a:r>
            <a:endParaRPr b="1" sz="2420">
              <a:latin typeface="Calibri"/>
              <a:ea typeface="Calibri"/>
              <a:cs typeface="Calibri"/>
              <a:sym typeface="Calibri"/>
            </a:endParaRPr>
          </a:p>
        </p:txBody>
      </p:sp>
      <p:sp>
        <p:nvSpPr>
          <p:cNvPr id="491" name="Google Shape;491;p76"/>
          <p:cNvSpPr txBox="1"/>
          <p:nvPr/>
        </p:nvSpPr>
        <p:spPr>
          <a:xfrm>
            <a:off x="142275" y="669600"/>
            <a:ext cx="4120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492" name="Google Shape;492;p76"/>
          <p:cNvSpPr txBox="1"/>
          <p:nvPr/>
        </p:nvSpPr>
        <p:spPr>
          <a:xfrm>
            <a:off x="135125" y="619525"/>
            <a:ext cx="4235100" cy="407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Calibri"/>
                <a:ea typeface="Calibri"/>
                <a:cs typeface="Calibri"/>
                <a:sym typeface="Calibri"/>
              </a:rPr>
              <a:t>EXAMPLE: generating "I am a student" (4 tokens)</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Before masking (raw attention scores):</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I       am      a     student</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I        [ s11      s12     s13     s14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am       [ s21      s22     s23     s24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a        [ s31      s32     s33     s34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student  [ s41      s42     s43     s44  ]</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After masking (future positions set to -inf):</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I       am      a     student</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I        [ s11      -inf    -inf    -inf ]  &lt;- sees only itself</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am       [ s21      s22     -inf    -inf ]  &lt;- sees I and itself</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a        [ s31      s32     s33     -inf ]  &lt;- sees I, am, itself</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student  [ s41      s42     s43     s44  ]  &lt;- sees all previous</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After softmax, -inf becomes exactly 0.</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Future tokens receive zero attention weight.</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Result : The decoder learns to generate each token using only the tokens it has already produced, preserving the</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autoregressive nature of generation.</a:t>
            </a:r>
            <a:endParaRPr sz="1100">
              <a:solidFill>
                <a:schemeClr val="dk1"/>
              </a:solidFill>
              <a:latin typeface="Calibri"/>
              <a:ea typeface="Calibri"/>
              <a:cs typeface="Calibri"/>
              <a:sym typeface="Calibri"/>
            </a:endParaRPr>
          </a:p>
        </p:txBody>
      </p:sp>
      <p:sp>
        <p:nvSpPr>
          <p:cNvPr id="493" name="Google Shape;493;p76"/>
          <p:cNvSpPr txBox="1"/>
          <p:nvPr/>
        </p:nvSpPr>
        <p:spPr>
          <a:xfrm>
            <a:off x="4498875" y="669600"/>
            <a:ext cx="4449600" cy="340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Calibri"/>
                <a:ea typeface="Calibri"/>
                <a:cs typeface="Calibri"/>
                <a:sym typeface="Calibri"/>
              </a:rPr>
              <a:t>s11 means the attention score between token 1 (I) and token 1 (I)</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s12 means the attention score between token 1 (I) and token 2 (am)</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s21 means the attention score between token 2 (am) and token 1 (I)</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The naming convention is:</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s(row)(column)</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row    = the token that is asking   (the Query token)</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column = the token being looked at  (the Key token)</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So s34 means token 3 (a) looking at token 4 (student).</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HOW THEY ARE COMPUTED</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Each score is a dot product of a Query vector and a Key vector:</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s11 = q1 . k1   (I asking about I)</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s12 = q1 . k2   (I asking about am)</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s21 = q2 . k1   (am asking about I)</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s22 = q2 . k2   (am asking about am)</a:t>
            </a:r>
            <a:endParaRPr sz="1100">
              <a:solidFill>
                <a:schemeClr val="dk1"/>
              </a:solidFill>
              <a:latin typeface="Calibri"/>
              <a:ea typeface="Calibri"/>
              <a:cs typeface="Calibri"/>
              <a:sym typeface="Calibri"/>
            </a:endParaRPr>
          </a:p>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 sz="1100">
                <a:solidFill>
                  <a:schemeClr val="dk1"/>
                </a:solidFill>
                <a:latin typeface="Calibri"/>
                <a:ea typeface="Calibri"/>
                <a:cs typeface="Calibri"/>
                <a:sym typeface="Calibri"/>
              </a:rPr>
              <a:t>Higher score means more relevant. Lower score means less relevant.</a:t>
            </a:r>
            <a:endParaRPr sz="1100">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7"/>
          <p:cNvSpPr txBox="1"/>
          <p:nvPr>
            <p:ph type="title"/>
          </p:nvPr>
        </p:nvSpPr>
        <p:spPr>
          <a:xfrm>
            <a:off x="0" y="48750"/>
            <a:ext cx="88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0909"/>
              <a:buNone/>
            </a:pPr>
            <a:r>
              <a:rPr b="1" lang="en" sz="2420">
                <a:latin typeface="Calibri"/>
                <a:ea typeface="Calibri"/>
                <a:cs typeface="Calibri"/>
                <a:sym typeface="Calibri"/>
              </a:rPr>
              <a:t>Decoder Block : Encoder-Decoder Attention / Cross-Attention in Detail</a:t>
            </a:r>
            <a:endParaRPr b="1" sz="2420">
              <a:latin typeface="Calibri"/>
              <a:ea typeface="Calibri"/>
              <a:cs typeface="Calibri"/>
              <a:sym typeface="Calibri"/>
            </a:endParaRPr>
          </a:p>
        </p:txBody>
      </p:sp>
      <p:sp>
        <p:nvSpPr>
          <p:cNvPr id="499" name="Google Shape;499;p77"/>
          <p:cNvSpPr txBox="1"/>
          <p:nvPr/>
        </p:nvSpPr>
        <p:spPr>
          <a:xfrm>
            <a:off x="107050" y="506550"/>
            <a:ext cx="3919500" cy="4595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Visualizing One Decoder Layer</a:t>
            </a:r>
            <a:endParaRPr b="1"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INPUT from previous decoder layer</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Masked Self-Attention          &lt;- sublayer 1</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Add &amp; Norm</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output of masked self-attention  &lt;- THIS IS "BELOW IT"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                             THIS BECOMES Q</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Cross-Attention                &lt;- sublayer 2</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Q = output from above            (from decoder, "below" cross-attention)</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K = encoder output               (from encoder stack)</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V = encoder output               (from encoder stack)</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Add &amp; Norm</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Feed Forward Network           &lt;- sublayer 3</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OUTPUT to next decoder layer</a:t>
            </a:r>
            <a:endParaRPr sz="1000">
              <a:solidFill>
                <a:schemeClr val="dk1"/>
              </a:solidFill>
              <a:latin typeface="Calibri"/>
              <a:ea typeface="Calibri"/>
              <a:cs typeface="Calibri"/>
              <a:sym typeface="Calibri"/>
            </a:endParaRPr>
          </a:p>
        </p:txBody>
      </p:sp>
      <p:sp>
        <p:nvSpPr>
          <p:cNvPr id="500" name="Google Shape;500;p77"/>
          <p:cNvSpPr txBox="1"/>
          <p:nvPr/>
        </p:nvSpPr>
        <p:spPr>
          <a:xfrm>
            <a:off x="4526700" y="183450"/>
            <a:ext cx="4475400" cy="4960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Why It Must Come From Below</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The Q must carry information about what has been generated so far.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The masked self-attention sublayer is responsible for building that representation.</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If Q came from somewhere else: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From raw embeddings: no context from previous tokens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From encoder: that is K and V, using it for Q too would collapse cross-attention into self-attention</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From a higher sublayer: FFN comes after, not before</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The masked self-attention output is the only place in the decoder that has the right information to form Q: context of what has been generated so far.</a:t>
            </a:r>
            <a:endParaRPr sz="1200">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8"/>
          <p:cNvSpPr txBox="1"/>
          <p:nvPr/>
        </p:nvSpPr>
        <p:spPr>
          <a:xfrm>
            <a:off x="107050" y="506550"/>
            <a:ext cx="3919500" cy="4595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Each encoder layer has this structure:</a:t>
            </a:r>
            <a:endParaRPr b="1"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Input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Multi-Head Self-Attention</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Add &amp; Norm</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Feed Forward Network</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Add &amp; Norm</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Output  &lt;- THIS is what becomes K and 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The output comes after BOTH sublayers of the last encoder.</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Specifically after the second Add &amp; Norm of encoder layer 6.</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So K and V are derived from the output that has passed through:</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Self-attention of encoder 6</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FFN of encoder 6</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Final Add &amp; Norm of encoder 6</a:t>
            </a:r>
            <a:endParaRPr sz="1000">
              <a:solidFill>
                <a:schemeClr val="dk1"/>
              </a:solidFill>
              <a:latin typeface="Calibri"/>
              <a:ea typeface="Calibri"/>
              <a:cs typeface="Calibri"/>
              <a:sym typeface="Calibri"/>
            </a:endParaRPr>
          </a:p>
        </p:txBody>
      </p:sp>
      <p:sp>
        <p:nvSpPr>
          <p:cNvPr id="506" name="Google Shape;506;p78"/>
          <p:cNvSpPr txBox="1"/>
          <p:nvPr/>
        </p:nvSpPr>
        <p:spPr>
          <a:xfrm>
            <a:off x="4572000" y="333450"/>
            <a:ext cx="4475400" cy="4768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How K And V Are Created From Encoder Output</a:t>
            </a:r>
            <a:endParaRPr b="1"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The encoder output is a matrix of shape:</a:t>
            </a:r>
            <a:endParaRPr b="1"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[sequence_length  x  d_model]</a:t>
            </a:r>
            <a:endParaRPr b="1"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e.g. [3  x  512]  for "Je suis étudiant"</a:t>
            </a:r>
            <a:endParaRPr b="1"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This matrix is multiplied by two weight matrices:</a:t>
            </a:r>
            <a:endParaRPr b="1"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b="1" lang="en" sz="1000">
                <a:solidFill>
                  <a:schemeClr val="dk1"/>
                </a:solidFill>
                <a:latin typeface="Calibri"/>
                <a:ea typeface="Calibri"/>
                <a:cs typeface="Calibri"/>
                <a:sym typeface="Calibri"/>
              </a:rPr>
              <a:t>K = encoder_output * WK   &lt;- learned weight matrix</a:t>
            </a:r>
            <a:endParaRPr b="1" sz="1000">
              <a:solidFill>
                <a:schemeClr val="dk1"/>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b="1" lang="en" sz="1000">
                <a:solidFill>
                  <a:schemeClr val="dk1"/>
                </a:solidFill>
                <a:latin typeface="Calibri"/>
                <a:ea typeface="Calibri"/>
                <a:cs typeface="Calibri"/>
                <a:sym typeface="Calibri"/>
              </a:rPr>
              <a:t>V = encoder_output * WV   &lt;- learned weight matrix</a:t>
            </a:r>
            <a:endParaRPr b="1"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WK and WV here belong to the cross-attention sublayer of the decoder. They are different from the WK and WV used inside the encoder self-attention.</a:t>
            </a:r>
            <a:endParaRPr b="1"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b="1"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 sz="1000">
                <a:solidFill>
                  <a:schemeClr val="dk1"/>
                </a:solidFill>
                <a:latin typeface="Calibri"/>
                <a:ea typeface="Calibri"/>
                <a:cs typeface="Calibri"/>
                <a:sym typeface="Calibri"/>
              </a:rPr>
              <a:t>Same K And V For All Decoder Layers</a:t>
            </a:r>
            <a:endParaRPr b="1"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An important detail: the same encoder output is sent to</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ALL decoder layers, not just decoder layer 1.</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Encoder layer 6 output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|-----&gt; Decoder Layer 1 cross-attention (K, 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|-----&gt; Decoder Layer 2 cross-attention (K, 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|-----&gt; Decoder Layer 3 cross-attention (K, 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|-----&gt; Decoder Layer 4 cross-attention (K, 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|-----&gt; Decoder Layer 5 cross-attention (K, 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|-----&gt; Decoder Layer 6 cross-attention (K, V)</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Each decoder layer gets its own copy of K and V derived from the same encoder output. </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000">
                <a:solidFill>
                  <a:schemeClr val="dk1"/>
                </a:solidFill>
                <a:latin typeface="Calibri"/>
                <a:ea typeface="Calibri"/>
                <a:cs typeface="Calibri"/>
                <a:sym typeface="Calibri"/>
              </a:rPr>
              <a:t>Each decoder layer has its own WK and WV matrices so each produces different K and V vectors from the same encoder output.</a:t>
            </a:r>
            <a:endParaRPr sz="1000">
              <a:solidFill>
                <a:schemeClr val="dk1"/>
              </a:solidFill>
              <a:latin typeface="Calibri"/>
              <a:ea typeface="Calibri"/>
              <a:cs typeface="Calibri"/>
              <a:sym typeface="Calibri"/>
            </a:endParaRPr>
          </a:p>
        </p:txBody>
      </p:sp>
      <p:sp>
        <p:nvSpPr>
          <p:cNvPr id="507" name="Google Shape;507;p78"/>
          <p:cNvSpPr txBox="1"/>
          <p:nvPr>
            <p:ph type="title"/>
          </p:nvPr>
        </p:nvSpPr>
        <p:spPr>
          <a:xfrm>
            <a:off x="0" y="48750"/>
            <a:ext cx="8803200" cy="559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0909"/>
              <a:buNone/>
            </a:pPr>
            <a:r>
              <a:rPr b="1" lang="en" sz="2420">
                <a:latin typeface="Calibri"/>
                <a:ea typeface="Calibri"/>
                <a:cs typeface="Calibri"/>
                <a:sym typeface="Calibri"/>
              </a:rPr>
              <a:t>Decoder Block : Encoder-Decoder Attention / Cross-Attention in Detail</a:t>
            </a:r>
            <a:endParaRPr b="1" sz="2420">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79"/>
          <p:cNvSpPr txBox="1"/>
          <p:nvPr>
            <p:ph type="title"/>
          </p:nvPr>
        </p:nvSpPr>
        <p:spPr>
          <a:xfrm>
            <a:off x="69300" y="90750"/>
            <a:ext cx="5532600" cy="538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Final Linear and Softmax Layer</a:t>
            </a:r>
            <a:endParaRPr b="1">
              <a:latin typeface="Calibri"/>
              <a:ea typeface="Calibri"/>
              <a:cs typeface="Calibri"/>
              <a:sym typeface="Calibri"/>
            </a:endParaRPr>
          </a:p>
        </p:txBody>
      </p:sp>
      <p:pic>
        <p:nvPicPr>
          <p:cNvPr id="513" name="Google Shape;513;p79"/>
          <p:cNvPicPr preferRelativeResize="0"/>
          <p:nvPr/>
        </p:nvPicPr>
        <p:blipFill>
          <a:blip r:embed="rId3">
            <a:alphaModFix/>
          </a:blip>
          <a:stretch>
            <a:fillRect/>
          </a:stretch>
        </p:blipFill>
        <p:spPr>
          <a:xfrm>
            <a:off x="4572000" y="1572413"/>
            <a:ext cx="4482226" cy="2893575"/>
          </a:xfrm>
          <a:prstGeom prst="rect">
            <a:avLst/>
          </a:prstGeom>
          <a:noFill/>
          <a:ln>
            <a:noFill/>
          </a:ln>
        </p:spPr>
      </p:pic>
      <p:sp>
        <p:nvSpPr>
          <p:cNvPr id="514" name="Google Shape;514;p79"/>
          <p:cNvSpPr txBox="1"/>
          <p:nvPr/>
        </p:nvSpPr>
        <p:spPr>
          <a:xfrm>
            <a:off x="0" y="1064400"/>
            <a:ext cx="4843500" cy="39096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Calibri"/>
              <a:buChar char="●"/>
            </a:pPr>
            <a:r>
              <a:rPr b="1" lang="en" sz="1100">
                <a:latin typeface="Calibri"/>
                <a:ea typeface="Calibri"/>
                <a:cs typeface="Calibri"/>
                <a:sym typeface="Calibri"/>
              </a:rPr>
              <a:t>Decoder output to word generation</a:t>
            </a:r>
            <a:endParaRPr b="1"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lang="en" sz="1100">
                <a:latin typeface="Calibri"/>
                <a:ea typeface="Calibri"/>
                <a:cs typeface="Calibri"/>
                <a:sym typeface="Calibri"/>
              </a:rPr>
              <a:t>The decoder stack produces a vector of floating-point values</a:t>
            </a:r>
            <a:endParaRPr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lang="en" sz="1100">
                <a:latin typeface="Calibri"/>
                <a:ea typeface="Calibri"/>
                <a:cs typeface="Calibri"/>
                <a:sym typeface="Calibri"/>
              </a:rPr>
              <a:t>This vector must be converted into an actual word</a:t>
            </a:r>
            <a:endParaRPr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b="1" lang="en" sz="1100">
                <a:latin typeface="Calibri"/>
                <a:ea typeface="Calibri"/>
                <a:cs typeface="Calibri"/>
                <a:sym typeface="Calibri"/>
              </a:rPr>
              <a:t>What The Decoder Produces : </a:t>
            </a:r>
            <a:endParaRPr b="1"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lang="en" sz="1100">
                <a:latin typeface="Calibri"/>
                <a:ea typeface="Calibri"/>
                <a:cs typeface="Calibri"/>
                <a:sym typeface="Calibri"/>
              </a:rPr>
              <a:t>After processing through all decoder layers, for each</a:t>
            </a:r>
            <a:endParaRPr sz="1100">
              <a:latin typeface="Calibri"/>
              <a:ea typeface="Calibri"/>
              <a:cs typeface="Calibri"/>
              <a:sym typeface="Calibri"/>
            </a:endParaRPr>
          </a:p>
          <a:p>
            <a:pPr indent="0" lvl="0" marL="1371600" rtl="0" algn="l">
              <a:spcBef>
                <a:spcPts val="0"/>
              </a:spcBef>
              <a:spcAft>
                <a:spcPts val="0"/>
              </a:spcAft>
              <a:buNone/>
            </a:pPr>
            <a:r>
              <a:rPr lang="en" sz="1100">
                <a:latin typeface="Calibri"/>
                <a:ea typeface="Calibri"/>
                <a:cs typeface="Calibri"/>
                <a:sym typeface="Calibri"/>
              </a:rPr>
              <a:t>generation step the decoder produces a single vector.</a:t>
            </a:r>
            <a:endParaRPr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lang="en" sz="1100">
                <a:latin typeface="Calibri"/>
                <a:ea typeface="Calibri"/>
                <a:cs typeface="Calibri"/>
                <a:sym typeface="Calibri"/>
              </a:rPr>
              <a:t>Decoder output vector shape:  [1  x  d_model]</a:t>
            </a:r>
            <a:endParaRPr sz="1100">
              <a:latin typeface="Calibri"/>
              <a:ea typeface="Calibri"/>
              <a:cs typeface="Calibri"/>
              <a:sym typeface="Calibri"/>
            </a:endParaRPr>
          </a:p>
          <a:p>
            <a:pPr indent="0" lvl="0" marL="1371600" rtl="0" algn="l">
              <a:spcBef>
                <a:spcPts val="0"/>
              </a:spcBef>
              <a:spcAft>
                <a:spcPts val="0"/>
              </a:spcAft>
              <a:buNone/>
            </a:pPr>
            <a:r>
              <a:rPr lang="en" sz="1100">
                <a:latin typeface="Calibri"/>
                <a:ea typeface="Calibri"/>
                <a:cs typeface="Calibri"/>
                <a:sym typeface="Calibri"/>
              </a:rPr>
              <a:t>[1  x  512 ] This is just 512 floating point numbers. </a:t>
            </a:r>
            <a:endParaRPr sz="1100">
              <a:latin typeface="Calibri"/>
              <a:ea typeface="Calibri"/>
              <a:cs typeface="Calibri"/>
              <a:sym typeface="Calibri"/>
            </a:endParaRPr>
          </a:p>
          <a:p>
            <a:pPr indent="0" lvl="0" marL="1371600" rtl="0" algn="l">
              <a:spcBef>
                <a:spcPts val="0"/>
              </a:spcBef>
              <a:spcAft>
                <a:spcPts val="0"/>
              </a:spcAft>
              <a:buNone/>
            </a:pPr>
            <a:r>
              <a:rPr lang="en" sz="1100">
                <a:latin typeface="Calibri"/>
                <a:ea typeface="Calibri"/>
                <a:cs typeface="Calibri"/>
                <a:sym typeface="Calibri"/>
              </a:rPr>
              <a:t>For example: decoder_output = [0.21, -0.43, 0.87, 0.11, ..., 0.34], 512 numbers. </a:t>
            </a:r>
            <a:endParaRPr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lang="en" sz="1100">
                <a:latin typeface="Calibri"/>
                <a:ea typeface="Calibri"/>
                <a:cs typeface="Calibri"/>
                <a:sym typeface="Calibri"/>
              </a:rPr>
              <a:t>This vector is a rich representation of what the next</a:t>
            </a:r>
            <a:endParaRPr sz="1100">
              <a:latin typeface="Calibri"/>
              <a:ea typeface="Calibri"/>
              <a:cs typeface="Calibri"/>
              <a:sym typeface="Calibri"/>
            </a:endParaRPr>
          </a:p>
          <a:p>
            <a:pPr indent="0" lvl="0" marL="1371600" rtl="0" algn="l">
              <a:spcBef>
                <a:spcPts val="0"/>
              </a:spcBef>
              <a:spcAft>
                <a:spcPts val="0"/>
              </a:spcAft>
              <a:buNone/>
            </a:pPr>
            <a:r>
              <a:rPr lang="en" sz="1100">
                <a:latin typeface="Calibri"/>
                <a:ea typeface="Calibri"/>
                <a:cs typeface="Calibri"/>
                <a:sym typeface="Calibri"/>
              </a:rPr>
              <a:t>word should be. But it is not a word yet. It is just</a:t>
            </a:r>
            <a:endParaRPr sz="1100">
              <a:latin typeface="Calibri"/>
              <a:ea typeface="Calibri"/>
              <a:cs typeface="Calibri"/>
              <a:sym typeface="Calibri"/>
            </a:endParaRPr>
          </a:p>
          <a:p>
            <a:pPr indent="0" lvl="0" marL="1371600" rtl="0" algn="l">
              <a:spcBef>
                <a:spcPts val="0"/>
              </a:spcBef>
              <a:spcAft>
                <a:spcPts val="0"/>
              </a:spcAft>
              <a:buNone/>
            </a:pPr>
            <a:r>
              <a:rPr lang="en" sz="1100">
                <a:latin typeface="Calibri"/>
                <a:ea typeface="Calibri"/>
                <a:cs typeface="Calibri"/>
                <a:sym typeface="Calibri"/>
              </a:rPr>
              <a:t>a point in 512 dimensional space. We need to convert</a:t>
            </a:r>
            <a:endParaRPr sz="1100">
              <a:latin typeface="Calibri"/>
              <a:ea typeface="Calibri"/>
              <a:cs typeface="Calibri"/>
              <a:sym typeface="Calibri"/>
            </a:endParaRPr>
          </a:p>
          <a:p>
            <a:pPr indent="0" lvl="0" marL="1371600" rtl="0" algn="l">
              <a:spcBef>
                <a:spcPts val="0"/>
              </a:spcBef>
              <a:spcAft>
                <a:spcPts val="0"/>
              </a:spcAft>
              <a:buNone/>
            </a:pPr>
            <a:r>
              <a:rPr lang="en" sz="1100">
                <a:latin typeface="Calibri"/>
                <a:ea typeface="Calibri"/>
                <a:cs typeface="Calibri"/>
                <a:sym typeface="Calibri"/>
              </a:rPr>
              <a:t>it into an actual word from the vocabulary.</a:t>
            </a:r>
            <a:endParaRPr sz="1100">
              <a:latin typeface="Calibri"/>
              <a:ea typeface="Calibri"/>
              <a:cs typeface="Calibri"/>
              <a:sym typeface="Calibri"/>
            </a:endParaRPr>
          </a:p>
          <a:p>
            <a:pPr indent="-298450" lvl="0" marL="914400" rtl="0" algn="l">
              <a:spcBef>
                <a:spcPts val="0"/>
              </a:spcBef>
              <a:spcAft>
                <a:spcPts val="0"/>
              </a:spcAft>
              <a:buSzPts val="1100"/>
              <a:buFont typeface="Calibri"/>
              <a:buChar char="●"/>
            </a:pPr>
            <a:r>
              <a:rPr lang="en" sz="1100">
                <a:latin typeface="Calibri"/>
                <a:ea typeface="Calibri"/>
                <a:cs typeface="Calibri"/>
                <a:sym typeface="Calibri"/>
              </a:rPr>
              <a:t>Problem : </a:t>
            </a:r>
            <a:endParaRPr sz="1100">
              <a:latin typeface="Calibri"/>
              <a:ea typeface="Calibri"/>
              <a:cs typeface="Calibri"/>
              <a:sym typeface="Calibri"/>
            </a:endParaRPr>
          </a:p>
          <a:p>
            <a:pPr indent="-298450" lvl="1" marL="1371600" rtl="0" algn="l">
              <a:spcBef>
                <a:spcPts val="0"/>
              </a:spcBef>
              <a:spcAft>
                <a:spcPts val="0"/>
              </a:spcAft>
              <a:buSzPts val="1100"/>
              <a:buFont typeface="Calibri"/>
              <a:buChar char="○"/>
            </a:pPr>
            <a:r>
              <a:rPr lang="en" sz="1100">
                <a:latin typeface="Calibri"/>
                <a:ea typeface="Calibri"/>
                <a:cs typeface="Calibri"/>
                <a:sym typeface="Calibri"/>
              </a:rPr>
              <a:t>Vocabulary has 10,000 words.</a:t>
            </a:r>
            <a:endParaRPr sz="1100">
              <a:latin typeface="Calibri"/>
              <a:ea typeface="Calibri"/>
              <a:cs typeface="Calibri"/>
              <a:sym typeface="Calibri"/>
            </a:endParaRPr>
          </a:p>
          <a:p>
            <a:pPr indent="-298450" lvl="1" marL="1371600" rtl="0" algn="l">
              <a:spcBef>
                <a:spcPts val="0"/>
              </a:spcBef>
              <a:spcAft>
                <a:spcPts val="0"/>
              </a:spcAft>
              <a:buSzPts val="1100"/>
              <a:buFont typeface="Calibri"/>
              <a:buChar char="○"/>
            </a:pPr>
            <a:r>
              <a:rPr lang="en" sz="1100">
                <a:latin typeface="Calibri"/>
                <a:ea typeface="Calibri"/>
                <a:cs typeface="Calibri"/>
                <a:sym typeface="Calibri"/>
              </a:rPr>
              <a:t>Decoder output has 512 numbers.</a:t>
            </a:r>
            <a:endParaRPr sz="1100">
              <a:latin typeface="Calibri"/>
              <a:ea typeface="Calibri"/>
              <a:cs typeface="Calibri"/>
              <a:sym typeface="Calibri"/>
            </a:endParaRPr>
          </a:p>
          <a:p>
            <a:pPr indent="-298450" lvl="1" marL="1371600" rtl="0" algn="l">
              <a:spcBef>
                <a:spcPts val="0"/>
              </a:spcBef>
              <a:spcAft>
                <a:spcPts val="0"/>
              </a:spcAft>
              <a:buSzPts val="1100"/>
              <a:buFont typeface="Calibri"/>
              <a:buChar char="○"/>
            </a:pPr>
            <a:r>
              <a:rPr lang="en" sz="1100">
                <a:latin typeface="Calibri"/>
                <a:ea typeface="Calibri"/>
                <a:cs typeface="Calibri"/>
                <a:sym typeface="Calibri"/>
              </a:rPr>
              <a:t>These do not match. We cannot directly compare a 512</a:t>
            </a:r>
            <a:endParaRPr sz="1100">
              <a:latin typeface="Calibri"/>
              <a:ea typeface="Calibri"/>
              <a:cs typeface="Calibri"/>
              <a:sym typeface="Calibri"/>
            </a:endParaRPr>
          </a:p>
          <a:p>
            <a:pPr indent="0" lvl="0" marL="1371600" rtl="0" algn="l">
              <a:spcBef>
                <a:spcPts val="0"/>
              </a:spcBef>
              <a:spcAft>
                <a:spcPts val="0"/>
              </a:spcAft>
              <a:buNone/>
            </a:pPr>
            <a:r>
              <a:rPr lang="en" sz="1100">
                <a:latin typeface="Calibri"/>
                <a:ea typeface="Calibri"/>
                <a:cs typeface="Calibri"/>
                <a:sym typeface="Calibri"/>
              </a:rPr>
              <a:t>dimensional vector against 10,000 words.</a:t>
            </a:r>
            <a:endParaRPr sz="1100">
              <a:latin typeface="Calibri"/>
              <a:ea typeface="Calibri"/>
              <a:cs typeface="Calibri"/>
              <a:sym typeface="Calibri"/>
            </a:endParaRPr>
          </a:p>
          <a:p>
            <a:pPr indent="-298450" lvl="1" marL="1371600" rtl="0" algn="l">
              <a:spcBef>
                <a:spcPts val="0"/>
              </a:spcBef>
              <a:spcAft>
                <a:spcPts val="0"/>
              </a:spcAft>
              <a:buSzPts val="1100"/>
              <a:buFont typeface="Calibri"/>
              <a:buChar char="○"/>
            </a:pPr>
            <a:r>
              <a:rPr lang="en" sz="1100">
                <a:latin typeface="Calibri"/>
                <a:ea typeface="Calibri"/>
                <a:cs typeface="Calibri"/>
                <a:sym typeface="Calibri"/>
              </a:rPr>
              <a:t>We need a way to score every word in the vocabulary</a:t>
            </a:r>
            <a:endParaRPr sz="1100">
              <a:latin typeface="Calibri"/>
              <a:ea typeface="Calibri"/>
              <a:cs typeface="Calibri"/>
              <a:sym typeface="Calibri"/>
            </a:endParaRPr>
          </a:p>
          <a:p>
            <a:pPr indent="0" lvl="0" marL="1371600" rtl="0" algn="l">
              <a:spcBef>
                <a:spcPts val="0"/>
              </a:spcBef>
              <a:spcAft>
                <a:spcPts val="0"/>
              </a:spcAft>
              <a:buNone/>
            </a:pPr>
            <a:r>
              <a:rPr lang="en" sz="1100">
                <a:latin typeface="Calibri"/>
                <a:ea typeface="Calibri"/>
                <a:cs typeface="Calibri"/>
                <a:sym typeface="Calibri"/>
              </a:rPr>
              <a:t>against this decoder output vector.</a:t>
            </a:r>
            <a:endParaRPr sz="1100">
              <a:latin typeface="Calibri"/>
              <a:ea typeface="Calibri"/>
              <a:cs typeface="Calibri"/>
              <a:sym typeface="Calibri"/>
            </a:endParaRPr>
          </a:p>
          <a:p>
            <a:pPr indent="0" lvl="0" marL="0" rtl="0" algn="l">
              <a:spcBef>
                <a:spcPts val="0"/>
              </a:spcBef>
              <a:spcAft>
                <a:spcPts val="0"/>
              </a:spcAft>
              <a:buNone/>
            </a:pPr>
            <a:r>
              <a:t/>
            </a:r>
            <a:endParaRPr sz="1100">
              <a:latin typeface="Calibri"/>
              <a:ea typeface="Calibri"/>
              <a:cs typeface="Calibri"/>
              <a:sym typeface="Calibri"/>
            </a:endParaRPr>
          </a:p>
        </p:txBody>
      </p:sp>
      <p:sp>
        <p:nvSpPr>
          <p:cNvPr id="515" name="Google Shape;515;p79"/>
          <p:cNvSpPr txBox="1"/>
          <p:nvPr/>
        </p:nvSpPr>
        <p:spPr>
          <a:xfrm>
            <a:off x="69300" y="543850"/>
            <a:ext cx="8670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The decoder stack outputs a vector of floats. How do we turn that into a word?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That’s the job of the final Linear layer which is followed by a Softmax Layer.</a:t>
            </a:r>
            <a:endParaRPr sz="1200">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0"/>
          <p:cNvSpPr txBox="1"/>
          <p:nvPr>
            <p:ph type="title"/>
          </p:nvPr>
        </p:nvSpPr>
        <p:spPr>
          <a:xfrm>
            <a:off x="69300" y="90750"/>
            <a:ext cx="5532600" cy="538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Final Linear and Softmax Layer</a:t>
            </a:r>
            <a:endParaRPr b="1">
              <a:latin typeface="Calibri"/>
              <a:ea typeface="Calibri"/>
              <a:cs typeface="Calibri"/>
              <a:sym typeface="Calibri"/>
            </a:endParaRPr>
          </a:p>
        </p:txBody>
      </p:sp>
      <p:pic>
        <p:nvPicPr>
          <p:cNvPr id="521" name="Google Shape;521;p80"/>
          <p:cNvPicPr preferRelativeResize="0"/>
          <p:nvPr/>
        </p:nvPicPr>
        <p:blipFill>
          <a:blip r:embed="rId3">
            <a:alphaModFix/>
          </a:blip>
          <a:stretch>
            <a:fillRect/>
          </a:stretch>
        </p:blipFill>
        <p:spPr>
          <a:xfrm>
            <a:off x="4572000" y="1572413"/>
            <a:ext cx="4482226" cy="2893575"/>
          </a:xfrm>
          <a:prstGeom prst="rect">
            <a:avLst/>
          </a:prstGeom>
          <a:noFill/>
          <a:ln>
            <a:noFill/>
          </a:ln>
        </p:spPr>
      </p:pic>
      <p:sp>
        <p:nvSpPr>
          <p:cNvPr id="522" name="Google Shape;522;p80"/>
          <p:cNvSpPr txBox="1"/>
          <p:nvPr/>
        </p:nvSpPr>
        <p:spPr>
          <a:xfrm>
            <a:off x="0" y="1064400"/>
            <a:ext cx="4405500" cy="40791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Calibri"/>
              <a:buChar char="●"/>
            </a:pPr>
            <a:r>
              <a:rPr b="1" lang="en" sz="1100">
                <a:latin typeface="Calibri"/>
                <a:ea typeface="Calibri"/>
                <a:cs typeface="Calibri"/>
                <a:sym typeface="Calibri"/>
              </a:rPr>
              <a:t>Linear layer</a:t>
            </a:r>
            <a:endParaRPr b="1"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b="1" lang="en" sz="1100">
                <a:latin typeface="Calibri"/>
                <a:ea typeface="Calibri"/>
                <a:cs typeface="Calibri"/>
                <a:sym typeface="Calibri"/>
              </a:rPr>
              <a:t>A fully connected layer</a:t>
            </a:r>
            <a:r>
              <a:rPr lang="en" sz="1100">
                <a:latin typeface="Calibri"/>
                <a:ea typeface="Calibri"/>
                <a:cs typeface="Calibri"/>
                <a:sym typeface="Calibri"/>
              </a:rPr>
              <a:t> applied to the decoder output</a:t>
            </a:r>
            <a:endParaRPr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lang="en" sz="1100">
                <a:latin typeface="Calibri"/>
                <a:ea typeface="Calibri"/>
                <a:cs typeface="Calibri"/>
                <a:sym typeface="Calibri"/>
              </a:rPr>
              <a:t>Projects the </a:t>
            </a:r>
            <a:r>
              <a:rPr b="1" lang="en" sz="1100">
                <a:latin typeface="Calibri"/>
                <a:ea typeface="Calibri"/>
                <a:cs typeface="Calibri"/>
                <a:sym typeface="Calibri"/>
              </a:rPr>
              <a:t>decoder vector into a logits vector</a:t>
            </a:r>
            <a:endParaRPr b="1"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b="1" lang="en" sz="1100">
                <a:latin typeface="Calibri"/>
                <a:ea typeface="Calibri"/>
                <a:cs typeface="Calibri"/>
                <a:sym typeface="Calibri"/>
              </a:rPr>
              <a:t>The logits vector size equals the output vocabulary size</a:t>
            </a:r>
            <a:endParaRPr b="1"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b="1" lang="en" sz="1100">
                <a:latin typeface="Calibri"/>
                <a:ea typeface="Calibri"/>
                <a:cs typeface="Calibri"/>
                <a:sym typeface="Calibri"/>
              </a:rPr>
              <a:t>A linear layer is a simple matrix multiplication.</a:t>
            </a:r>
            <a:endParaRPr b="1"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b="1" lang="en" sz="1100">
                <a:latin typeface="Calibri"/>
                <a:ea typeface="Calibri"/>
                <a:cs typeface="Calibri"/>
                <a:sym typeface="Calibri"/>
              </a:rPr>
              <a:t>Linear layer weight matrix shape:  [d_model  x  vocab_size] = [512   x  10,000]</a:t>
            </a:r>
            <a:endParaRPr b="1"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b="1" lang="en" sz="1100">
                <a:latin typeface="Calibri"/>
                <a:ea typeface="Calibri"/>
                <a:cs typeface="Calibri"/>
                <a:sym typeface="Calibri"/>
              </a:rPr>
              <a:t>logits = decoder_output * W_linear</a:t>
            </a:r>
            <a:endParaRPr b="1"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b="1" lang="en" sz="1100">
                <a:latin typeface="Calibri"/>
                <a:ea typeface="Calibri"/>
                <a:cs typeface="Calibri"/>
                <a:sym typeface="Calibri"/>
              </a:rPr>
              <a:t>= (1 x 512) * (512 x 10,000)</a:t>
            </a:r>
            <a:endParaRPr b="1"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b="1" lang="en" sz="1100">
                <a:latin typeface="Calibri"/>
                <a:ea typeface="Calibri"/>
                <a:cs typeface="Calibri"/>
                <a:sym typeface="Calibri"/>
              </a:rPr>
              <a:t>= (1 x 10,000)</a:t>
            </a:r>
            <a:endParaRPr b="1"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b="1" lang="en" sz="1100">
                <a:latin typeface="Calibri"/>
                <a:ea typeface="Calibri"/>
                <a:cs typeface="Calibri"/>
                <a:sym typeface="Calibri"/>
              </a:rPr>
              <a:t>Output is a vector of 10,000 numbers.</a:t>
            </a:r>
            <a:endParaRPr b="1"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b="1" lang="en" sz="1100">
                <a:latin typeface="Calibri"/>
                <a:ea typeface="Calibri"/>
                <a:cs typeface="Calibri"/>
                <a:sym typeface="Calibri"/>
              </a:rPr>
              <a:t>One number for each word in the vocabulary.</a:t>
            </a:r>
            <a:endParaRPr b="1"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b="1" lang="en" sz="1100">
                <a:latin typeface="Calibri"/>
                <a:ea typeface="Calibri"/>
                <a:cs typeface="Calibri"/>
                <a:sym typeface="Calibri"/>
              </a:rPr>
              <a:t>This output vector is called the logits vector.</a:t>
            </a:r>
            <a:endParaRPr b="1"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b="1" lang="en" sz="1100">
                <a:latin typeface="Calibri"/>
                <a:ea typeface="Calibri"/>
                <a:cs typeface="Calibri"/>
                <a:sym typeface="Calibri"/>
              </a:rPr>
              <a:t>Logits are raw unnormalized scores.</a:t>
            </a:r>
            <a:endParaRPr b="1"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b="1" lang="en" sz="1100">
                <a:latin typeface="Calibri"/>
                <a:ea typeface="Calibri"/>
                <a:cs typeface="Calibri"/>
                <a:sym typeface="Calibri"/>
              </a:rPr>
              <a:t>They are not probabilities yet.</a:t>
            </a:r>
            <a:endParaRPr b="1"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b="1" lang="en" sz="1100">
                <a:latin typeface="Calibri"/>
                <a:ea typeface="Calibri"/>
                <a:cs typeface="Calibri"/>
                <a:sym typeface="Calibri"/>
              </a:rPr>
              <a:t>They can be any value: positive, negative, large, small.</a:t>
            </a:r>
            <a:endParaRPr b="1"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b="1" lang="en" sz="1100">
                <a:latin typeface="Calibri"/>
                <a:ea typeface="Calibri"/>
                <a:cs typeface="Calibri"/>
                <a:sym typeface="Calibri"/>
              </a:rPr>
              <a:t>logits = [2.1, -0.5, 8.3, 0.2, -1.4, 3.7, ..., 0.9]</a:t>
            </a:r>
            <a:endParaRPr b="1"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b="1" lang="en" sz="1100">
                <a:latin typeface="Calibri"/>
                <a:ea typeface="Calibri"/>
                <a:cs typeface="Calibri"/>
                <a:sym typeface="Calibri"/>
              </a:rPr>
              <a:t>10,000 values, one per vocabulary word</a:t>
            </a:r>
            <a:endParaRPr b="1"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b="1" lang="en" sz="1100">
                <a:latin typeface="Calibri"/>
                <a:ea typeface="Calibri"/>
                <a:cs typeface="Calibri"/>
                <a:sym typeface="Calibri"/>
              </a:rPr>
              <a:t>Higher value = model thinks this word is more likely</a:t>
            </a:r>
            <a:endParaRPr b="1"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b="1" lang="en" sz="1100">
                <a:latin typeface="Calibri"/>
                <a:ea typeface="Calibri"/>
                <a:cs typeface="Calibri"/>
                <a:sym typeface="Calibri"/>
              </a:rPr>
              <a:t>Lower value  = model thinks this word is less likely</a:t>
            </a:r>
            <a:endParaRPr b="1" sz="1100">
              <a:latin typeface="Calibri"/>
              <a:ea typeface="Calibri"/>
              <a:cs typeface="Calibri"/>
              <a:sym typeface="Calibri"/>
            </a:endParaRPr>
          </a:p>
        </p:txBody>
      </p:sp>
      <p:sp>
        <p:nvSpPr>
          <p:cNvPr id="523" name="Google Shape;523;p80"/>
          <p:cNvSpPr txBox="1"/>
          <p:nvPr/>
        </p:nvSpPr>
        <p:spPr>
          <a:xfrm>
            <a:off x="69300" y="543850"/>
            <a:ext cx="8670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The decoder stack outputs a vector of floats. How do we turn that into a word?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That’s the job of the final Linear layer which is followed by a Softmax Layer.</a:t>
            </a:r>
            <a:endParaRPr sz="1200">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1"/>
          <p:cNvSpPr txBox="1"/>
          <p:nvPr>
            <p:ph type="title"/>
          </p:nvPr>
        </p:nvSpPr>
        <p:spPr>
          <a:xfrm>
            <a:off x="69300" y="90750"/>
            <a:ext cx="5532600" cy="538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Final Linear and Softmax Layer</a:t>
            </a:r>
            <a:endParaRPr b="1">
              <a:latin typeface="Calibri"/>
              <a:ea typeface="Calibri"/>
              <a:cs typeface="Calibri"/>
              <a:sym typeface="Calibri"/>
            </a:endParaRPr>
          </a:p>
        </p:txBody>
      </p:sp>
      <p:pic>
        <p:nvPicPr>
          <p:cNvPr id="529" name="Google Shape;529;p81"/>
          <p:cNvPicPr preferRelativeResize="0"/>
          <p:nvPr/>
        </p:nvPicPr>
        <p:blipFill>
          <a:blip r:embed="rId3">
            <a:alphaModFix/>
          </a:blip>
          <a:stretch>
            <a:fillRect/>
          </a:stretch>
        </p:blipFill>
        <p:spPr>
          <a:xfrm>
            <a:off x="4572000" y="1572413"/>
            <a:ext cx="4482226" cy="2893575"/>
          </a:xfrm>
          <a:prstGeom prst="rect">
            <a:avLst/>
          </a:prstGeom>
          <a:noFill/>
          <a:ln>
            <a:noFill/>
          </a:ln>
        </p:spPr>
      </p:pic>
      <p:sp>
        <p:nvSpPr>
          <p:cNvPr id="530" name="Google Shape;530;p81"/>
          <p:cNvSpPr txBox="1"/>
          <p:nvPr/>
        </p:nvSpPr>
        <p:spPr>
          <a:xfrm>
            <a:off x="0" y="1064400"/>
            <a:ext cx="4405500" cy="20472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Calibri"/>
              <a:buChar char="●"/>
            </a:pPr>
            <a:r>
              <a:rPr b="1" lang="en" sz="1100">
                <a:latin typeface="Calibri"/>
                <a:ea typeface="Calibri"/>
                <a:cs typeface="Calibri"/>
                <a:sym typeface="Calibri"/>
              </a:rPr>
              <a:t>Softmax layer</a:t>
            </a:r>
            <a:endParaRPr b="1"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lang="en" sz="1100">
                <a:latin typeface="Calibri"/>
                <a:ea typeface="Calibri"/>
                <a:cs typeface="Calibri"/>
                <a:sym typeface="Calibri"/>
              </a:rPr>
              <a:t>Converts logits into probabilities</a:t>
            </a:r>
            <a:endParaRPr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b="1" lang="en" sz="1100">
                <a:latin typeface="Calibri"/>
                <a:ea typeface="Calibri"/>
                <a:cs typeface="Calibri"/>
                <a:sym typeface="Calibri"/>
              </a:rPr>
              <a:t>Properties:</a:t>
            </a:r>
            <a:endParaRPr b="1"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lang="en" sz="1100">
                <a:latin typeface="Calibri"/>
                <a:ea typeface="Calibri"/>
                <a:cs typeface="Calibri"/>
                <a:sym typeface="Calibri"/>
              </a:rPr>
              <a:t>All values are positive</a:t>
            </a:r>
            <a:endParaRPr sz="1100">
              <a:latin typeface="Calibri"/>
              <a:ea typeface="Calibri"/>
              <a:cs typeface="Calibri"/>
              <a:sym typeface="Calibri"/>
            </a:endParaRPr>
          </a:p>
          <a:p>
            <a:pPr indent="-298450" lvl="2" marL="1371600" rtl="0" algn="l">
              <a:spcBef>
                <a:spcPts val="0"/>
              </a:spcBef>
              <a:spcAft>
                <a:spcPts val="0"/>
              </a:spcAft>
              <a:buSzPts val="1100"/>
              <a:buFont typeface="Calibri"/>
              <a:buChar char="■"/>
            </a:pPr>
            <a:r>
              <a:rPr lang="en" sz="1100">
                <a:latin typeface="Calibri"/>
                <a:ea typeface="Calibri"/>
                <a:cs typeface="Calibri"/>
                <a:sym typeface="Calibri"/>
              </a:rPr>
              <a:t>All probabilities sum to 1</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b="1" lang="en" sz="1100">
                <a:latin typeface="Calibri"/>
                <a:ea typeface="Calibri"/>
                <a:cs typeface="Calibri"/>
                <a:sym typeface="Calibri"/>
              </a:rPr>
              <a:t>Final word selection</a:t>
            </a:r>
            <a:endParaRPr b="1"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b="1" lang="en" sz="1100">
                <a:latin typeface="Calibri"/>
                <a:ea typeface="Calibri"/>
                <a:cs typeface="Calibri"/>
                <a:sym typeface="Calibri"/>
              </a:rPr>
              <a:t>The word with the highest probability is selected</a:t>
            </a:r>
            <a:endParaRPr b="1"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b="1" lang="en" sz="1100">
                <a:latin typeface="Calibri"/>
                <a:ea typeface="Calibri"/>
                <a:cs typeface="Calibri"/>
                <a:sym typeface="Calibri"/>
              </a:rPr>
              <a:t>This word becomes the output for the current time step</a:t>
            </a:r>
            <a:endParaRPr b="1" sz="1100">
              <a:latin typeface="Calibri"/>
              <a:ea typeface="Calibri"/>
              <a:cs typeface="Calibri"/>
              <a:sym typeface="Calibri"/>
            </a:endParaRPr>
          </a:p>
          <a:p>
            <a:pPr indent="-298450" lvl="1" marL="914400" rtl="0" algn="l">
              <a:spcBef>
                <a:spcPts val="0"/>
              </a:spcBef>
              <a:spcAft>
                <a:spcPts val="0"/>
              </a:spcAft>
              <a:buSzPts val="1100"/>
              <a:buFont typeface="Calibri"/>
              <a:buChar char="○"/>
            </a:pPr>
            <a:r>
              <a:rPr b="1" lang="en" sz="1100">
                <a:latin typeface="Calibri"/>
                <a:ea typeface="Calibri"/>
                <a:cs typeface="Calibri"/>
                <a:sym typeface="Calibri"/>
              </a:rPr>
              <a:t>This Is Called Greedy Decoding : </a:t>
            </a:r>
            <a:r>
              <a:rPr b="1" lang="en" sz="1100">
                <a:latin typeface="Calibri"/>
                <a:ea typeface="Calibri"/>
                <a:cs typeface="Calibri"/>
                <a:sym typeface="Calibri"/>
              </a:rPr>
              <a:t>Always picking the highest probability word is called</a:t>
            </a:r>
            <a:endParaRPr b="1" sz="1100">
              <a:latin typeface="Calibri"/>
              <a:ea typeface="Calibri"/>
              <a:cs typeface="Calibri"/>
              <a:sym typeface="Calibri"/>
            </a:endParaRPr>
          </a:p>
          <a:p>
            <a:pPr indent="0" lvl="0" marL="914400" rtl="0" algn="l">
              <a:spcBef>
                <a:spcPts val="0"/>
              </a:spcBef>
              <a:spcAft>
                <a:spcPts val="0"/>
              </a:spcAft>
              <a:buNone/>
            </a:pPr>
            <a:r>
              <a:rPr b="1" lang="en" sz="1100">
                <a:latin typeface="Calibri"/>
                <a:ea typeface="Calibri"/>
                <a:cs typeface="Calibri"/>
                <a:sym typeface="Calibri"/>
              </a:rPr>
              <a:t>greedy decoding. </a:t>
            </a:r>
            <a:endParaRPr b="1" sz="1100">
              <a:latin typeface="Calibri"/>
              <a:ea typeface="Calibri"/>
              <a:cs typeface="Calibri"/>
              <a:sym typeface="Calibri"/>
            </a:endParaRPr>
          </a:p>
        </p:txBody>
      </p:sp>
      <p:sp>
        <p:nvSpPr>
          <p:cNvPr id="531" name="Google Shape;531;p81"/>
          <p:cNvSpPr txBox="1"/>
          <p:nvPr/>
        </p:nvSpPr>
        <p:spPr>
          <a:xfrm>
            <a:off x="69300" y="543850"/>
            <a:ext cx="8670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The decoder stack outputs a vector of floats. How do we turn that into a word?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That’s the job of the final Linear layer which is followed by a Softmax Layer.</a:t>
            </a:r>
            <a:endParaRPr sz="120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How the Transformer is Trained</a:t>
            </a:r>
            <a:endParaRPr b="1">
              <a:latin typeface="Calibri"/>
              <a:ea typeface="Calibri"/>
              <a:cs typeface="Calibri"/>
              <a:sym typeface="Calibri"/>
            </a:endParaRPr>
          </a:p>
        </p:txBody>
      </p:sp>
      <p:sp>
        <p:nvSpPr>
          <p:cNvPr id="537" name="Google Shape;537;p8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solidFill>
                  <a:schemeClr val="dk1"/>
                </a:solidFill>
                <a:latin typeface="Calibri"/>
                <a:ea typeface="Calibri"/>
                <a:cs typeface="Calibri"/>
                <a:sym typeface="Calibri"/>
              </a:rPr>
              <a:t>GOAL</a:t>
            </a:r>
            <a:endParaRPr>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a:solidFill>
                  <a:schemeClr val="dk1"/>
                </a:solidFill>
                <a:latin typeface="Calibri"/>
                <a:ea typeface="Calibri"/>
                <a:cs typeface="Calibri"/>
                <a:sym typeface="Calibri"/>
              </a:rPr>
              <a:t>Given input-output sentence pairs, train the model to predict the correct output sequence one token at a time.</a:t>
            </a:r>
            <a:endParaRPr>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a:solidFill>
                  <a:schemeClr val="dk1"/>
                </a:solidFill>
                <a:latin typeface="Calibri"/>
                <a:ea typeface="Calibri"/>
                <a:cs typeface="Calibri"/>
                <a:sym typeface="Calibri"/>
              </a:rPr>
              <a:t>Input (French):   "Je suis étudiant"</a:t>
            </a:r>
            <a:endParaRPr>
              <a:solidFill>
                <a:schemeClr val="dk1"/>
              </a:solidFill>
              <a:latin typeface="Calibri"/>
              <a:ea typeface="Calibri"/>
              <a:cs typeface="Calibri"/>
              <a:sym typeface="Calibri"/>
            </a:endParaRPr>
          </a:p>
          <a:p>
            <a:pPr indent="0" lvl="0" marL="0" rtl="0" algn="l">
              <a:lnSpc>
                <a:spcPct val="100000"/>
              </a:lnSpc>
              <a:spcBef>
                <a:spcPts val="1200"/>
              </a:spcBef>
              <a:spcAft>
                <a:spcPts val="1200"/>
              </a:spcAft>
              <a:buNone/>
            </a:pPr>
            <a:r>
              <a:rPr lang="en">
                <a:solidFill>
                  <a:schemeClr val="dk1"/>
                </a:solidFill>
                <a:latin typeface="Calibri"/>
                <a:ea typeface="Calibri"/>
                <a:cs typeface="Calibri"/>
                <a:sym typeface="Calibri"/>
              </a:rPr>
              <a:t>Target (English): "I am a student"</a:t>
            </a:r>
            <a:endParaRPr>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How the Transformer is Trained</a:t>
            </a:r>
            <a:endParaRPr b="1">
              <a:latin typeface="Calibri"/>
              <a:ea typeface="Calibri"/>
              <a:cs typeface="Calibri"/>
              <a:sym typeface="Calibri"/>
            </a:endParaRPr>
          </a:p>
        </p:txBody>
      </p:sp>
      <p:sp>
        <p:nvSpPr>
          <p:cNvPr id="543" name="Google Shape;543;p83"/>
          <p:cNvSpPr txBox="1"/>
          <p:nvPr>
            <p:ph idx="1" type="body"/>
          </p:nvPr>
        </p:nvSpPr>
        <p:spPr>
          <a:xfrm>
            <a:off x="311700" y="1152475"/>
            <a:ext cx="4201500" cy="1756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dk1"/>
                </a:solidFill>
                <a:latin typeface="Calibri"/>
                <a:ea typeface="Calibri"/>
                <a:cs typeface="Calibri"/>
                <a:sym typeface="Calibri"/>
              </a:rPr>
              <a:t>Step 1: Forward Pass</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The encoder processes the full input sentence and produces context vectors for each token.</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"Je" "suis" "étudiant"  -&gt;  Encoder  -&gt;  [c1, c2, c3]</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The decoder then generates the output one token at a time.</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1200"/>
              </a:spcAft>
              <a:buNone/>
            </a:pPr>
            <a:r>
              <a:t/>
            </a:r>
            <a:endParaRPr sz="1200">
              <a:solidFill>
                <a:schemeClr val="dk1"/>
              </a:solidFill>
              <a:latin typeface="Calibri"/>
              <a:ea typeface="Calibri"/>
              <a:cs typeface="Calibri"/>
              <a:sym typeface="Calibri"/>
            </a:endParaRPr>
          </a:p>
        </p:txBody>
      </p:sp>
      <p:sp>
        <p:nvSpPr>
          <p:cNvPr id="544" name="Google Shape;544;p83"/>
          <p:cNvSpPr txBox="1"/>
          <p:nvPr/>
        </p:nvSpPr>
        <p:spPr>
          <a:xfrm>
            <a:off x="352200" y="2951625"/>
            <a:ext cx="41205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alibri"/>
                <a:ea typeface="Calibri"/>
                <a:cs typeface="Calibri"/>
                <a:sym typeface="Calibri"/>
              </a:rPr>
              <a:t>At each step it receives:</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The encoder context vectors (via encoder-decoder attention)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The correct previous token (via teacher forcing)</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&lt;START&gt;           -&gt;  Decoder  -&gt;  predicts "I"</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&lt;START&gt; I         -&gt;  Decoder  -&gt;  predicts "am"</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&lt;START&gt; I am      -&gt;  Decoder  -&gt;  predicts "a"</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&lt;START&gt; I am a    -&gt;  Decoder  -&gt;  predicts "student"</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 sz="1200">
                <a:solidFill>
                  <a:schemeClr val="dk1"/>
                </a:solidFill>
                <a:latin typeface="Calibri"/>
                <a:ea typeface="Calibri"/>
                <a:cs typeface="Calibri"/>
                <a:sym typeface="Calibri"/>
              </a:rPr>
              <a:t>&lt;START&gt; I am a student -&gt; Decoder -&gt; predicts &lt;END&gt;</a:t>
            </a:r>
            <a:endParaRPr sz="1200">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8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latin typeface="Calibri"/>
                <a:ea typeface="Calibri"/>
                <a:cs typeface="Calibri"/>
                <a:sym typeface="Calibri"/>
              </a:rPr>
              <a:t>How the Transformer is Trained</a:t>
            </a:r>
            <a:endParaRPr b="1" sz="1800">
              <a:latin typeface="Calibri"/>
              <a:ea typeface="Calibri"/>
              <a:cs typeface="Calibri"/>
              <a:sym typeface="Calibri"/>
            </a:endParaRPr>
          </a:p>
        </p:txBody>
      </p:sp>
      <p:sp>
        <p:nvSpPr>
          <p:cNvPr id="550" name="Google Shape;550;p84"/>
          <p:cNvSpPr txBox="1"/>
          <p:nvPr>
            <p:ph idx="1" type="body"/>
          </p:nvPr>
        </p:nvSpPr>
        <p:spPr>
          <a:xfrm>
            <a:off x="311700" y="1017725"/>
            <a:ext cx="8336400" cy="3901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chemeClr val="dk1"/>
                </a:solidFill>
                <a:latin typeface="Calibri"/>
                <a:ea typeface="Calibri"/>
                <a:cs typeface="Calibri"/>
                <a:sym typeface="Calibri"/>
              </a:rPr>
              <a:t>Step 2: Computing The Loss</a:t>
            </a:r>
            <a:endParaRPr b="1"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At each step the decoder outputs a probability distribution over the entire vocabulary via softmax.</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Example at step 2 (correct word is "am"):</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Vocabulary:   ...  am    is    are   was   were  ...</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Probability:  ...  0.72  0.15  0.08  0.03  0.02  ...</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Cross-entropy loss measures how wrong the prediction is:</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Loss = -log(probability of correct word)</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 -log(0.72)</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 0.33        &lt;- lower is better</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n" sz="1200">
                <a:solidFill>
                  <a:schemeClr val="dk1"/>
                </a:solidFill>
                <a:latin typeface="Calibri"/>
                <a:ea typeface="Calibri"/>
                <a:cs typeface="Calibri"/>
                <a:sym typeface="Calibri"/>
              </a:rPr>
              <a:t>Total loss = sum of loss at every position across all training sentences.</a:t>
            </a:r>
            <a:endParaRPr sz="1200">
              <a:solidFill>
                <a:schemeClr val="dk1"/>
              </a:solidFill>
              <a:latin typeface="Calibri"/>
              <a:ea typeface="Calibri"/>
              <a:cs typeface="Calibri"/>
              <a:sym typeface="Calibri"/>
            </a:endParaRPr>
          </a:p>
          <a:p>
            <a:pPr indent="0" lvl="0" marL="0" rtl="0" algn="l">
              <a:lnSpc>
                <a:spcPct val="100000"/>
              </a:lnSpc>
              <a:spcBef>
                <a:spcPts val="1200"/>
              </a:spcBef>
              <a:spcAft>
                <a:spcPts val="1200"/>
              </a:spcAft>
              <a:buNone/>
            </a:pPr>
            <a:r>
              <a:rPr lang="en" sz="1200">
                <a:solidFill>
                  <a:schemeClr val="dk1"/>
                </a:solidFill>
                <a:latin typeface="Calibri"/>
                <a:ea typeface="Calibri"/>
                <a:cs typeface="Calibri"/>
                <a:sym typeface="Calibri"/>
              </a:rPr>
              <a:t>L = -log P("I") - log P("am") - log P("a") - log P("student")</a:t>
            </a:r>
            <a:endParaRPr sz="1200">
              <a:solidFill>
                <a:schemeClr val="dk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the Transformer is Trained</a:t>
            </a:r>
            <a:endParaRPr/>
          </a:p>
          <a:p>
            <a:pPr indent="0" lvl="0" marL="0" rtl="0" algn="l">
              <a:spcBef>
                <a:spcPts val="0"/>
              </a:spcBef>
              <a:spcAft>
                <a:spcPts val="0"/>
              </a:spcAft>
              <a:buNone/>
            </a:pPr>
            <a:r>
              <a:t/>
            </a:r>
            <a:endParaRPr/>
          </a:p>
        </p:txBody>
      </p:sp>
      <p:sp>
        <p:nvSpPr>
          <p:cNvPr id="556" name="Google Shape;556;p85"/>
          <p:cNvSpPr txBox="1"/>
          <p:nvPr>
            <p:ph idx="1" type="body"/>
          </p:nvPr>
        </p:nvSpPr>
        <p:spPr>
          <a:xfrm>
            <a:off x="311700" y="1135375"/>
            <a:ext cx="7950000" cy="1701900"/>
          </a:xfrm>
          <a:prstGeom prst="rect">
            <a:avLst/>
          </a:prstGeom>
        </p:spPr>
        <p:txBody>
          <a:bodyPr anchorCtr="0" anchor="t" bIns="91425" lIns="91425" spcFirstLastPara="1" rIns="91425" wrap="square" tIns="91425">
            <a:noAutofit/>
          </a:bodyPr>
          <a:lstStyle/>
          <a:p>
            <a:pPr indent="0" lvl="0" marL="0" rtl="0" algn="l">
              <a:lnSpc>
                <a:spcPct val="50000"/>
              </a:lnSpc>
              <a:spcBef>
                <a:spcPts val="0"/>
              </a:spcBef>
              <a:spcAft>
                <a:spcPts val="0"/>
              </a:spcAft>
              <a:buNone/>
            </a:pPr>
            <a:r>
              <a:rPr b="1" lang="en" sz="1200">
                <a:solidFill>
                  <a:schemeClr val="dk1"/>
                </a:solidFill>
              </a:rPr>
              <a:t>Without Teacher Forcing:</a:t>
            </a:r>
            <a:endParaRPr b="1" sz="1200">
              <a:solidFill>
                <a:schemeClr val="dk1"/>
              </a:solidFill>
            </a:endParaRPr>
          </a:p>
          <a:p>
            <a:pPr indent="0" lvl="0" marL="0" rtl="0" algn="l">
              <a:lnSpc>
                <a:spcPct val="50000"/>
              </a:lnSpc>
              <a:spcBef>
                <a:spcPts val="1200"/>
              </a:spcBef>
              <a:spcAft>
                <a:spcPts val="0"/>
              </a:spcAft>
              <a:buNone/>
            </a:pPr>
            <a:r>
              <a:rPr lang="en" sz="1200">
                <a:solidFill>
                  <a:schemeClr val="dk1"/>
                </a:solidFill>
              </a:rPr>
              <a:t>Step 1:  input = &lt;START&gt;   predicts = "I"       correct = "I"</a:t>
            </a:r>
            <a:endParaRPr sz="1200">
              <a:solidFill>
                <a:schemeClr val="dk1"/>
              </a:solidFill>
            </a:endParaRPr>
          </a:p>
          <a:p>
            <a:pPr indent="0" lvl="0" marL="0" rtl="0" algn="l">
              <a:lnSpc>
                <a:spcPct val="50000"/>
              </a:lnSpc>
              <a:spcBef>
                <a:spcPts val="1200"/>
              </a:spcBef>
              <a:spcAft>
                <a:spcPts val="0"/>
              </a:spcAft>
              <a:buNone/>
            </a:pPr>
            <a:r>
              <a:rPr lang="en" sz="1200">
                <a:solidFill>
                  <a:schemeClr val="dk1"/>
                </a:solidFill>
              </a:rPr>
              <a:t>Step 2:  input = "I"       predicts = "like"    correct = "am"     &lt;- WRONG</a:t>
            </a:r>
            <a:endParaRPr sz="1200">
              <a:solidFill>
                <a:schemeClr val="dk1"/>
              </a:solidFill>
            </a:endParaRPr>
          </a:p>
          <a:p>
            <a:pPr indent="0" lvl="0" marL="0" rtl="0" algn="l">
              <a:lnSpc>
                <a:spcPct val="50000"/>
              </a:lnSpc>
              <a:spcBef>
                <a:spcPts val="1200"/>
              </a:spcBef>
              <a:spcAft>
                <a:spcPts val="0"/>
              </a:spcAft>
              <a:buNone/>
            </a:pPr>
            <a:r>
              <a:rPr lang="en" sz="1200">
                <a:solidFill>
                  <a:schemeClr val="dk1"/>
                </a:solidFill>
              </a:rPr>
              <a:t>Step 3:  input = "like"    predicts = "pizza"   correct = "a"      &lt;- derailed</a:t>
            </a:r>
            <a:endParaRPr sz="1200">
              <a:solidFill>
                <a:schemeClr val="dk1"/>
              </a:solidFill>
            </a:endParaRPr>
          </a:p>
          <a:p>
            <a:pPr indent="0" lvl="0" marL="0" rtl="0" algn="l">
              <a:lnSpc>
                <a:spcPct val="50000"/>
              </a:lnSpc>
              <a:spcBef>
                <a:spcPts val="1200"/>
              </a:spcBef>
              <a:spcAft>
                <a:spcPts val="0"/>
              </a:spcAft>
              <a:buNone/>
            </a:pPr>
            <a:r>
              <a:rPr lang="en" sz="1200">
                <a:solidFill>
                  <a:schemeClr val="dk1"/>
                </a:solidFill>
              </a:rPr>
              <a:t>Step 4:  input = "pizza"   predicts = "too"     correct = "student" &lt;- derailed</a:t>
            </a:r>
            <a:endParaRPr sz="1200">
              <a:solidFill>
                <a:schemeClr val="dk1"/>
              </a:solidFill>
            </a:endParaRPr>
          </a:p>
          <a:p>
            <a:pPr indent="0" lvl="0" marL="0" rtl="0" algn="l">
              <a:lnSpc>
                <a:spcPct val="50000"/>
              </a:lnSpc>
              <a:spcBef>
                <a:spcPts val="1200"/>
              </a:spcBef>
              <a:spcAft>
                <a:spcPts val="0"/>
              </a:spcAft>
              <a:buNone/>
            </a:pPr>
            <a:r>
              <a:rPr lang="en" sz="1200">
                <a:solidFill>
                  <a:schemeClr val="dk1"/>
                </a:solidFill>
              </a:rPr>
              <a:t>One wrong prediction at step 2 derails everything after it.</a:t>
            </a:r>
            <a:endParaRPr sz="1200">
              <a:solidFill>
                <a:schemeClr val="dk1"/>
              </a:solidFill>
            </a:endParaRPr>
          </a:p>
          <a:p>
            <a:pPr indent="0" lvl="0" marL="0" rtl="0" algn="l">
              <a:lnSpc>
                <a:spcPct val="50000"/>
              </a:lnSpc>
              <a:spcBef>
                <a:spcPts val="1200"/>
              </a:spcBef>
              <a:spcAft>
                <a:spcPts val="0"/>
              </a:spcAft>
              <a:buNone/>
            </a:pPr>
            <a:r>
              <a:rPr lang="en" sz="1200">
                <a:solidFill>
                  <a:schemeClr val="dk1"/>
                </a:solidFill>
              </a:rPr>
              <a:t>Errors compound. Training becomes unstable</a:t>
            </a:r>
            <a:r>
              <a:rPr lang="en" sz="1200">
                <a:solidFill>
                  <a:schemeClr val="dk1"/>
                </a:solidFill>
              </a:rPr>
              <a:t>.</a:t>
            </a:r>
            <a:endParaRPr sz="1200">
              <a:solidFill>
                <a:schemeClr val="dk1"/>
              </a:solidFill>
            </a:endParaRPr>
          </a:p>
          <a:p>
            <a:pPr indent="0" lvl="0" marL="0" rtl="0" algn="l">
              <a:lnSpc>
                <a:spcPct val="100000"/>
              </a:lnSpc>
              <a:spcBef>
                <a:spcPts val="1200"/>
              </a:spcBef>
              <a:spcAft>
                <a:spcPts val="0"/>
              </a:spcAft>
              <a:buNone/>
            </a:pPr>
            <a:r>
              <a:t/>
            </a:r>
            <a:endParaRPr sz="1200">
              <a:solidFill>
                <a:schemeClr val="dk1"/>
              </a:solidFill>
            </a:endParaRPr>
          </a:p>
          <a:p>
            <a:pPr indent="0" lvl="0" marL="0" rtl="0" algn="l">
              <a:lnSpc>
                <a:spcPct val="100000"/>
              </a:lnSpc>
              <a:spcBef>
                <a:spcPts val="1200"/>
              </a:spcBef>
              <a:spcAft>
                <a:spcPts val="1200"/>
              </a:spcAft>
              <a:buNone/>
            </a:pPr>
            <a:r>
              <a:t/>
            </a:r>
            <a:endParaRPr sz="1200">
              <a:solidFill>
                <a:schemeClr val="dk1"/>
              </a:solidFill>
            </a:endParaRPr>
          </a:p>
        </p:txBody>
      </p:sp>
      <p:sp>
        <p:nvSpPr>
          <p:cNvPr id="557" name="Google Shape;557;p85"/>
          <p:cNvSpPr txBox="1"/>
          <p:nvPr/>
        </p:nvSpPr>
        <p:spPr>
          <a:xfrm>
            <a:off x="352800" y="2895175"/>
            <a:ext cx="8479500" cy="2031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200">
                <a:solidFill>
                  <a:schemeClr val="dk1"/>
                </a:solidFill>
              </a:rPr>
              <a:t>With Teacher Forcing:</a:t>
            </a:r>
            <a:endParaRPr b="1" sz="1200">
              <a:solidFill>
                <a:schemeClr val="dk1"/>
              </a:solidFill>
            </a:endParaRPr>
          </a:p>
          <a:p>
            <a:pPr indent="0" lvl="0" marL="0" rtl="0" algn="l">
              <a:lnSpc>
                <a:spcPct val="100000"/>
              </a:lnSpc>
              <a:spcBef>
                <a:spcPts val="0"/>
              </a:spcBef>
              <a:spcAft>
                <a:spcPts val="0"/>
              </a:spcAft>
              <a:buNone/>
            </a:pPr>
            <a:r>
              <a:rPr lang="en" sz="1200">
                <a:solidFill>
                  <a:schemeClr val="dk1"/>
                </a:solidFill>
              </a:rPr>
              <a:t>Step 1:  input = &lt;START&gt;   predicts = "I"        correct = "I"</a:t>
            </a:r>
            <a:endParaRPr sz="1200">
              <a:solidFill>
                <a:schemeClr val="dk1"/>
              </a:solidFill>
            </a:endParaRPr>
          </a:p>
          <a:p>
            <a:pPr indent="0" lvl="0" marL="0" rtl="0" algn="l">
              <a:lnSpc>
                <a:spcPct val="100000"/>
              </a:lnSpc>
              <a:spcBef>
                <a:spcPts val="0"/>
              </a:spcBef>
              <a:spcAft>
                <a:spcPts val="0"/>
              </a:spcAft>
              <a:buNone/>
            </a:pPr>
            <a:r>
              <a:rPr lang="en" sz="1200">
                <a:solidFill>
                  <a:schemeClr val="dk1"/>
                </a:solidFill>
              </a:rPr>
              <a:t>Step 2:  input = "I"       predicts = "like"     correct = "am"    &lt;- still wrong</a:t>
            </a:r>
            <a:endParaRPr sz="1200">
              <a:solidFill>
                <a:schemeClr val="dk1"/>
              </a:solidFill>
            </a:endParaRPr>
          </a:p>
          <a:p>
            <a:pPr indent="0" lvl="0" marL="0" rtl="0" algn="l">
              <a:lnSpc>
                <a:spcPct val="100000"/>
              </a:lnSpc>
              <a:spcBef>
                <a:spcPts val="0"/>
              </a:spcBef>
              <a:spcAft>
                <a:spcPts val="0"/>
              </a:spcAft>
              <a:buNone/>
            </a:pPr>
            <a:r>
              <a:rPr lang="en" sz="1200">
                <a:solidFill>
                  <a:schemeClr val="dk1"/>
                </a:solidFill>
              </a:rPr>
              <a:t>Step 3:  input = "am"      predicts = "a"        correct = "a"     &lt;- back on track</a:t>
            </a:r>
            <a:endParaRPr sz="1200">
              <a:solidFill>
                <a:schemeClr val="dk1"/>
              </a:solidFill>
            </a:endParaRPr>
          </a:p>
          <a:p>
            <a:pPr indent="0" lvl="0" marL="0" rtl="0" algn="l">
              <a:lnSpc>
                <a:spcPct val="100000"/>
              </a:lnSpc>
              <a:spcBef>
                <a:spcPts val="0"/>
              </a:spcBef>
              <a:spcAft>
                <a:spcPts val="0"/>
              </a:spcAft>
              <a:buNone/>
            </a:pPr>
            <a:r>
              <a:rPr lang="en" sz="1200">
                <a:solidFill>
                  <a:schemeClr val="dk1"/>
                </a:solidFill>
              </a:rPr>
              <a:t>Step 4:  input = "a"       predicts = "student"  correct = "student"</a:t>
            </a:r>
            <a:endParaRPr sz="1200">
              <a:solidFill>
                <a:schemeClr val="dk1"/>
              </a:solidFill>
            </a:endParaRPr>
          </a:p>
          <a:p>
            <a:pPr indent="0" lvl="0" marL="0" rtl="0" algn="l">
              <a:lnSpc>
                <a:spcPct val="100000"/>
              </a:lnSpc>
              <a:spcBef>
                <a:spcPts val="0"/>
              </a:spcBef>
              <a:spcAft>
                <a:spcPts val="0"/>
              </a:spcAft>
              <a:buNone/>
            </a:pPr>
            <a:r>
              <a:t/>
            </a:r>
            <a:endParaRPr sz="1200">
              <a:solidFill>
                <a:schemeClr val="dk1"/>
              </a:solidFill>
            </a:endParaRPr>
          </a:p>
          <a:p>
            <a:pPr indent="0" lvl="0" marL="0" rtl="0" algn="l">
              <a:lnSpc>
                <a:spcPct val="100000"/>
              </a:lnSpc>
              <a:spcBef>
                <a:spcPts val="0"/>
              </a:spcBef>
              <a:spcAft>
                <a:spcPts val="0"/>
              </a:spcAft>
              <a:buNone/>
            </a:pPr>
            <a:r>
              <a:rPr lang="en" sz="1200">
                <a:solidFill>
                  <a:schemeClr val="dk1"/>
                </a:solidFill>
              </a:rPr>
              <a:t>Even though the model predicted "like" at step 2, we feed "am" at step 3.</a:t>
            </a:r>
            <a:endParaRPr sz="1200">
              <a:solidFill>
                <a:schemeClr val="dk1"/>
              </a:solidFill>
            </a:endParaRPr>
          </a:p>
          <a:p>
            <a:pPr indent="0" lvl="0" marL="0" rtl="0" algn="l">
              <a:lnSpc>
                <a:spcPct val="100000"/>
              </a:lnSpc>
              <a:spcBef>
                <a:spcPts val="0"/>
              </a:spcBef>
              <a:spcAft>
                <a:spcPts val="0"/>
              </a:spcAft>
              <a:buNone/>
            </a:pPr>
            <a:r>
              <a:t/>
            </a:r>
            <a:endParaRPr sz="1200">
              <a:solidFill>
                <a:schemeClr val="dk1"/>
              </a:solidFill>
            </a:endParaRPr>
          </a:p>
          <a:p>
            <a:pPr indent="0" lvl="0" marL="0" rtl="0" algn="l">
              <a:lnSpc>
                <a:spcPct val="100000"/>
              </a:lnSpc>
              <a:spcBef>
                <a:spcPts val="0"/>
              </a:spcBef>
              <a:spcAft>
                <a:spcPts val="0"/>
              </a:spcAft>
              <a:buNone/>
            </a:pPr>
            <a:r>
              <a:rPr lang="en" sz="1200">
                <a:solidFill>
                  <a:schemeClr val="dk1"/>
                </a:solidFill>
              </a:rPr>
              <a:t>Errors never compound. Each step learns independently.</a:t>
            </a:r>
            <a:endParaRPr sz="1200">
              <a:solidFill>
                <a:schemeClr val="dk1"/>
              </a:solidFill>
            </a:endParaRPr>
          </a:p>
          <a:p>
            <a:pPr indent="0" lvl="0" marL="0" rtl="0" algn="l">
              <a:lnSpc>
                <a:spcPct val="100000"/>
              </a:lnSpc>
              <a:spcBef>
                <a:spcPts val="0"/>
              </a:spcBef>
              <a:spcAft>
                <a:spcPts val="0"/>
              </a:spcAft>
              <a:buNone/>
            </a:pPr>
            <a:r>
              <a:t/>
            </a:r>
            <a:endParaRPr sz="1200">
              <a:solidFill>
                <a:schemeClr val="dk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8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How the Transformer is Trained</a:t>
            </a:r>
            <a:endParaRPr b="1"/>
          </a:p>
        </p:txBody>
      </p:sp>
      <p:sp>
        <p:nvSpPr>
          <p:cNvPr id="563" name="Google Shape;563;p86"/>
          <p:cNvSpPr txBox="1"/>
          <p:nvPr>
            <p:ph idx="1" type="body"/>
          </p:nvPr>
        </p:nvSpPr>
        <p:spPr>
          <a:xfrm>
            <a:off x="311700" y="1017725"/>
            <a:ext cx="4544700" cy="2778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chemeClr val="dk1"/>
                </a:solidFill>
              </a:rPr>
              <a:t>Step 3: Backward Pass</a:t>
            </a:r>
            <a:endParaRPr b="1" sz="1200">
              <a:solidFill>
                <a:schemeClr val="dk1"/>
              </a:solidFill>
            </a:endParaRPr>
          </a:p>
          <a:p>
            <a:pPr indent="0" lvl="0" marL="0" rtl="0" algn="l">
              <a:lnSpc>
                <a:spcPct val="100000"/>
              </a:lnSpc>
              <a:spcBef>
                <a:spcPts val="1200"/>
              </a:spcBef>
              <a:spcAft>
                <a:spcPts val="0"/>
              </a:spcAft>
              <a:buNone/>
            </a:pPr>
            <a:r>
              <a:rPr lang="en" sz="1200">
                <a:solidFill>
                  <a:schemeClr val="dk1"/>
                </a:solidFill>
              </a:rPr>
              <a:t>The total loss is backpropagated through the entire transformer.</a:t>
            </a:r>
            <a:endParaRPr sz="1200">
              <a:solidFill>
                <a:schemeClr val="dk1"/>
              </a:solidFill>
            </a:endParaRPr>
          </a:p>
          <a:p>
            <a:pPr indent="0" lvl="0" marL="0" rtl="0" algn="l">
              <a:lnSpc>
                <a:spcPct val="100000"/>
              </a:lnSpc>
              <a:spcBef>
                <a:spcPts val="1200"/>
              </a:spcBef>
              <a:spcAft>
                <a:spcPts val="0"/>
              </a:spcAft>
              <a:buNone/>
            </a:pPr>
            <a:r>
              <a:rPr lang="en" sz="1200">
                <a:solidFill>
                  <a:schemeClr val="dk1"/>
                </a:solidFill>
              </a:rPr>
              <a:t>All learnable weights are updated via gradient descent:</a:t>
            </a:r>
            <a:endParaRPr sz="1200">
              <a:solidFill>
                <a:schemeClr val="dk1"/>
              </a:solidFill>
            </a:endParaRPr>
          </a:p>
          <a:p>
            <a:pPr indent="0" lvl="0" marL="0" rtl="0" algn="l">
              <a:lnSpc>
                <a:spcPct val="100000"/>
              </a:lnSpc>
              <a:spcBef>
                <a:spcPts val="1200"/>
              </a:spcBef>
              <a:spcAft>
                <a:spcPts val="0"/>
              </a:spcAft>
              <a:buNone/>
            </a:pPr>
            <a:r>
              <a:rPr lang="en" sz="1200">
                <a:solidFill>
                  <a:schemeClr val="dk1"/>
                </a:solidFill>
              </a:rPr>
              <a:t>Embedding matrix      &lt;- how words are represented</a:t>
            </a:r>
            <a:endParaRPr sz="1200">
              <a:solidFill>
                <a:schemeClr val="dk1"/>
              </a:solidFill>
            </a:endParaRPr>
          </a:p>
          <a:p>
            <a:pPr indent="0" lvl="0" marL="0" rtl="0" algn="l">
              <a:lnSpc>
                <a:spcPct val="100000"/>
              </a:lnSpc>
              <a:spcBef>
                <a:spcPts val="1200"/>
              </a:spcBef>
              <a:spcAft>
                <a:spcPts val="0"/>
              </a:spcAft>
              <a:buNone/>
            </a:pPr>
            <a:r>
              <a:rPr lang="en" sz="1200">
                <a:solidFill>
                  <a:schemeClr val="dk1"/>
                </a:solidFill>
              </a:rPr>
              <a:t>WQ, WK, WV matrices   &lt;- what the model pays attention to</a:t>
            </a:r>
            <a:endParaRPr sz="1200">
              <a:solidFill>
                <a:schemeClr val="dk1"/>
              </a:solidFill>
            </a:endParaRPr>
          </a:p>
          <a:p>
            <a:pPr indent="0" lvl="0" marL="0" rtl="0" algn="l">
              <a:lnSpc>
                <a:spcPct val="100000"/>
              </a:lnSpc>
              <a:spcBef>
                <a:spcPts val="1200"/>
              </a:spcBef>
              <a:spcAft>
                <a:spcPts val="0"/>
              </a:spcAft>
              <a:buNone/>
            </a:pPr>
            <a:r>
              <a:rPr lang="en" sz="1200">
                <a:solidFill>
                  <a:schemeClr val="dk1"/>
                </a:solidFill>
              </a:rPr>
              <a:t>WO matrix             &lt;- how attention heads are combined</a:t>
            </a:r>
            <a:endParaRPr sz="1200">
              <a:solidFill>
                <a:schemeClr val="dk1"/>
              </a:solidFill>
            </a:endParaRPr>
          </a:p>
          <a:p>
            <a:pPr indent="0" lvl="0" marL="0" rtl="0" algn="l">
              <a:lnSpc>
                <a:spcPct val="100000"/>
              </a:lnSpc>
              <a:spcBef>
                <a:spcPts val="1200"/>
              </a:spcBef>
              <a:spcAft>
                <a:spcPts val="0"/>
              </a:spcAft>
              <a:buNone/>
            </a:pPr>
            <a:r>
              <a:rPr lang="en" sz="1200">
                <a:solidFill>
                  <a:schemeClr val="dk1"/>
                </a:solidFill>
              </a:rPr>
              <a:t>FFN weights           &lt;- how each token is transformed</a:t>
            </a:r>
            <a:endParaRPr sz="1200">
              <a:solidFill>
                <a:schemeClr val="dk1"/>
              </a:solidFill>
            </a:endParaRPr>
          </a:p>
          <a:p>
            <a:pPr indent="0" lvl="0" marL="0" rtl="0" algn="l">
              <a:lnSpc>
                <a:spcPct val="100000"/>
              </a:lnSpc>
              <a:spcBef>
                <a:spcPts val="1200"/>
              </a:spcBef>
              <a:spcAft>
                <a:spcPts val="1200"/>
              </a:spcAft>
              <a:buNone/>
            </a:pPr>
            <a:r>
              <a:rPr lang="en" sz="1200">
                <a:solidFill>
                  <a:schemeClr val="dk1"/>
                </a:solidFill>
              </a:rPr>
              <a:t>Layer norm parameters &lt;- how activations are scaled</a:t>
            </a:r>
            <a:endParaRPr sz="1200">
              <a:solidFill>
                <a:schemeClr val="dk1"/>
              </a:solidFill>
            </a:endParaRPr>
          </a:p>
        </p:txBody>
      </p:sp>
      <p:sp>
        <p:nvSpPr>
          <p:cNvPr id="564" name="Google Shape;564;p86"/>
          <p:cNvSpPr txBox="1"/>
          <p:nvPr/>
        </p:nvSpPr>
        <p:spPr>
          <a:xfrm>
            <a:off x="4943700" y="1017725"/>
            <a:ext cx="42003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Step 4: Repeat</a:t>
            </a:r>
            <a:endParaRPr b="1" sz="1200">
              <a:solidFill>
                <a:schemeClr val="dk1"/>
              </a:solidFill>
            </a:endParaRPr>
          </a:p>
          <a:p>
            <a:pPr indent="0" lvl="0" marL="0" rtl="0" algn="l">
              <a:spcBef>
                <a:spcPts val="0"/>
              </a:spcBef>
              <a:spcAft>
                <a:spcPts val="0"/>
              </a:spcAft>
              <a:buNone/>
            </a:pPr>
            <a:r>
              <a:t/>
            </a:r>
            <a:endParaRPr b="1" sz="1200">
              <a:solidFill>
                <a:schemeClr val="dk1"/>
              </a:solidFill>
            </a:endParaRPr>
          </a:p>
          <a:p>
            <a:pPr indent="0" lvl="0" marL="0" rtl="0" algn="l">
              <a:spcBef>
                <a:spcPts val="0"/>
              </a:spcBef>
              <a:spcAft>
                <a:spcPts val="0"/>
              </a:spcAft>
              <a:buNone/>
            </a:pPr>
            <a:r>
              <a:rPr lang="en" sz="1200">
                <a:solidFill>
                  <a:schemeClr val="dk1"/>
                </a:solidFill>
              </a:rPr>
              <a:t>This process repeats over millions of sentence pairs.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Over time the model learns: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Which words to attend to (via attention weights)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How to transform representations (via FFN)</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How to produce correct output sequences (via the full pipeline)</a:t>
            </a:r>
            <a:endParaRPr sz="1200">
              <a:solidFill>
                <a:schemeClr val="dk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8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the Transformer is Trained</a:t>
            </a:r>
            <a:endParaRPr/>
          </a:p>
        </p:txBody>
      </p:sp>
      <p:sp>
        <p:nvSpPr>
          <p:cNvPr id="570" name="Google Shape;570;p87"/>
          <p:cNvSpPr txBox="1"/>
          <p:nvPr>
            <p:ph idx="1" type="body"/>
          </p:nvPr>
        </p:nvSpPr>
        <p:spPr>
          <a:xfrm>
            <a:off x="311700" y="1017725"/>
            <a:ext cx="7492200" cy="2622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dk1"/>
                </a:solidFill>
              </a:rPr>
              <a:t>Training Vs Inference</a:t>
            </a:r>
            <a:endParaRPr sz="1200">
              <a:solidFill>
                <a:schemeClr val="dk1"/>
              </a:solidFill>
            </a:endParaRPr>
          </a:p>
          <a:p>
            <a:pPr indent="0" lvl="0" marL="0" rtl="0" algn="l">
              <a:lnSpc>
                <a:spcPct val="100000"/>
              </a:lnSpc>
              <a:spcBef>
                <a:spcPts val="1200"/>
              </a:spcBef>
              <a:spcAft>
                <a:spcPts val="0"/>
              </a:spcAft>
              <a:buNone/>
            </a:pPr>
            <a:r>
              <a:rPr lang="en" sz="1200">
                <a:solidFill>
                  <a:schemeClr val="dk1"/>
                </a:solidFill>
              </a:rPr>
              <a:t>Training:</a:t>
            </a:r>
            <a:endParaRPr sz="1200">
              <a:solidFill>
                <a:schemeClr val="dk1"/>
              </a:solidFill>
            </a:endParaRPr>
          </a:p>
          <a:p>
            <a:pPr indent="-304800" lvl="0" marL="457200" rtl="0" algn="l">
              <a:lnSpc>
                <a:spcPct val="100000"/>
              </a:lnSpc>
              <a:spcBef>
                <a:spcPts val="1200"/>
              </a:spcBef>
              <a:spcAft>
                <a:spcPts val="0"/>
              </a:spcAft>
              <a:buClr>
                <a:schemeClr val="dk1"/>
              </a:buClr>
              <a:buSzPts val="1200"/>
              <a:buChar char="●"/>
            </a:pPr>
            <a:r>
              <a:rPr lang="en" sz="1200">
                <a:solidFill>
                  <a:schemeClr val="dk1"/>
                </a:solidFill>
              </a:rPr>
              <a:t>Teacher forcing is used</a:t>
            </a:r>
            <a:endParaRPr sz="1200">
              <a:solidFill>
                <a:schemeClr val="dk1"/>
              </a:solidFill>
            </a:endParaRPr>
          </a:p>
          <a:p>
            <a:pPr indent="-304800" lvl="0" marL="457200" rtl="0" algn="l">
              <a:lnSpc>
                <a:spcPct val="100000"/>
              </a:lnSpc>
              <a:spcBef>
                <a:spcPts val="0"/>
              </a:spcBef>
              <a:spcAft>
                <a:spcPts val="0"/>
              </a:spcAft>
              <a:buClr>
                <a:schemeClr val="dk1"/>
              </a:buClr>
              <a:buSzPts val="1200"/>
              <a:buChar char="●"/>
            </a:pPr>
            <a:r>
              <a:rPr lang="en" sz="1200">
                <a:solidFill>
                  <a:schemeClr val="dk1"/>
                </a:solidFill>
              </a:rPr>
              <a:t>Correct previous token is always fed to the decoder</a:t>
            </a:r>
            <a:endParaRPr sz="1200">
              <a:solidFill>
                <a:schemeClr val="dk1"/>
              </a:solidFill>
            </a:endParaRPr>
          </a:p>
          <a:p>
            <a:pPr indent="-304800" lvl="0" marL="457200" rtl="0" algn="l">
              <a:lnSpc>
                <a:spcPct val="100000"/>
              </a:lnSpc>
              <a:spcBef>
                <a:spcPts val="0"/>
              </a:spcBef>
              <a:spcAft>
                <a:spcPts val="0"/>
              </a:spcAft>
              <a:buClr>
                <a:schemeClr val="dk1"/>
              </a:buClr>
              <a:buSzPts val="1200"/>
              <a:buChar char="●"/>
            </a:pPr>
            <a:r>
              <a:rPr lang="en" sz="1200">
                <a:solidFill>
                  <a:schemeClr val="dk1"/>
                </a:solidFill>
              </a:rPr>
              <a:t>All positions are computed in parallel (fast)</a:t>
            </a:r>
            <a:endParaRPr sz="1200">
              <a:solidFill>
                <a:schemeClr val="dk1"/>
              </a:solidFill>
            </a:endParaRPr>
          </a:p>
          <a:p>
            <a:pPr indent="0" lvl="0" marL="0" rtl="0" algn="l">
              <a:lnSpc>
                <a:spcPct val="100000"/>
              </a:lnSpc>
              <a:spcBef>
                <a:spcPts val="1200"/>
              </a:spcBef>
              <a:spcAft>
                <a:spcPts val="0"/>
              </a:spcAft>
              <a:buNone/>
            </a:pPr>
            <a:r>
              <a:rPr lang="en" sz="1200">
                <a:solidFill>
                  <a:schemeClr val="dk1"/>
                </a:solidFill>
              </a:rPr>
              <a:t>Inference:</a:t>
            </a:r>
            <a:endParaRPr sz="1200">
              <a:solidFill>
                <a:schemeClr val="dk1"/>
              </a:solidFill>
            </a:endParaRPr>
          </a:p>
          <a:p>
            <a:pPr indent="-304800" lvl="0" marL="457200" rtl="0" algn="l">
              <a:lnSpc>
                <a:spcPct val="100000"/>
              </a:lnSpc>
              <a:spcBef>
                <a:spcPts val="1200"/>
              </a:spcBef>
              <a:spcAft>
                <a:spcPts val="0"/>
              </a:spcAft>
              <a:buClr>
                <a:schemeClr val="dk1"/>
              </a:buClr>
              <a:buSzPts val="1200"/>
              <a:buChar char="●"/>
            </a:pPr>
            <a:r>
              <a:rPr lang="en" sz="1200">
                <a:solidFill>
                  <a:schemeClr val="dk1"/>
                </a:solidFill>
              </a:rPr>
              <a:t>No teacher forcing</a:t>
            </a:r>
            <a:endParaRPr sz="1200">
              <a:solidFill>
                <a:schemeClr val="dk1"/>
              </a:solidFill>
            </a:endParaRPr>
          </a:p>
          <a:p>
            <a:pPr indent="-304800" lvl="0" marL="457200" rtl="0" algn="l">
              <a:lnSpc>
                <a:spcPct val="100000"/>
              </a:lnSpc>
              <a:spcBef>
                <a:spcPts val="0"/>
              </a:spcBef>
              <a:spcAft>
                <a:spcPts val="0"/>
              </a:spcAft>
              <a:buClr>
                <a:schemeClr val="dk1"/>
              </a:buClr>
              <a:buSzPts val="1200"/>
              <a:buChar char="●"/>
            </a:pPr>
            <a:r>
              <a:rPr lang="en" sz="1200">
                <a:solidFill>
                  <a:schemeClr val="dk1"/>
                </a:solidFill>
              </a:rPr>
              <a:t>Model uses its own previous prediction as next input</a:t>
            </a:r>
            <a:endParaRPr sz="1200">
              <a:solidFill>
                <a:schemeClr val="dk1"/>
              </a:solidFill>
            </a:endParaRPr>
          </a:p>
          <a:p>
            <a:pPr indent="-304800" lvl="0" marL="457200" rtl="0" algn="l">
              <a:lnSpc>
                <a:spcPct val="100000"/>
              </a:lnSpc>
              <a:spcBef>
                <a:spcPts val="0"/>
              </a:spcBef>
              <a:spcAft>
                <a:spcPts val="0"/>
              </a:spcAft>
              <a:buClr>
                <a:schemeClr val="dk1"/>
              </a:buClr>
              <a:buSzPts val="1200"/>
              <a:buChar char="●"/>
            </a:pPr>
            <a:r>
              <a:rPr lang="en" sz="1200">
                <a:solidFill>
                  <a:schemeClr val="dk1"/>
                </a:solidFill>
              </a:rPr>
              <a:t>Tokens are generated one at a time (sequential)</a:t>
            </a:r>
            <a:endParaRPr sz="1200">
              <a:solidFill>
                <a:schemeClr val="dk1"/>
              </a:solidFill>
            </a:endParaRPr>
          </a:p>
          <a:p>
            <a:pPr indent="-304800" lvl="0" marL="457200" rtl="0" algn="l">
              <a:lnSpc>
                <a:spcPct val="100000"/>
              </a:lnSpc>
              <a:spcBef>
                <a:spcPts val="0"/>
              </a:spcBef>
              <a:spcAft>
                <a:spcPts val="0"/>
              </a:spcAft>
              <a:buClr>
                <a:schemeClr val="dk1"/>
              </a:buClr>
              <a:buSzPts val="1200"/>
              <a:buChar char="●"/>
            </a:pPr>
            <a:r>
              <a:rPr lang="en" sz="1200">
                <a:solidFill>
                  <a:schemeClr val="dk1"/>
                </a:solidFill>
              </a:rPr>
              <a:t>Generation stops when &lt;END&gt; token is produced</a:t>
            </a:r>
            <a:endParaRPr sz="1200">
              <a:solidFill>
                <a:schemeClr val="dk1"/>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pic>
        <p:nvPicPr>
          <p:cNvPr id="575" name="Google Shape;575;p88"/>
          <p:cNvPicPr preferRelativeResize="0"/>
          <p:nvPr/>
        </p:nvPicPr>
        <p:blipFill>
          <a:blip r:embed="rId3">
            <a:alphaModFix/>
          </a:blip>
          <a:stretch>
            <a:fillRect/>
          </a:stretch>
        </p:blipFill>
        <p:spPr>
          <a:xfrm>
            <a:off x="894875" y="152400"/>
            <a:ext cx="7354254" cy="48387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alibri"/>
                <a:ea typeface="Calibri"/>
                <a:cs typeface="Calibri"/>
                <a:sym typeface="Calibri"/>
              </a:rPr>
              <a:t>Transformer vs BERT vs GPT : Differences</a:t>
            </a:r>
            <a:endParaRPr b="1">
              <a:latin typeface="Calibri"/>
              <a:ea typeface="Calibri"/>
              <a:cs typeface="Calibri"/>
              <a:sym typeface="Calibri"/>
            </a:endParaRPr>
          </a:p>
        </p:txBody>
      </p:sp>
      <p:sp>
        <p:nvSpPr>
          <p:cNvPr id="581" name="Google Shape;581;p89"/>
          <p:cNvSpPr txBox="1"/>
          <p:nvPr/>
        </p:nvSpPr>
        <p:spPr>
          <a:xfrm>
            <a:off x="470650" y="1116100"/>
            <a:ext cx="7745400" cy="37866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Transformer:</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Encoder-Decoder architecture.</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Encoder: Self-attention + Feed-forward network.</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Decoder: Masked self-attention + Encoder-decoder attention.</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BERT:</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Encoder-only architecture.</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Pretrained with Masked Language Modeling (MLM) and Next Sentence Prediction (NSP).</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Bidirectional attention (context from both sides).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GPT:</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Decoder-only architecture.</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Pretrained with Causal Language Modeling (CLM).</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Unidirectional attention (context from left only).</a:t>
            </a:r>
            <a:endParaRPr sz="1800">
              <a:solidFill>
                <a:schemeClr val="dk1"/>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90"/>
          <p:cNvSpPr txBox="1"/>
          <p:nvPr>
            <p:ph type="title"/>
          </p:nvPr>
        </p:nvSpPr>
        <p:spPr>
          <a:xfrm>
            <a:off x="265075" y="165300"/>
            <a:ext cx="1677300" cy="572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000">
                <a:latin typeface="Calibri"/>
                <a:ea typeface="Calibri"/>
                <a:cs typeface="Calibri"/>
                <a:sym typeface="Calibri"/>
              </a:rPr>
              <a:t>Transformer</a:t>
            </a:r>
            <a:endParaRPr b="1" sz="2000">
              <a:latin typeface="Calibri"/>
              <a:ea typeface="Calibri"/>
              <a:cs typeface="Calibri"/>
              <a:sym typeface="Calibri"/>
            </a:endParaRPr>
          </a:p>
        </p:txBody>
      </p:sp>
      <p:sp>
        <p:nvSpPr>
          <p:cNvPr id="587" name="Google Shape;587;p90"/>
          <p:cNvSpPr txBox="1"/>
          <p:nvPr>
            <p:ph idx="1" type="body"/>
          </p:nvPr>
        </p:nvSpPr>
        <p:spPr>
          <a:xfrm>
            <a:off x="265075" y="818375"/>
            <a:ext cx="2095200" cy="2631300"/>
          </a:xfrm>
          <a:prstGeom prst="rect">
            <a:avLst/>
          </a:prstGeom>
        </p:spPr>
        <p:txBody>
          <a:bodyPr anchorCtr="0" anchor="ctr" bIns="91425" lIns="91425" spcFirstLastPara="1" rIns="91425" wrap="square" tIns="91425">
            <a:normAutofit lnSpcReduction="10000"/>
          </a:bodyPr>
          <a:lstStyle/>
          <a:p>
            <a:pPr indent="0" lvl="0" marL="0" rtl="0" algn="l">
              <a:lnSpc>
                <a:spcPct val="115000"/>
              </a:lnSpc>
              <a:spcBef>
                <a:spcPts val="0"/>
              </a:spcBef>
              <a:spcAft>
                <a:spcPts val="0"/>
              </a:spcAft>
              <a:buNone/>
            </a:pPr>
            <a:r>
              <a:rPr b="1" lang="en" sz="1400">
                <a:solidFill>
                  <a:schemeClr val="dk1"/>
                </a:solidFill>
                <a:latin typeface="Calibri"/>
                <a:ea typeface="Calibri"/>
                <a:cs typeface="Calibri"/>
                <a:sym typeface="Calibri"/>
              </a:rPr>
              <a:t>What it is,</a:t>
            </a:r>
            <a:endParaRPr sz="14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 sz="1400">
                <a:solidFill>
                  <a:schemeClr val="dk1"/>
                </a:solidFill>
                <a:latin typeface="Calibri"/>
                <a:ea typeface="Calibri"/>
                <a:cs typeface="Calibri"/>
                <a:sym typeface="Calibri"/>
              </a:rPr>
              <a:t>A general sequence-to-sequence architecture introduced in “Attention Is All You Need” (2017).</a:t>
            </a:r>
            <a:endParaRPr sz="14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 sz="1400">
                <a:solidFill>
                  <a:schemeClr val="dk1"/>
                </a:solidFill>
                <a:latin typeface="Calibri"/>
                <a:ea typeface="Calibri"/>
                <a:cs typeface="Calibri"/>
                <a:sym typeface="Calibri"/>
              </a:rPr>
              <a:t>Uses attention instead of recurrence or convolution.</a:t>
            </a:r>
            <a:endParaRPr sz="1400">
              <a:solidFill>
                <a:schemeClr val="dk1"/>
              </a:solidFill>
              <a:latin typeface="Calibri"/>
              <a:ea typeface="Calibri"/>
              <a:cs typeface="Calibri"/>
              <a:sym typeface="Calibri"/>
            </a:endParaRPr>
          </a:p>
        </p:txBody>
      </p:sp>
      <p:sp>
        <p:nvSpPr>
          <p:cNvPr id="588" name="Google Shape;588;p90"/>
          <p:cNvSpPr txBox="1"/>
          <p:nvPr/>
        </p:nvSpPr>
        <p:spPr>
          <a:xfrm>
            <a:off x="292075" y="3661275"/>
            <a:ext cx="2041200" cy="1046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Calibri"/>
                <a:ea typeface="Calibri"/>
                <a:cs typeface="Calibri"/>
                <a:sym typeface="Calibri"/>
              </a:rPr>
              <a:t>Structure</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a:solidFill>
                  <a:schemeClr val="dk1"/>
                </a:solidFill>
                <a:latin typeface="Calibri"/>
                <a:ea typeface="Calibri"/>
                <a:cs typeface="Calibri"/>
                <a:sym typeface="Calibri"/>
              </a:rPr>
              <a:t>Encoder–Decoder architecture</a:t>
            </a:r>
            <a:endParaRPr>
              <a:solidFill>
                <a:schemeClr val="dk1"/>
              </a:solidFill>
              <a:latin typeface="Calibri"/>
              <a:ea typeface="Calibri"/>
              <a:cs typeface="Calibri"/>
              <a:sym typeface="Calibri"/>
            </a:endParaRPr>
          </a:p>
        </p:txBody>
      </p:sp>
      <p:sp>
        <p:nvSpPr>
          <p:cNvPr id="589" name="Google Shape;589;p90"/>
          <p:cNvSpPr txBox="1"/>
          <p:nvPr/>
        </p:nvSpPr>
        <p:spPr>
          <a:xfrm>
            <a:off x="3174025" y="199400"/>
            <a:ext cx="5931900" cy="1693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Calibri"/>
                <a:ea typeface="Calibri"/>
                <a:cs typeface="Calibri"/>
                <a:sym typeface="Calibri"/>
              </a:rPr>
              <a:t>Encoder (stacked layers)</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Self-Attention</a:t>
            </a:r>
            <a:endParaRPr>
              <a:solidFill>
                <a:schemeClr val="dk1"/>
              </a:solidFill>
              <a:latin typeface="Calibri"/>
              <a:ea typeface="Calibri"/>
              <a:cs typeface="Calibri"/>
              <a:sym typeface="Calibri"/>
            </a:endParaRPr>
          </a:p>
          <a:p>
            <a:pPr indent="-317500" lvl="1" marL="914400" rtl="0" algn="l">
              <a:lnSpc>
                <a:spcPct val="115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Each token attends to all other tokens in the input.</a:t>
            </a:r>
            <a:endParaRPr>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Feed-Forward Network (FFN)</a:t>
            </a:r>
            <a:endParaRPr>
              <a:solidFill>
                <a:schemeClr val="dk1"/>
              </a:solidFill>
              <a:latin typeface="Calibri"/>
              <a:ea typeface="Calibri"/>
              <a:cs typeface="Calibri"/>
              <a:sym typeface="Calibri"/>
            </a:endParaRPr>
          </a:p>
          <a:p>
            <a:pPr indent="-317500" lvl="1" marL="914400" rtl="0" algn="l">
              <a:lnSpc>
                <a:spcPct val="115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Applies the same MLP independently to each token.</a:t>
            </a:r>
            <a:endParaRPr>
              <a:solidFill>
                <a:schemeClr val="dk1"/>
              </a:solidFill>
              <a:latin typeface="Calibri"/>
              <a:ea typeface="Calibri"/>
              <a:cs typeface="Calibri"/>
              <a:sym typeface="Calibri"/>
            </a:endParaRPr>
          </a:p>
        </p:txBody>
      </p:sp>
      <p:sp>
        <p:nvSpPr>
          <p:cNvPr id="590" name="Google Shape;590;p90"/>
          <p:cNvSpPr txBox="1"/>
          <p:nvPr/>
        </p:nvSpPr>
        <p:spPr>
          <a:xfrm>
            <a:off x="3174025" y="2085525"/>
            <a:ext cx="4518000" cy="1908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Calibri"/>
                <a:ea typeface="Calibri"/>
                <a:cs typeface="Calibri"/>
                <a:sym typeface="Calibri"/>
              </a:rPr>
              <a:t>Decoder (stacked layers)</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Masked Self-Attention </a:t>
            </a:r>
            <a:endParaRPr>
              <a:solidFill>
                <a:schemeClr val="dk1"/>
              </a:solidFill>
              <a:latin typeface="Calibri"/>
              <a:ea typeface="Calibri"/>
              <a:cs typeface="Calibri"/>
              <a:sym typeface="Calibri"/>
            </a:endParaRPr>
          </a:p>
          <a:p>
            <a:pPr indent="-317500" lvl="1" marL="914400" rtl="0" algn="l">
              <a:lnSpc>
                <a:spcPct val="115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Prevents looking at future tokens during generation.</a:t>
            </a:r>
            <a:endParaRPr>
              <a:solidFill>
                <a:schemeClr val="dk1"/>
              </a:solidFill>
              <a:latin typeface="Calibri"/>
              <a:ea typeface="Calibri"/>
              <a:cs typeface="Calibri"/>
              <a:sym typeface="Calibri"/>
            </a:endParaRPr>
          </a:p>
          <a:p>
            <a:pPr indent="0" lvl="0" marL="914400" rtl="0" algn="l">
              <a:lnSpc>
                <a:spcPct val="115000"/>
              </a:lnSpc>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Encoder–Decoder Attention</a:t>
            </a:r>
            <a:endParaRPr>
              <a:solidFill>
                <a:schemeClr val="dk1"/>
              </a:solidFill>
              <a:latin typeface="Calibri"/>
              <a:ea typeface="Calibri"/>
              <a:cs typeface="Calibri"/>
              <a:sym typeface="Calibri"/>
            </a:endParaRPr>
          </a:p>
          <a:p>
            <a:pPr indent="-317500" lvl="1" marL="914400" rtl="0" algn="l">
              <a:lnSpc>
                <a:spcPct val="115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Decoder attends to encoder outputs (source sentence).</a:t>
            </a:r>
            <a:endParaRPr>
              <a:solidFill>
                <a:schemeClr val="dk1"/>
              </a:solidFill>
              <a:latin typeface="Calibri"/>
              <a:ea typeface="Calibri"/>
              <a:cs typeface="Calibri"/>
              <a:sym typeface="Calibri"/>
            </a:endParaRPr>
          </a:p>
        </p:txBody>
      </p:sp>
      <p:sp>
        <p:nvSpPr>
          <p:cNvPr id="591" name="Google Shape;591;p90"/>
          <p:cNvSpPr txBox="1"/>
          <p:nvPr/>
        </p:nvSpPr>
        <p:spPr>
          <a:xfrm>
            <a:off x="3174025" y="4187050"/>
            <a:ext cx="5178000" cy="615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Calibri"/>
                <a:ea typeface="Calibri"/>
                <a:cs typeface="Calibri"/>
                <a:sym typeface="Calibri"/>
              </a:rPr>
              <a:t>Usage </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a:solidFill>
                  <a:schemeClr val="dk1"/>
                </a:solidFill>
                <a:latin typeface="Calibri"/>
                <a:ea typeface="Calibri"/>
                <a:cs typeface="Calibri"/>
                <a:sym typeface="Calibri"/>
              </a:rPr>
              <a:t>Machine Translation, Summarization, Seq2Seq tasks.</a:t>
            </a:r>
            <a:endParaRPr>
              <a:solidFill>
                <a:schemeClr val="dk1"/>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91"/>
          <p:cNvSpPr txBox="1"/>
          <p:nvPr>
            <p:ph type="title"/>
          </p:nvPr>
        </p:nvSpPr>
        <p:spPr>
          <a:xfrm>
            <a:off x="311700" y="445025"/>
            <a:ext cx="2322300" cy="5727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b="1" lang="en" sz="1200">
                <a:latin typeface="Calibri"/>
                <a:ea typeface="Calibri"/>
                <a:cs typeface="Calibri"/>
                <a:sym typeface="Calibri"/>
              </a:rPr>
              <a:t>BERT (Encoder Only)</a:t>
            </a:r>
            <a:endParaRPr b="1" sz="1200">
              <a:latin typeface="Calibri"/>
              <a:ea typeface="Calibri"/>
              <a:cs typeface="Calibri"/>
              <a:sym typeface="Calibri"/>
            </a:endParaRPr>
          </a:p>
        </p:txBody>
      </p:sp>
      <p:sp>
        <p:nvSpPr>
          <p:cNvPr id="597" name="Google Shape;597;p91"/>
          <p:cNvSpPr txBox="1"/>
          <p:nvPr>
            <p:ph idx="1" type="body"/>
          </p:nvPr>
        </p:nvSpPr>
        <p:spPr>
          <a:xfrm>
            <a:off x="311700" y="1152475"/>
            <a:ext cx="2095200" cy="1792200"/>
          </a:xfrm>
          <a:prstGeom prst="rect">
            <a:avLst/>
          </a:prstGeom>
        </p:spPr>
        <p:txBody>
          <a:bodyPr anchorCtr="0" anchor="ctr" bIns="91425" lIns="91425" spcFirstLastPara="1" rIns="91425" wrap="square" tIns="91425">
            <a:normAutofit lnSpcReduction="10000"/>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What BERT keeps</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 sz="1200">
                <a:solidFill>
                  <a:schemeClr val="dk1"/>
                </a:solidFill>
                <a:latin typeface="Calibri"/>
                <a:ea typeface="Calibri"/>
                <a:cs typeface="Calibri"/>
                <a:sym typeface="Calibri"/>
              </a:rPr>
              <a:t>Only the Encoder part of the Transformer.</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 sz="1200">
                <a:solidFill>
                  <a:schemeClr val="dk1"/>
                </a:solidFill>
                <a:latin typeface="Calibri"/>
                <a:ea typeface="Calibri"/>
                <a:cs typeface="Calibri"/>
                <a:sym typeface="Calibri"/>
              </a:rPr>
              <a:t>No decoder, no generation mechanism.</a:t>
            </a:r>
            <a:endParaRPr sz="1200">
              <a:solidFill>
                <a:schemeClr val="dk1"/>
              </a:solidFill>
              <a:latin typeface="Calibri"/>
              <a:ea typeface="Calibri"/>
              <a:cs typeface="Calibri"/>
              <a:sym typeface="Calibri"/>
            </a:endParaRPr>
          </a:p>
        </p:txBody>
      </p:sp>
      <p:sp>
        <p:nvSpPr>
          <p:cNvPr id="598" name="Google Shape;598;p91"/>
          <p:cNvSpPr txBox="1"/>
          <p:nvPr/>
        </p:nvSpPr>
        <p:spPr>
          <a:xfrm>
            <a:off x="2538975" y="1152475"/>
            <a:ext cx="2864400" cy="2031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Key Properties</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Encoder-only architecture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Bidirectional attentio</a:t>
            </a:r>
            <a:r>
              <a:rPr lang="en" sz="1200">
                <a:solidFill>
                  <a:schemeClr val="dk1"/>
                </a:solidFill>
                <a:latin typeface="Calibri"/>
                <a:ea typeface="Calibri"/>
                <a:cs typeface="Calibri"/>
                <a:sym typeface="Calibri"/>
              </a:rPr>
              <a:t>n</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token attends to both left and right context.</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 word meaning depends on entire sentence.</a:t>
            </a:r>
            <a:endParaRPr sz="1200">
              <a:solidFill>
                <a:schemeClr val="dk1"/>
              </a:solidFill>
              <a:latin typeface="Calibri"/>
              <a:ea typeface="Calibri"/>
              <a:cs typeface="Calibri"/>
              <a:sym typeface="Calibri"/>
            </a:endParaRPr>
          </a:p>
        </p:txBody>
      </p:sp>
      <p:sp>
        <p:nvSpPr>
          <p:cNvPr id="599" name="Google Shape;599;p91"/>
          <p:cNvSpPr txBox="1"/>
          <p:nvPr/>
        </p:nvSpPr>
        <p:spPr>
          <a:xfrm>
            <a:off x="384550" y="3493825"/>
            <a:ext cx="3868500" cy="554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Usage</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Text classification, NER, QA, sentence similarity.</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Not ideal for text generation.</a:t>
            </a:r>
            <a:endParaRPr sz="1200">
              <a:solidFill>
                <a:schemeClr val="dk1"/>
              </a:solidFill>
              <a:latin typeface="Calibri"/>
              <a:ea typeface="Calibri"/>
              <a:cs typeface="Calibri"/>
              <a:sym typeface="Calibri"/>
            </a:endParaRPr>
          </a:p>
        </p:txBody>
      </p:sp>
      <p:sp>
        <p:nvSpPr>
          <p:cNvPr id="600" name="Google Shape;600;p91"/>
          <p:cNvSpPr txBox="1"/>
          <p:nvPr/>
        </p:nvSpPr>
        <p:spPr>
          <a:xfrm>
            <a:off x="5634900" y="1195825"/>
            <a:ext cx="3113700" cy="1705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Pre Training</a:t>
            </a:r>
            <a:r>
              <a:rPr b="1" lang="en" sz="1200">
                <a:solidFill>
                  <a:schemeClr val="dk1"/>
                </a:solidFill>
                <a:latin typeface="Calibri"/>
                <a:ea typeface="Calibri"/>
                <a:cs typeface="Calibri"/>
                <a:sym typeface="Calibri"/>
              </a:rPr>
              <a:t> Objectives</a:t>
            </a:r>
            <a:endParaRPr b="1"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Masked Language Modeling (MLM)</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Random tokens are masked.</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Model predicts missing words.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Next Sentence Prediction (NSP)</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Learns sentence-level relationships.</a:t>
            </a:r>
            <a:endParaRPr sz="1200">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92"/>
          <p:cNvSpPr txBox="1"/>
          <p:nvPr>
            <p:ph type="title"/>
          </p:nvPr>
        </p:nvSpPr>
        <p:spPr>
          <a:xfrm>
            <a:off x="311700" y="445025"/>
            <a:ext cx="1832700" cy="440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200">
                <a:latin typeface="Calibri"/>
                <a:ea typeface="Calibri"/>
                <a:cs typeface="Calibri"/>
                <a:sym typeface="Calibri"/>
              </a:rPr>
              <a:t>GPT (Decoder Only)</a:t>
            </a:r>
            <a:endParaRPr b="1" sz="1200">
              <a:latin typeface="Calibri"/>
              <a:ea typeface="Calibri"/>
              <a:cs typeface="Calibri"/>
              <a:sym typeface="Calibri"/>
            </a:endParaRPr>
          </a:p>
        </p:txBody>
      </p:sp>
      <p:sp>
        <p:nvSpPr>
          <p:cNvPr id="606" name="Google Shape;606;p92"/>
          <p:cNvSpPr txBox="1"/>
          <p:nvPr>
            <p:ph idx="1" type="body"/>
          </p:nvPr>
        </p:nvSpPr>
        <p:spPr>
          <a:xfrm>
            <a:off x="311700" y="1152475"/>
            <a:ext cx="2095200" cy="1924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What GPT keeps</a:t>
            </a:r>
            <a:endParaRPr b="1"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 sz="1200">
                <a:solidFill>
                  <a:schemeClr val="dk1"/>
                </a:solidFill>
                <a:latin typeface="Calibri"/>
                <a:ea typeface="Calibri"/>
                <a:cs typeface="Calibri"/>
                <a:sym typeface="Calibri"/>
              </a:rPr>
              <a:t>Only the Decoder part of the Transformer.</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 sz="1200">
                <a:solidFill>
                  <a:schemeClr val="dk1"/>
                </a:solidFill>
                <a:latin typeface="Calibri"/>
                <a:ea typeface="Calibri"/>
                <a:cs typeface="Calibri"/>
                <a:sym typeface="Calibri"/>
              </a:rPr>
              <a:t>Designed explicitly for generation.</a:t>
            </a:r>
            <a:endParaRPr sz="1200">
              <a:solidFill>
                <a:schemeClr val="dk1"/>
              </a:solidFill>
              <a:latin typeface="Calibri"/>
              <a:ea typeface="Calibri"/>
              <a:cs typeface="Calibri"/>
              <a:sym typeface="Calibri"/>
            </a:endParaRPr>
          </a:p>
        </p:txBody>
      </p:sp>
      <p:sp>
        <p:nvSpPr>
          <p:cNvPr id="607" name="Google Shape;607;p92"/>
          <p:cNvSpPr txBox="1"/>
          <p:nvPr/>
        </p:nvSpPr>
        <p:spPr>
          <a:xfrm>
            <a:off x="2336975" y="1152475"/>
            <a:ext cx="3093900" cy="185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Key Properties</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Decoder-only architecture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Unidirectional (causal) attention</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token attends only to past tokens.</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Ensures valid autoregressive generation.</a:t>
            </a:r>
            <a:endParaRPr sz="1200">
              <a:solidFill>
                <a:schemeClr val="dk1"/>
              </a:solidFill>
              <a:latin typeface="Calibri"/>
              <a:ea typeface="Calibri"/>
              <a:cs typeface="Calibri"/>
              <a:sym typeface="Calibri"/>
            </a:endParaRPr>
          </a:p>
        </p:txBody>
      </p:sp>
      <p:sp>
        <p:nvSpPr>
          <p:cNvPr id="608" name="Google Shape;608;p92"/>
          <p:cNvSpPr txBox="1"/>
          <p:nvPr/>
        </p:nvSpPr>
        <p:spPr>
          <a:xfrm>
            <a:off x="311700" y="3423900"/>
            <a:ext cx="42492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Usage</a:t>
            </a:r>
            <a:endParaRPr b="1" sz="12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200">
                <a:solidFill>
                  <a:schemeClr val="dk1"/>
                </a:solidFill>
                <a:latin typeface="Calibri"/>
                <a:ea typeface="Calibri"/>
                <a:cs typeface="Calibri"/>
                <a:sym typeface="Calibri"/>
              </a:rPr>
              <a:t>Text generation, chatbots, code generation, story writing.</a:t>
            </a:r>
            <a:endParaRPr sz="1200">
              <a:solidFill>
                <a:schemeClr val="dk1"/>
              </a:solidFill>
              <a:latin typeface="Calibri"/>
              <a:ea typeface="Calibri"/>
              <a:cs typeface="Calibri"/>
              <a:sym typeface="Calibri"/>
            </a:endParaRPr>
          </a:p>
        </p:txBody>
      </p:sp>
      <p:sp>
        <p:nvSpPr>
          <p:cNvPr id="609" name="Google Shape;609;p92"/>
          <p:cNvSpPr txBox="1"/>
          <p:nvPr/>
        </p:nvSpPr>
        <p:spPr>
          <a:xfrm>
            <a:off x="5533900" y="1208150"/>
            <a:ext cx="34944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latin typeface="Calibri"/>
                <a:ea typeface="Calibri"/>
                <a:cs typeface="Calibri"/>
                <a:sym typeface="Calibri"/>
              </a:rPr>
              <a:t>Pre Training Objectives</a:t>
            </a:r>
            <a:endParaRPr b="1"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Causal Language Modeling (CLM)</a:t>
            </a: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Predict next token given previous tokens.</a:t>
            </a:r>
            <a:endParaRPr sz="1200">
              <a:solidFill>
                <a:schemeClr val="dk1"/>
              </a:solidFill>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alibri"/>
                <a:ea typeface="Calibri"/>
                <a:cs typeface="Calibri"/>
                <a:sym typeface="Calibri"/>
              </a:rPr>
              <a:t>Resource Courtesy</a:t>
            </a:r>
            <a:endParaRPr>
              <a:latin typeface="Calibri"/>
              <a:ea typeface="Calibri"/>
              <a:cs typeface="Calibri"/>
              <a:sym typeface="Calibri"/>
            </a:endParaRPr>
          </a:p>
        </p:txBody>
      </p:sp>
      <p:sp>
        <p:nvSpPr>
          <p:cNvPr id="615" name="Google Shape;615;p93"/>
          <p:cNvSpPr txBox="1"/>
          <p:nvPr/>
        </p:nvSpPr>
        <p:spPr>
          <a:xfrm>
            <a:off x="450650" y="1010050"/>
            <a:ext cx="7489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chemeClr val="hlink"/>
                </a:solidFill>
                <a:latin typeface="Calibri"/>
                <a:ea typeface="Calibri"/>
                <a:cs typeface="Calibri"/>
                <a:sym typeface="Calibri"/>
                <a:hlinkClick r:id="rId3"/>
              </a:rPr>
              <a:t>https://jalammar.github.io/illustrated-transformer/</a:t>
            </a:r>
            <a:endParaRPr sz="1800">
              <a:solidFill>
                <a:schemeClr val="dk2"/>
              </a:solidFill>
              <a:latin typeface="Calibri"/>
              <a:ea typeface="Calibri"/>
              <a:cs typeface="Calibri"/>
              <a:sym typeface="Calibri"/>
            </a:endParaRPr>
          </a:p>
          <a:p>
            <a:pPr indent="0" lvl="0" marL="0" rtl="0" algn="l">
              <a:spcBef>
                <a:spcPts val="0"/>
              </a:spcBef>
              <a:spcAft>
                <a:spcPts val="0"/>
              </a:spcAft>
              <a:buNone/>
            </a:pPr>
            <a:r>
              <a:rPr lang="en" sz="1800" u="sng">
                <a:solidFill>
                  <a:schemeClr val="hlink"/>
                </a:solidFill>
                <a:latin typeface="Calibri"/>
                <a:ea typeface="Calibri"/>
                <a:cs typeface="Calibri"/>
                <a:sym typeface="Calibri"/>
                <a:hlinkClick r:id="rId4"/>
              </a:rPr>
              <a:t>https://goyalpramod.github.io/blogs/Transformers_laid_out/</a:t>
            </a:r>
            <a:endParaRPr sz="1800">
              <a:solidFill>
                <a:schemeClr val="dk2"/>
              </a:solidFill>
              <a:latin typeface="Calibri"/>
              <a:ea typeface="Calibri"/>
              <a:cs typeface="Calibri"/>
              <a:sym typeface="Calibri"/>
            </a:endParaRPr>
          </a:p>
          <a:p>
            <a:pPr indent="0" lvl="0" marL="0" rtl="0" algn="l">
              <a:spcBef>
                <a:spcPts val="0"/>
              </a:spcBef>
              <a:spcAft>
                <a:spcPts val="0"/>
              </a:spcAft>
              <a:buNone/>
            </a:pPr>
            <a:r>
              <a:rPr lang="en" sz="1800" u="sng">
                <a:solidFill>
                  <a:schemeClr val="hlink"/>
                </a:solidFill>
                <a:latin typeface="Calibri"/>
                <a:ea typeface="Calibri"/>
                <a:cs typeface="Calibri"/>
                <a:sym typeface="Calibri"/>
                <a:hlinkClick r:id="rId5"/>
              </a:rPr>
              <a:t>https://x.com/viplismism/status/2003807608571076782</a:t>
            </a:r>
            <a:r>
              <a:rPr lang="en" sz="1800">
                <a:solidFill>
                  <a:schemeClr val="dk2"/>
                </a:solidFill>
                <a:latin typeface="Calibri"/>
                <a:ea typeface="Calibri"/>
                <a:cs typeface="Calibri"/>
                <a:sym typeface="Calibri"/>
              </a:rPr>
              <a:t> </a:t>
            </a:r>
            <a:endParaRPr sz="1800">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